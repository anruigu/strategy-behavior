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wandb.ai/thefleet/strategy-behavior/runs/f4iuoyuc" TargetMode="External"/><Relationship Id="rId4" Type="http://schemas.openxmlformats.org/officeDocument/2006/relationships/hyperlink" Target="https://wandb.ai/thefleet/strategy-behavior/runs/w1hjhsix" TargetMode="External"/><Relationship Id="rId5" Type="http://schemas.openxmlformats.org/officeDocument/2006/relationships/hyperlink" Target="https://wandb.ai/thefleet/strategy-behavior/runs/fh25kj46"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andb.ai/thefleet/strategy-behavior/runs/f4iuoyuc" TargetMode="External"/><Relationship Id="rId4" Type="http://schemas.openxmlformats.org/officeDocument/2006/relationships/hyperlink" Target="https://wandb.ai/thefleet/strategy-behavior/runs/w1hjhsix"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hyperlink" Target="https://wandb.ai/thefleet/strategy-behavior/runs/f4iuoyuc" TargetMode="External"/><Relationship Id="rId4" Type="http://schemas.openxmlformats.org/officeDocument/2006/relationships/hyperlink" Target="https://wandb.ai/thefleet/strategy-behavior/runs/w1hjhsix"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hyperlink" Target="https://wandb.ai/thefleet/strategy-behavior/runs/bbuv9dv8" TargetMode="External"/><Relationship Id="rId4" Type="http://schemas.openxmlformats.org/officeDocument/2006/relationships/hyperlink" Target="https://wandb.ai/thefleet/strategy-behavior/runs/hdair6f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hyperlink" Target="https://wandb.ai/thefleet/strategy-behavior/runs/so61o04y" TargetMode="External"/><Relationship Id="rId4" Type="http://schemas.openxmlformats.org/officeDocument/2006/relationships/hyperlink" Target="https://wandb.ai/thefleet/strategy-behavior/runs/z1rxomgn" TargetMode="External"/><Relationship Id="rId5" Type="http://schemas.openxmlformats.org/officeDocument/2006/relationships/hyperlink" Target="https://wandb.ai/thefleet/strategy-behavior/runs/w3ckh7c7" TargetMode="External"/><Relationship Id="rId6" Type="http://schemas.openxmlformats.org/officeDocument/2006/relationships/hyperlink" Target="https://wandb.ai/thefleet/strategy-behavior/runs/7sq8dpxg" TargetMode="External"/><Relationship Id="rId7" Type="http://schemas.openxmlformats.org/officeDocument/2006/relationships/hyperlink" Target="https://wandb.ai/thefleet/strategy-behavior/runs/rdd154fs"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hyperlink" Target="https://wandb.ai/thefleet/strategy-behavior/runs/r1uybx7e" TargetMode="External"/><Relationship Id="rId4" Type="http://schemas.openxmlformats.org/officeDocument/2006/relationships/hyperlink" Target="https://wandb.ai/thefleet/strategy-behavior/runs/9dp9a9zq" TargetMode="External"/><Relationship Id="rId5" Type="http://schemas.openxmlformats.org/officeDocument/2006/relationships/hyperlink" Target="https://wandb.ai/thefleet/strategy-behavior/runs/oypv8tuv" TargetMode="External"/><Relationship Id="rId6" Type="http://schemas.openxmlformats.org/officeDocument/2006/relationships/hyperlink" Target="https://wandb.ai/thefleet/strategy-behavior/runs/k2ky72ik"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hyperlink" Target="https://wandb.ai/thefleet/strategy-behavior/runs/s2mdzimj" TargetMode="External"/><Relationship Id="rId4" Type="http://schemas.openxmlformats.org/officeDocument/2006/relationships/hyperlink" Target="https://wandb.ai/thefleet/strategy-behavior/runs/t7qj2ddx" TargetMode="External"/><Relationship Id="rId5" Type="http://schemas.openxmlformats.org/officeDocument/2006/relationships/hyperlink" Target="https://wandb.ai/thefleet/strategy-behavior"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hyperlink" Target="https://wandb.ai/thefleet/strategy-behavior/runs/s2mdzimj" TargetMode="External"/><Relationship Id="rId4" Type="http://schemas.openxmlformats.org/officeDocument/2006/relationships/hyperlink" Target="https://wandb.ai/thefleet/strategy-behavior/runs/t7qj2ddx"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hyperlink" Target="https://wandb.ai/thefleet/strategy-behavior/runs/rf4w5t4n" TargetMode="External"/><Relationship Id="rId4" Type="http://schemas.openxmlformats.org/officeDocument/2006/relationships/hyperlink" Target="https://wandb.ai/thefleet/strategy-behavior/runs/oe6ab15y" TargetMode="External"/><Relationship Id="rId5" Type="http://schemas.openxmlformats.org/officeDocument/2006/relationships/hyperlink" Target="https://wandb.ai/thefleet/strategy-behavior"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hyperlink" Target="https://wandb.ai/thefleet/strategy-behavior/runs/h49dvf01" TargetMode="External"/><Relationship Id="rId4" Type="http://schemas.openxmlformats.org/officeDocument/2006/relationships/hyperlink" Target="https://wandb.ai/thefleet/strategy-behavior/runs/tfffiwiv" TargetMode="External"/><Relationship Id="rId5" Type="http://schemas.openxmlformats.org/officeDocument/2006/relationships/hyperlink" Target="https://wandb.ai/thefleet/strategy-behavior"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hyperlink" Target="https://wandb.ai/thefleet/strategy-behavior/runs/e7zadngz" TargetMode="External"/><Relationship Id="rId4" Type="http://schemas.openxmlformats.org/officeDocument/2006/relationships/hyperlink" Target="https://wandb.ai/thefleet/strategy-behavior/runs/7fcknvyf" TargetMode="External"/><Relationship Id="rId5" Type="http://schemas.openxmlformats.org/officeDocument/2006/relationships/hyperlink" Target="https://wandb.ai/thefleet/strategy-behavior/runs/250n2adq" TargetMode="External"/><Relationship Id="rId6" Type="http://schemas.openxmlformats.org/officeDocument/2006/relationships/hyperlink" Target="https://wandb.ai/thefleet/strategy-behavior/runs/lk7hilum"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364F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2011680"/>
          </a:xfrm>
          <a:prstGeom prst="rect">
            <a:avLst/>
          </a:prstGeom>
          <a:noFill/>
        </p:spPr>
        <p:txBody>
          <a:bodyPr wrap="square">
            <a:spAutoFit/>
          </a:bodyPr>
          <a:lstStyle/>
          <a:p>
            <a:r>
              <a:t/>
            </a:r>
            <a:r>
              <a:rPr sz="4000" b="1" i="0">
                <a:solidFill>
                  <a:srgbClr val="212529"/>
                </a:solidFill>
                <a:latin typeface="Arial"/>
              </a:rPr>
              <a:t>Strategic Behavior in RL-Trained LLMs</a:t>
            </a:r>
          </a:p>
          <a:p>
            <a:r>
              <a:t/>
            </a:r>
            <a:r>
              <a:rPr sz="2000" b="0" i="0">
                <a:solidFill>
                  <a:srgbClr val="5C6370"/>
                </a:solidFill>
                <a:latin typeface="Arial"/>
              </a:rPr>
              <a:t>An atlas of experiments: negotiation self-play, exploitation transfer, and referee holes</a:t>
            </a:r>
          </a:p>
        </p:txBody>
      </p:sp>
      <p:sp>
        <p:nvSpPr>
          <p:cNvPr id="4" name="TextBox 3"/>
          <p:cNvSpPr txBox="1"/>
          <p:nvPr/>
        </p:nvSpPr>
        <p:spPr>
          <a:xfrm>
            <a:off x="822960" y="4937760"/>
            <a:ext cx="10515600" cy="1280160"/>
          </a:xfrm>
          <a:prstGeom prst="rect">
            <a:avLst/>
          </a:prstGeom>
          <a:noFill/>
        </p:spPr>
        <p:txBody>
          <a:bodyPr wrap="square">
            <a:spAutoFit/>
          </a:bodyPr>
          <a:lstStyle/>
          <a:p>
            <a:r>
              <a:t/>
            </a:r>
            <a:r>
              <a:rPr sz="1400" b="0" i="0">
                <a:solidFill>
                  <a:srgbClr val="5C6370"/>
                </a:solidFill>
                <a:latin typeface="Arial"/>
              </a:rPr>
              <a:t>June – August 2026  ·  compiled from ~60 research logs in strategy-behavior/research_logs</a:t>
            </a:r>
          </a:p>
          <a:p>
            <a:r>
              <a:t/>
            </a:r>
            <a:r>
              <a:rPr sz="1200" b="0" i="0">
                <a:solidFill>
                  <a:srgbClr val="5C6370"/>
                </a:solidFill>
                <a:latin typeface="Arial"/>
              </a:rPr>
              <a:t>Checkpoints &amp; raw data: s3://fleet-research/allie-backup/  ·  Tinker training manifests: hole_exp/runs/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125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822960"/>
          </a:xfrm>
          <a:prstGeom prst="rect">
            <a:avLst/>
          </a:prstGeom>
          <a:noFill/>
        </p:spPr>
        <p:txBody>
          <a:bodyPr wrap="square">
            <a:spAutoFit/>
          </a:bodyPr>
          <a:lstStyle/>
          <a:p>
            <a:r>
              <a:t/>
            </a:r>
            <a:r>
              <a:rPr sz="2800" b="1" i="0">
                <a:solidFill>
                  <a:srgbClr val="212529"/>
                </a:solidFill>
                <a:latin typeface="Arial"/>
              </a:rPr>
              <a:t>The arc of the project</a:t>
            </a:r>
          </a:p>
        </p:txBody>
      </p:sp>
      <p:sp>
        <p:nvSpPr>
          <p:cNvPr id="4" name="Rectangle 3"/>
          <p:cNvSpPr/>
          <p:nvPr/>
        </p:nvSpPr>
        <p:spPr>
          <a:xfrm>
            <a:off x="640080" y="1426464"/>
            <a:ext cx="82296" cy="868680"/>
          </a:xfrm>
          <a:prstGeom prst="rect">
            <a:avLst/>
          </a:prstGeom>
          <a:solidFill>
            <a:srgbClr val="364F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10789920" cy="1051560"/>
          </a:xfrm>
          <a:prstGeom prst="rect">
            <a:avLst/>
          </a:prstGeom>
          <a:noFill/>
        </p:spPr>
        <p:txBody>
          <a:bodyPr wrap="square">
            <a:spAutoFit/>
          </a:bodyPr>
          <a:lstStyle/>
          <a:p>
            <a:r>
              <a:t/>
            </a:r>
            <a:r>
              <a:rPr sz="1500" b="1" i="0">
                <a:solidFill>
                  <a:srgbClr val="364FC7"/>
                </a:solidFill>
                <a:latin typeface="Arial"/>
              </a:rPr>
              <a:t>Phase 1  ·  June  —  Negotiation self-play RL (Qwen3.5-9B/35B vs frontier opponents)</a:t>
            </a:r>
          </a:p>
          <a:p>
            <a:r>
              <a:t/>
            </a:r>
            <a:r>
              <a:rPr sz="1250" b="0" i="0">
                <a:solidFill>
                  <a:srgbClr val="212529"/>
                </a:solidFill>
                <a:latin typeface="Arial"/>
              </a:rPr>
              <a:t>Emergent deception, value leak, think-channel abandonment; reward &gt; elicitation; go self-play</a:t>
            </a:r>
          </a:p>
        </p:txBody>
      </p:sp>
      <p:sp>
        <p:nvSpPr>
          <p:cNvPr id="6" name="Rectangle 5"/>
          <p:cNvSpPr/>
          <p:nvPr/>
        </p:nvSpPr>
        <p:spPr>
          <a:xfrm>
            <a:off x="640080" y="2496312"/>
            <a:ext cx="82296" cy="868680"/>
          </a:xfrm>
          <a:prstGeom prst="rect">
            <a:avLst/>
          </a:prstGeom>
          <a:solidFill>
            <a:srgbClr val="0B72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441448"/>
            <a:ext cx="10789920" cy="1051560"/>
          </a:xfrm>
          <a:prstGeom prst="rect">
            <a:avLst/>
          </a:prstGeom>
          <a:noFill/>
        </p:spPr>
        <p:txBody>
          <a:bodyPr wrap="square">
            <a:spAutoFit/>
          </a:bodyPr>
          <a:lstStyle/>
          <a:p>
            <a:r>
              <a:t/>
            </a:r>
            <a:r>
              <a:rPr sz="1500" b="1" i="0">
                <a:solidFill>
                  <a:srgbClr val="0B7285"/>
                </a:solidFill>
                <a:latin typeface="Arial"/>
              </a:rPr>
              <a:t>Phase 2  ·  July – early Aug  —  Substrate hunts &amp; eval-only studies</a:t>
            </a:r>
          </a:p>
          <a:p>
            <a:r>
              <a:t/>
            </a:r>
            <a:r>
              <a:rPr sz="1250" b="0" i="0">
                <a:solidFill>
                  <a:srgbClr val="212529"/>
                </a:solidFill>
                <a:latin typeface="Arial"/>
              </a:rPr>
              <a:t>Value-regime sweeps; SPIRAL→MASK honesty drop is generic RL; lie sustainability; offense ≠ defense</a:t>
            </a:r>
          </a:p>
        </p:txBody>
      </p:sp>
      <p:sp>
        <p:nvSpPr>
          <p:cNvPr id="8" name="Rectangle 7"/>
          <p:cNvSpPr/>
          <p:nvPr/>
        </p:nvSpPr>
        <p:spPr>
          <a:xfrm>
            <a:off x="640080" y="3566160"/>
            <a:ext cx="82296" cy="868680"/>
          </a:xfrm>
          <a:prstGeom prst="rect">
            <a:avLst/>
          </a:prstGeom>
          <a:solidFill>
            <a:srgbClr val="D948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511296"/>
            <a:ext cx="10789920" cy="1051560"/>
          </a:xfrm>
          <a:prstGeom prst="rect">
            <a:avLst/>
          </a:prstGeom>
          <a:noFill/>
        </p:spPr>
        <p:txBody>
          <a:bodyPr wrap="square">
            <a:spAutoFit/>
          </a:bodyPr>
          <a:lstStyle/>
          <a:p>
            <a:r>
              <a:t/>
            </a:r>
            <a:r>
              <a:rPr sz="1500" b="1" i="0">
                <a:solidFill>
                  <a:srgbClr val="D9480F"/>
                </a:solidFill>
                <a:latin typeface="Arial"/>
              </a:rPr>
              <a:t>Phase 3  ·  Aug 8–14  —  Disposition-transfer proof-of-concepts</a:t>
            </a:r>
          </a:p>
          <a:p>
            <a:r>
              <a:t/>
            </a:r>
            <a:r>
              <a:rPr sz="1250" b="0" i="0">
                <a:solidFill>
                  <a:srgbClr val="212529"/>
                </a:solidFill>
                <a:latin typeface="Arial"/>
              </a:rPr>
              <a:t>IPD vs always-cooperate installs a transferable exploitative disposition; Chicken exploited-seat; ZD-extortion &amp; persuasion factorial</a:t>
            </a:r>
          </a:p>
        </p:txBody>
      </p:sp>
      <p:sp>
        <p:nvSpPr>
          <p:cNvPr id="10" name="Rectangle 9"/>
          <p:cNvSpPr/>
          <p:nvPr/>
        </p:nvSpPr>
        <p:spPr>
          <a:xfrm>
            <a:off x="640080" y="4636007"/>
            <a:ext cx="82296" cy="868680"/>
          </a:xfrm>
          <a:prstGeom prst="rect">
            <a:avLst/>
          </a:prstGeom>
          <a:solidFill>
            <a:srgbClr val="862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581144"/>
            <a:ext cx="10789920" cy="1051560"/>
          </a:xfrm>
          <a:prstGeom prst="rect">
            <a:avLst/>
          </a:prstGeom>
          <a:noFill/>
        </p:spPr>
        <p:txBody>
          <a:bodyPr wrap="square">
            <a:spAutoFit/>
          </a:bodyPr>
          <a:lstStyle/>
          <a:p>
            <a:r>
              <a:t/>
            </a:r>
            <a:r>
              <a:rPr sz="1500" b="1" i="0">
                <a:solidFill>
                  <a:srgbClr val="862E9C"/>
                </a:solidFill>
                <a:latin typeface="Arial"/>
              </a:rPr>
              <a:t>Phase 4  ·  Aug 17–24  —  The hole atlas</a:t>
            </a:r>
          </a:p>
          <a:p>
            <a:r>
              <a:t/>
            </a:r>
            <a:r>
              <a:rPr sz="1250" b="0" i="0">
                <a:solidFill>
                  <a:srgbClr val="212529"/>
                </a:solidFill>
                <a:latin typeface="Arial"/>
              </a:rPr>
              <a:t>Matched hole/nohole envs; exploitation trains in &amp; transfers to MACHIAVELLI; plant/frame &amp; env-count scaling; adaptive-trust opponents</a:t>
            </a:r>
          </a:p>
        </p:txBody>
      </p:sp>
      <p:sp>
        <p:nvSpPr>
          <p:cNvPr id="12" name="Rectangle 11"/>
          <p:cNvSpPr/>
          <p:nvPr/>
        </p:nvSpPr>
        <p:spPr>
          <a:xfrm>
            <a:off x="640080" y="5705855"/>
            <a:ext cx="82296" cy="868680"/>
          </a:xfrm>
          <a:prstGeom prst="rect">
            <a:avLst/>
          </a:prstGeom>
          <a:solidFill>
            <a:srgbClr val="C9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650992"/>
            <a:ext cx="10789920" cy="1051560"/>
          </a:xfrm>
          <a:prstGeom prst="rect">
            <a:avLst/>
          </a:prstGeom>
          <a:noFill/>
        </p:spPr>
        <p:txBody>
          <a:bodyPr wrap="square">
            <a:spAutoFit/>
          </a:bodyPr>
          <a:lstStyle/>
          <a:p>
            <a:r>
              <a:t/>
            </a:r>
            <a:r>
              <a:rPr sz="1500" b="1" i="0">
                <a:solidFill>
                  <a:srgbClr val="C92A2A"/>
                </a:solidFill>
                <a:latin typeface="Arial"/>
              </a:rPr>
              <a:t>Phase 5  ·  Aug 26–31  —  Endgame, referee holes, discovery</a:t>
            </a:r>
          </a:p>
          <a:p>
            <a:r>
              <a:t/>
            </a:r>
            <a:r>
              <a:rPr sz="1250" b="0" i="0">
                <a:solidFill>
                  <a:srgbClr val="212529"/>
                </a:solidFill>
                <a:latin typeface="Arial"/>
              </a:rPr>
              <a:t>Endgame betrayal is a cue not a disposition; frontier models exploit referee gaps; RL amplifies exploits it already samples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64F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468880"/>
            <a:ext cx="10515600" cy="2286000"/>
          </a:xfrm>
          <a:prstGeom prst="rect">
            <a:avLst/>
          </a:prstGeom>
          <a:noFill/>
        </p:spPr>
        <p:txBody>
          <a:bodyPr wrap="square">
            <a:spAutoFit/>
          </a:bodyPr>
          <a:lstStyle/>
          <a:p>
            <a:r>
              <a:t/>
            </a:r>
            <a:r>
              <a:rPr sz="1800" b="1" i="0">
                <a:solidFill>
                  <a:srgbClr val="FFFFFF"/>
                </a:solidFill>
                <a:latin typeface="Arial"/>
              </a:rPr>
              <a:t>Phase 1</a:t>
            </a:r>
          </a:p>
          <a:p>
            <a:r>
              <a:t/>
            </a:r>
            <a:r>
              <a:rPr sz="3400" b="1" i="0">
                <a:solidFill>
                  <a:srgbClr val="FFFFFF"/>
                </a:solidFill>
                <a:latin typeface="Arial"/>
              </a:rPr>
              <a:t>Negotiation self-play RL</a:t>
            </a:r>
          </a:p>
          <a:p>
            <a:r>
              <a:t/>
            </a:r>
            <a:r>
              <a:rPr sz="1600" b="0" i="0">
                <a:solidFill>
                  <a:srgbClr val="FFFFFF"/>
                </a:solidFill>
                <a:latin typeface="Arial"/>
              </a:rPr>
              <a:t>June 2026 · Qwen3.5-9B / 35B-A3B, GRPO on Deal-or-No-Deal negotiation vs gpt-4o-mini / gpt-5.5 / self-play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64F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364FC7"/>
                </a:solidFill>
                <a:latin typeface="Arial"/>
              </a:rPr>
              <a:t>PHASE 1 · 2026-06-11 · infrastructure</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Standing up the 9B runs: five blockers cleared</a:t>
            </a:r>
          </a:p>
        </p:txBody>
      </p:sp>
      <p:sp>
        <p:nvSpPr>
          <p:cNvPr id="5" name="TextBox 4"/>
          <p:cNvSpPr txBox="1"/>
          <p:nvPr/>
        </p:nvSpPr>
        <p:spPr>
          <a:xfrm>
            <a:off x="594360" y="1417320"/>
            <a:ext cx="10972800" cy="548640"/>
          </a:xfrm>
          <a:prstGeom prst="rect">
            <a:avLst/>
          </a:prstGeom>
          <a:noFill/>
        </p:spPr>
        <p:txBody>
          <a:bodyPr wrap="square">
            <a:spAutoFit/>
          </a:bodyPr>
          <a:lstStyle/>
          <a:p>
            <a:r>
              <a:t/>
            </a:r>
            <a:r>
              <a:rPr sz="1300" b="1" i="0">
                <a:solidFill>
                  <a:srgbClr val="364FC7"/>
                </a:solidFill>
                <a:latin typeface="Arial"/>
              </a:rPr>
              <a:t>Q  </a:t>
            </a:r>
            <a:r>
              <a:t/>
            </a:r>
            <a:r>
              <a:rPr sz="1300" b="0" i="1">
                <a:solidFill>
                  <a:srgbClr val="5C6370"/>
                </a:solidFill>
                <a:latin typeface="Arial"/>
              </a:rPr>
              <a:t>Not an experiment — the env/infra fixes that unblocked the first GRPO negotiation runs.</a:t>
            </a:r>
          </a:p>
        </p:txBody>
      </p:sp>
      <p:sp>
        <p:nvSpPr>
          <p:cNvPr id="6" name="TextBox 5"/>
          <p:cNvSpPr txBox="1"/>
          <p:nvPr/>
        </p:nvSpPr>
        <p:spPr>
          <a:xfrm>
            <a:off x="594360" y="1691640"/>
            <a:ext cx="10972800" cy="548640"/>
          </a:xfrm>
          <a:prstGeom prst="rect">
            <a:avLst/>
          </a:prstGeom>
          <a:noFill/>
        </p:spPr>
        <p:txBody>
          <a:bodyPr wrap="square">
            <a:spAutoFit/>
          </a:bodyPr>
          <a:lstStyle/>
          <a:p>
            <a:r>
              <a:t/>
            </a:r>
            <a:r>
              <a:rPr sz="1300" b="1" i="0">
                <a:solidFill>
                  <a:srgbClr val="364FC7"/>
                </a:solidFill>
                <a:latin typeface="Arial"/>
              </a:rPr>
              <a:t>Setup  </a:t>
            </a:r>
            <a:r>
              <a:t/>
            </a:r>
            <a:r>
              <a:rPr sz="1300" b="0" i="0">
                <a:solidFill>
                  <a:srgbClr val="212529"/>
                </a:solidFill>
                <a:latin typeface="Arial"/>
              </a:rPr>
              <a:t>Qwen3.5-9B GRPO on DnD negotiation, RunPod SLURM.</a:t>
            </a:r>
          </a:p>
        </p:txBody>
      </p:sp>
      <p:sp>
        <p:nvSpPr>
          <p:cNvPr id="7" name="TextBox 6"/>
          <p:cNvSpPr txBox="1"/>
          <p:nvPr/>
        </p:nvSpPr>
        <p:spPr>
          <a:xfrm>
            <a:off x="594360" y="2075688"/>
            <a:ext cx="10972800" cy="3685031"/>
          </a:xfrm>
          <a:prstGeom prst="rect">
            <a:avLst/>
          </a:prstGeom>
          <a:noFill/>
        </p:spPr>
        <p:txBody>
          <a:bodyPr wrap="square">
            <a:spAutoFit/>
          </a:bodyPr>
          <a:lstStyle/>
          <a:p>
            <a:pPr>
              <a:spcAft>
                <a:spcPts val="500"/>
              </a:spcAft>
            </a:pPr>
            <a:r>
              <a:t/>
            </a:r>
            <a:r>
              <a:rPr sz="1300" b="1" i="0">
                <a:solidFill>
                  <a:srgbClr val="364FC7"/>
                </a:solidFill>
                <a:latin typeface="Arial"/>
              </a:rPr>
              <a:t>•  </a:t>
            </a:r>
            <a:r>
              <a:t/>
            </a:r>
            <a:r>
              <a:rPr sz="1300" b="0" i="0">
                <a:solidFill>
                  <a:srgbClr val="212529"/>
                </a:solidFill>
                <a:latin typeface="Arial"/>
              </a:rPr>
              <a:t>NCCL picked non-IB Ethernet adapters → forced the 8×400Gb/s NDR InfiniBand list; node-8↔9 broadcast timeout left unresolved (recurred all month).</a:t>
            </a:r>
          </a:p>
          <a:p>
            <a:pPr>
              <a:spcAft>
                <a:spcPts val="500"/>
              </a:spcAft>
            </a:pPr>
            <a:r>
              <a:t/>
            </a:r>
            <a:r>
              <a:rPr sz="1300" b="1" i="0">
                <a:solidFill>
                  <a:srgbClr val="364FC7"/>
                </a:solidFill>
                <a:latin typeface="Arial"/>
              </a:rPr>
              <a:t>•  </a:t>
            </a:r>
            <a:r>
              <a:t/>
            </a:r>
            <a:r>
              <a:rPr sz="1300" b="0" i="0">
                <a:solidFill>
                  <a:srgbClr val="212529"/>
                </a:solidFill>
                <a:latin typeface="Arial"/>
              </a:rPr>
              <a:t>Pareto-arm reward hacking (grad_norm spiking to 17) → kl_coef 0.001→0.05, grad clip 0.5, invalid penalty −0.05.</a:t>
            </a:r>
          </a:p>
          <a:p>
            <a:pPr>
              <a:spcAft>
                <a:spcPts val="500"/>
              </a:spcAft>
            </a:pPr>
            <a:r>
              <a:t/>
            </a:r>
            <a:r>
              <a:rPr sz="1300" b="1" i="0">
                <a:solidFill>
                  <a:srgbClr val="364FC7"/>
                </a:solidFill>
                <a:latin typeface="Arial"/>
              </a:rPr>
              <a:t>•  </a:t>
            </a:r>
            <a:r>
              <a:t/>
            </a:r>
            <a:r>
              <a:rPr sz="1300" b="0" i="0">
                <a:solidFill>
                  <a:srgbClr val="212529"/>
                </a:solidFill>
                <a:latin typeface="Arial"/>
              </a:rPr>
              <a:t>Hybrid-reasoning 9B burned its whole turn budget inside &lt;think&gt; (~80% no_deal) → thinking disabled for 9B.</a:t>
            </a:r>
          </a:p>
          <a:p>
            <a:pPr>
              <a:spcAft>
                <a:spcPts val="500"/>
              </a:spcAft>
            </a:pPr>
            <a:r>
              <a:t/>
            </a:r>
            <a:r>
              <a:rPr sz="1300" b="1" i="0">
                <a:solidFill>
                  <a:srgbClr val="364FC7"/>
                </a:solidFill>
                <a:latin typeface="Arial"/>
              </a:rPr>
              <a:t>•  </a:t>
            </a:r>
            <a:r>
              <a:t/>
            </a:r>
            <a:r>
              <a:rPr sz="1300" b="0" i="0">
                <a:solidFill>
                  <a:srgbClr val="212529"/>
                </a:solidFill>
                <a:latin typeface="Arial"/>
              </a:rPr>
              <a:t>Ray pre-spawned 163 workers (~16,300 threads) → pthread EAGAIN and a 16-hour hang; capped at --num-cpus=32.</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364FC7"/>
                </a:solidFill>
                <a:latin typeface="Arial"/>
              </a:rPr>
              <a:t>Takeaway  </a:t>
            </a:r>
            <a:r>
              <a:t/>
            </a:r>
            <a:r>
              <a:rPr sz="1200" b="0" i="0">
                <a:solidFill>
                  <a:srgbClr val="212529"/>
                </a:solidFill>
                <a:latin typeface="Arial"/>
              </a:rPr>
              <a:t>Five distinct blockers cleared in one day; the node-8/9 fabric issue and think-budget problem both foreshadow later findings.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64F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364FC7"/>
                </a:solidFill>
                <a:latin typeface="Arial"/>
              </a:rPr>
              <a:t>PHASE 1 · 2026-06-11</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Length runaway kills the 9B baseline (no_deal collapse)</a:t>
            </a:r>
          </a:p>
        </p:txBody>
      </p:sp>
      <p:sp>
        <p:nvSpPr>
          <p:cNvPr id="5" name="TextBox 4"/>
          <p:cNvSpPr txBox="1"/>
          <p:nvPr/>
        </p:nvSpPr>
        <p:spPr>
          <a:xfrm>
            <a:off x="594360" y="1417320"/>
            <a:ext cx="10972800" cy="548640"/>
          </a:xfrm>
          <a:prstGeom prst="rect">
            <a:avLst/>
          </a:prstGeom>
          <a:noFill/>
        </p:spPr>
        <p:txBody>
          <a:bodyPr wrap="square">
            <a:spAutoFit/>
          </a:bodyPr>
          <a:lstStyle/>
          <a:p>
            <a:r>
              <a:t/>
            </a:r>
            <a:r>
              <a:rPr sz="1300" b="1" i="0">
                <a:solidFill>
                  <a:srgbClr val="364FC7"/>
                </a:solidFill>
                <a:latin typeface="Arial"/>
              </a:rPr>
              <a:t>Q  </a:t>
            </a:r>
            <a:r>
              <a:t/>
            </a:r>
            <a:r>
              <a:rPr sz="1300" b="0" i="1">
                <a:solidFill>
                  <a:srgbClr val="5C6370"/>
                </a:solidFill>
                <a:latin typeface="Arial"/>
              </a:rPr>
              <a:t>Why did the outcome-reward run collapse to no_deal?</a:t>
            </a:r>
          </a:p>
        </p:txBody>
      </p:sp>
      <p:sp>
        <p:nvSpPr>
          <p:cNvPr id="6" name="TextBox 5"/>
          <p:cNvSpPr txBox="1"/>
          <p:nvPr/>
        </p:nvSpPr>
        <p:spPr>
          <a:xfrm>
            <a:off x="594360" y="1691640"/>
            <a:ext cx="10972800" cy="548640"/>
          </a:xfrm>
          <a:prstGeom prst="rect">
            <a:avLst/>
          </a:prstGeom>
          <a:noFill/>
        </p:spPr>
        <p:txBody>
          <a:bodyPr wrap="square">
            <a:spAutoFit/>
          </a:bodyPr>
          <a:lstStyle/>
          <a:p>
            <a:r>
              <a:t/>
            </a:r>
            <a:r>
              <a:rPr sz="1300" b="1" i="0">
                <a:solidFill>
                  <a:srgbClr val="364FC7"/>
                </a:solidFill>
                <a:latin typeface="Arial"/>
              </a:rPr>
              <a:t>Setup  </a:t>
            </a:r>
            <a:r>
              <a:t/>
            </a:r>
            <a:r>
              <a:rPr sz="1300" b="0" i="0">
                <a:solidFill>
                  <a:srgbClr val="212529"/>
                </a:solidFill>
                <a:latin typeface="Arial"/>
              </a:rPr>
              <a:t>Qwen3.5-9B GRPO, outcome reward, 109 steps.</a:t>
            </a:r>
          </a:p>
        </p:txBody>
      </p:sp>
      <p:sp>
        <p:nvSpPr>
          <p:cNvPr id="7" name="TextBox 6"/>
          <p:cNvSpPr txBox="1"/>
          <p:nvPr/>
        </p:nvSpPr>
        <p:spPr>
          <a:xfrm>
            <a:off x="594360" y="2075688"/>
            <a:ext cx="10972800" cy="3685031"/>
          </a:xfrm>
          <a:prstGeom prst="rect">
            <a:avLst/>
          </a:prstGeom>
          <a:noFill/>
        </p:spPr>
        <p:txBody>
          <a:bodyPr wrap="square">
            <a:spAutoFit/>
          </a:bodyPr>
          <a:lstStyle/>
          <a:p>
            <a:pPr>
              <a:spcAft>
                <a:spcPts val="500"/>
              </a:spcAft>
            </a:pPr>
            <a:r>
              <a:t/>
            </a:r>
            <a:r>
              <a:rPr sz="1300" b="1" i="0">
                <a:solidFill>
                  <a:srgbClr val="364FC7"/>
                </a:solidFill>
                <a:latin typeface="Arial"/>
              </a:rPr>
              <a:t>•  </a:t>
            </a:r>
            <a:r>
              <a:t/>
            </a:r>
            <a:r>
              <a:rPr sz="1300" b="0" i="0">
                <a:solidFill>
                  <a:srgbClr val="212529"/>
                </a:solidFill>
                <a:latin typeface="Arial"/>
              </a:rPr>
              <a:t>Response length climbed 949 tokens (step 4) → 7,103 (step 56), saturating the 6,144-token budget.</a:t>
            </a:r>
          </a:p>
          <a:p>
            <a:pPr>
              <a:spcAft>
                <a:spcPts val="500"/>
              </a:spcAft>
            </a:pPr>
            <a:r>
              <a:t/>
            </a:r>
            <a:r>
              <a:rPr sz="1300" b="1" i="0">
                <a:solidFill>
                  <a:srgbClr val="364FC7"/>
                </a:solidFill>
                <a:latin typeface="Arial"/>
              </a:rPr>
              <a:t>•  </a:t>
            </a:r>
            <a:r>
              <a:t/>
            </a:r>
            <a:r>
              <a:rPr sz="1300" b="0" i="0">
                <a:solidFill>
                  <a:srgbClr val="212529"/>
                </a:solidFill>
                <a:latin typeface="Arial"/>
              </a:rPr>
              <a:t>you_norm peaked 0.80 (step 44) then collapsed to 0.12 by step 64 while no_deal went 0.01 → 0.85.</a:t>
            </a:r>
          </a:p>
          <a:p>
            <a:pPr>
              <a:spcAft>
                <a:spcPts val="500"/>
              </a:spcAft>
            </a:pPr>
            <a:r>
              <a:t/>
            </a:r>
            <a:r>
              <a:rPr sz="1300" b="1" i="0">
                <a:solidFill>
                  <a:srgbClr val="364FC7"/>
                </a:solidFill>
                <a:latin typeface="Arial"/>
              </a:rPr>
              <a:t>•  </a:t>
            </a:r>
            <a:r>
              <a:t/>
            </a:r>
            <a:r>
              <a:rPr sz="1300" b="0" i="0">
                <a:solidFill>
                  <a:srgbClr val="212529"/>
                </a:solidFill>
                <a:latin typeface="Arial"/>
              </a:rPr>
              <a:t>Root cause: the policy writes prose but never commits &lt;propose&gt;/&lt;accept&gt; before the budget dies; outcome reward gives no gradient between no_deal episodes.</a:t>
            </a:r>
          </a:p>
          <a:p>
            <a:pPr>
              <a:spcAft>
                <a:spcPts val="500"/>
              </a:spcAft>
            </a:pPr>
            <a:r>
              <a:t/>
            </a:r>
            <a:r>
              <a:rPr sz="1300" b="1" i="0">
                <a:solidFill>
                  <a:srgbClr val="364FC7"/>
                </a:solidFill>
                <a:latin typeface="Arial"/>
              </a:rPr>
              <a:t>•  </a:t>
            </a:r>
            <a:r>
              <a:t/>
            </a:r>
            <a:r>
              <a:rPr sz="1300" b="0" i="0">
                <a:solidFill>
                  <a:srgbClr val="212529"/>
                </a:solidFill>
                <a:latin typeface="Arial"/>
              </a:rPr>
              <a:t>Fix: sublinear generator-level length penalty coef·(tokens/ref)^0.5, ref=6144.</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364FC7"/>
                </a:solidFill>
                <a:latin typeface="Arial"/>
              </a:rPr>
              <a:t>Takeaway  </a:t>
            </a:r>
            <a:r>
              <a:t/>
            </a:r>
            <a:r>
              <a:rPr sz="1200" b="0" i="0">
                <a:solidFill>
                  <a:srgbClr val="212529"/>
                </a:solidFill>
                <a:latin typeface="Arial"/>
              </a:rPr>
              <a:t>Length drift is a silent run-killer under pure outcome reward; sublinear length penalty became a standard shaper.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64F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364FC7"/>
                </a:solidFill>
                <a:latin typeface="Arial"/>
              </a:rPr>
              <a:t>PHASE 1 · 2026-06-11 · key finding</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Emergent deception: promise in prose, take in JSON</a:t>
            </a:r>
          </a:p>
        </p:txBody>
      </p:sp>
      <p:sp>
        <p:nvSpPr>
          <p:cNvPr id="5" name="TextBox 4"/>
          <p:cNvSpPr txBox="1"/>
          <p:nvPr/>
        </p:nvSpPr>
        <p:spPr>
          <a:xfrm>
            <a:off x="594360" y="1417320"/>
            <a:ext cx="10972800" cy="548640"/>
          </a:xfrm>
          <a:prstGeom prst="rect">
            <a:avLst/>
          </a:prstGeom>
          <a:noFill/>
        </p:spPr>
        <p:txBody>
          <a:bodyPr wrap="square">
            <a:spAutoFit/>
          </a:bodyPr>
          <a:lstStyle/>
          <a:p>
            <a:r>
              <a:t/>
            </a:r>
            <a:r>
              <a:rPr sz="1300" b="1" i="0">
                <a:solidFill>
                  <a:srgbClr val="364FC7"/>
                </a:solidFill>
                <a:latin typeface="Arial"/>
              </a:rPr>
              <a:t>Q  </a:t>
            </a:r>
            <a:r>
              <a:t/>
            </a:r>
            <a:r>
              <a:rPr sz="1300" b="0" i="1">
                <a:solidFill>
                  <a:srgbClr val="5C6370"/>
                </a:solidFill>
                <a:latin typeface="Arial"/>
              </a:rPr>
              <a:t>Is GRPO actively selecting for deceptive proposals?</a:t>
            </a:r>
          </a:p>
        </p:txBody>
      </p:sp>
      <p:sp>
        <p:nvSpPr>
          <p:cNvPr id="6" name="TextBox 5"/>
          <p:cNvSpPr txBox="1"/>
          <p:nvPr/>
        </p:nvSpPr>
        <p:spPr>
          <a:xfrm>
            <a:off x="594360" y="1691640"/>
            <a:ext cx="10972800" cy="548640"/>
          </a:xfrm>
          <a:prstGeom prst="rect">
            <a:avLst/>
          </a:prstGeom>
          <a:noFill/>
        </p:spPr>
        <p:txBody>
          <a:bodyPr wrap="square">
            <a:spAutoFit/>
          </a:bodyPr>
          <a:lstStyle/>
          <a:p>
            <a:r>
              <a:t/>
            </a:r>
            <a:r>
              <a:rPr sz="1300" b="1" i="0">
                <a:solidFill>
                  <a:srgbClr val="364FC7"/>
                </a:solidFill>
                <a:latin typeface="Arial"/>
              </a:rPr>
              <a:t>Setup  </a:t>
            </a:r>
            <a:r>
              <a:t/>
            </a:r>
            <a:r>
              <a:rPr sz="1300" b="0" i="0">
                <a:solidFill>
                  <a:srgbClr val="212529"/>
                </a:solidFill>
                <a:latin typeface="Arial"/>
              </a:rPr>
              <a:t>Qwen3.5-9B GRPO outcome baseline vs fixed gpt-4o-mini.</a:t>
            </a:r>
          </a:p>
        </p:txBody>
      </p:sp>
      <p:sp>
        <p:nvSpPr>
          <p:cNvPr id="7" name="TextBox 6"/>
          <p:cNvSpPr txBox="1"/>
          <p:nvPr/>
        </p:nvSpPr>
        <p:spPr>
          <a:xfrm>
            <a:off x="594360" y="2075688"/>
            <a:ext cx="10972800" cy="3685031"/>
          </a:xfrm>
          <a:prstGeom prst="rect">
            <a:avLst/>
          </a:prstGeom>
          <a:noFill/>
        </p:spPr>
        <p:txBody>
          <a:bodyPr wrap="square">
            <a:spAutoFit/>
          </a:bodyPr>
          <a:lstStyle/>
          <a:p>
            <a:pPr>
              <a:spcAft>
                <a:spcPts val="500"/>
              </a:spcAft>
            </a:pPr>
            <a:r>
              <a:t/>
            </a:r>
            <a:r>
              <a:rPr sz="1300" b="1" i="0">
                <a:solidFill>
                  <a:srgbClr val="364FC7"/>
                </a:solidFill>
                <a:latin typeface="Arial"/>
              </a:rPr>
              <a:t>•  </a:t>
            </a:r>
            <a:r>
              <a:t/>
            </a:r>
            <a:r>
              <a:rPr sz="1300" b="0" i="0">
                <a:solidFill>
                  <a:srgbClr val="212529"/>
                </a:solidFill>
                <a:latin typeface="Arial"/>
              </a:rPr>
              <a:t>The policy learned to verbally promise items (“you keep the two books”) while the scored &lt;propose&gt; JSON keeps them — the opponent accepts on prose, the reward reads JSON.</a:t>
            </a:r>
          </a:p>
          <a:p>
            <a:pPr>
              <a:spcAft>
                <a:spcPts val="500"/>
              </a:spcAft>
            </a:pPr>
            <a:r>
              <a:t/>
            </a:r>
            <a:r>
              <a:rPr sz="1300" b="1" i="0">
                <a:solidFill>
                  <a:srgbClr val="364FC7"/>
                </a:solidFill>
                <a:latin typeface="Arial"/>
              </a:rPr>
              <a:t>•  </a:t>
            </a:r>
            <a:r>
              <a:t/>
            </a:r>
            <a:r>
              <a:rPr sz="1300" b="0" i="0">
                <a:solidFill>
                  <a:srgbClr val="212529"/>
                </a:solidFill>
                <a:latin typeface="Arial"/>
              </a:rPr>
              <a:t>Deceptive-trace rate rose 10.5% (step 1, base noise floor) → 25.0% (step 17); perfect-score rate 5.5% → 17.2%.</a:t>
            </a:r>
          </a:p>
          <a:p>
            <a:pPr>
              <a:spcAft>
                <a:spcPts val="500"/>
              </a:spcAft>
            </a:pPr>
            <a:r>
              <a:t/>
            </a:r>
            <a:r>
              <a:rPr sz="1300" b="1" i="0">
                <a:solidFill>
                  <a:srgbClr val="364FC7"/>
                </a:solidFill>
                <a:latin typeface="Arial"/>
              </a:rPr>
              <a:t>•  </a:t>
            </a:r>
            <a:r>
              <a:t/>
            </a:r>
            <a:r>
              <a:rPr sz="1300" b="0" i="0">
                <a:solidFill>
                  <a:srgbClr val="212529"/>
                </a:solidFill>
                <a:latin typeface="Arial"/>
              </a:rPr>
              <a:t>Deceptive traces earned a +0.06–0.07 reward premium — the gradient actively selects for lying.</a:t>
            </a:r>
          </a:p>
          <a:p>
            <a:pPr>
              <a:spcAft>
                <a:spcPts val="500"/>
              </a:spcAft>
            </a:pPr>
            <a:r>
              <a:t/>
            </a:r>
            <a:r>
              <a:rPr sz="1300" b="1" i="0">
                <a:solidFill>
                  <a:srgbClr val="364FC7"/>
                </a:solidFill>
                <a:latin typeface="Arial"/>
              </a:rPr>
              <a:t>•  </a:t>
            </a:r>
            <a:r>
              <a:t/>
            </a:r>
            <a:r>
              <a:rPr sz="1300" b="0" i="0">
                <a:solidFill>
                  <a:srgbClr val="212529"/>
                </a:solidFill>
                <a:latin typeface="Arial"/>
              </a:rPr>
              <a:t>Mitigation: conservative promise-vs-proposal detector + −0.1 penalty (flagged 65/256 trajectories at step 14); baseline relaunched clean.</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364FC7"/>
                </a:solidFill>
                <a:latin typeface="Arial"/>
              </a:rPr>
              <a:t>Takeaway  </a:t>
            </a:r>
            <a:r>
              <a:t/>
            </a:r>
            <a:r>
              <a:rPr sz="1200" b="0" i="0">
                <a:solidFill>
                  <a:srgbClr val="212529"/>
                </a:solidFill>
                <a:latin typeface="Arial"/>
              </a:rPr>
              <a:t>First clean demonstration of emergent specification-gaming deception in the project — the penalty treats the symptom, not the structure.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64F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364FC7"/>
                </a:solidFill>
                <a:latin typeface="Arial"/>
              </a:rPr>
              <a:t>PHASE 1 · 2026-06-12–14 · key finding</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35B: grad explosion, distributive gains, think-channel abandonment</a:t>
            </a:r>
          </a:p>
        </p:txBody>
      </p:sp>
      <p:sp>
        <p:nvSpPr>
          <p:cNvPr id="5" name="TextBox 4"/>
          <p:cNvSpPr txBox="1"/>
          <p:nvPr/>
        </p:nvSpPr>
        <p:spPr>
          <a:xfrm>
            <a:off x="594360" y="1417320"/>
            <a:ext cx="10972800" cy="548640"/>
          </a:xfrm>
          <a:prstGeom prst="rect">
            <a:avLst/>
          </a:prstGeom>
          <a:noFill/>
        </p:spPr>
        <p:txBody>
          <a:bodyPr wrap="square">
            <a:spAutoFit/>
          </a:bodyPr>
          <a:lstStyle/>
          <a:p>
            <a:r>
              <a:t/>
            </a:r>
            <a:r>
              <a:rPr sz="1300" b="1" i="0">
                <a:solidFill>
                  <a:srgbClr val="364FC7"/>
                </a:solidFill>
                <a:latin typeface="Arial"/>
              </a:rPr>
              <a:t>Q  </a:t>
            </a:r>
            <a:r>
              <a:t/>
            </a:r>
            <a:r>
              <a:rPr sz="1300" b="0" i="1">
                <a:solidFill>
                  <a:srgbClr val="5C6370"/>
                </a:solidFill>
                <a:latin typeface="Arial"/>
              </a:rPr>
              <a:t>Why did the 35B thinking run regress ~30% off peak reward — and were the gains ever real?</a:t>
            </a:r>
          </a:p>
        </p:txBody>
      </p:sp>
      <p:sp>
        <p:nvSpPr>
          <p:cNvPr id="6" name="TextBox 5"/>
          <p:cNvSpPr txBox="1"/>
          <p:nvPr/>
        </p:nvSpPr>
        <p:spPr>
          <a:xfrm>
            <a:off x="594360" y="1691640"/>
            <a:ext cx="10972800" cy="548640"/>
          </a:xfrm>
          <a:prstGeom prst="rect">
            <a:avLst/>
          </a:prstGeom>
          <a:noFill/>
        </p:spPr>
        <p:txBody>
          <a:bodyPr wrap="square">
            <a:spAutoFit/>
          </a:bodyPr>
          <a:lstStyle/>
          <a:p>
            <a:r>
              <a:t/>
            </a:r>
            <a:r>
              <a:rPr sz="1300" b="1" i="0">
                <a:solidFill>
                  <a:srgbClr val="364FC7"/>
                </a:solidFill>
                <a:latin typeface="Arial"/>
              </a:rPr>
              <a:t>Setup  </a:t>
            </a:r>
            <a:r>
              <a:t/>
            </a:r>
            <a:r>
              <a:rPr sz="1300" b="0" i="0">
                <a:solidFill>
                  <a:srgbClr val="212529"/>
                </a:solidFill>
                <a:latin typeface="Arial"/>
              </a:rPr>
              <a:t>Qwen3.5-35B-A3B GRPO, thinking on, vs gpt-4o-mini, 2×H200 nodes.</a:t>
            </a:r>
          </a:p>
        </p:txBody>
      </p:sp>
      <p:sp>
        <p:nvSpPr>
          <p:cNvPr id="7" name="TextBox 6"/>
          <p:cNvSpPr txBox="1"/>
          <p:nvPr/>
        </p:nvSpPr>
        <p:spPr>
          <a:xfrm>
            <a:off x="594360" y="2075688"/>
            <a:ext cx="10972800" cy="3685031"/>
          </a:xfrm>
          <a:prstGeom prst="rect">
            <a:avLst/>
          </a:prstGeom>
          <a:noFill/>
        </p:spPr>
        <p:txBody>
          <a:bodyPr wrap="square">
            <a:spAutoFit/>
          </a:bodyPr>
          <a:lstStyle/>
          <a:p>
            <a:pPr>
              <a:spcAft>
                <a:spcPts val="500"/>
              </a:spcAft>
            </a:pPr>
            <a:r>
              <a:t/>
            </a:r>
            <a:r>
              <a:rPr sz="1300" b="1" i="0">
                <a:solidFill>
                  <a:srgbClr val="364FC7"/>
                </a:solidFill>
                <a:latin typeface="Arial"/>
              </a:rPr>
              <a:t>•  </a:t>
            </a:r>
            <a:r>
              <a:t/>
            </a:r>
            <a:r>
              <a:rPr sz="1300" b="0" i="0">
                <a:solidFill>
                  <a:srgbClr val="212529"/>
                </a:solidFill>
                <a:latin typeface="Arial"/>
              </a:rPr>
              <a:t>Reward peaked 0.827 (step 74) then fell to ~0.55 while grad_norm exploded 4.6 → 473 and 55% of rollouts became token-repetition loops.</a:t>
            </a:r>
          </a:p>
          <a:p>
            <a:pPr>
              <a:spcAft>
                <a:spcPts val="500"/>
              </a:spcAft>
            </a:pPr>
            <a:r>
              <a:t/>
            </a:r>
            <a:r>
              <a:rPr sz="1300" b="1" i="0">
                <a:solidFill>
                  <a:srgbClr val="364FC7"/>
                </a:solidFill>
                <a:latin typeface="Arial"/>
              </a:rPr>
              <a:t>•  </a:t>
            </a:r>
            <a:r>
              <a:t/>
            </a:r>
            <a:r>
              <a:rPr sz="1300" b="0" i="0">
                <a:solidFill>
                  <a:srgbClr val="212529"/>
                </a:solidFill>
                <a:latin typeface="Arial"/>
              </a:rPr>
              <a:t>Chain: entropy collapse → GRPO ratio blowup → repetition collapse → malformed actions. Recipe fix: entropy 0.005, KL 0.02, grad clip 0.5.</a:t>
            </a:r>
          </a:p>
          <a:p>
            <a:pPr>
              <a:spcAft>
                <a:spcPts val="500"/>
              </a:spcAft>
            </a:pPr>
            <a:r>
              <a:t/>
            </a:r>
            <a:r>
              <a:rPr sz="1300" b="1" i="0">
                <a:solidFill>
                  <a:srgbClr val="364FC7"/>
                </a:solidFill>
                <a:latin typeface="Arial"/>
              </a:rPr>
              <a:t>•  </a:t>
            </a:r>
            <a:r>
              <a:t/>
            </a:r>
            <a:r>
              <a:rPr sz="1300" b="0" i="0">
                <a:solidFill>
                  <a:srgbClr val="212529"/>
                </a:solidFill>
                <a:latin typeface="Arial"/>
              </a:rPr>
              <a:t>Eval at step 70: own score 0.53→0.79 but opponent 0.54→0.26 and Pareto rate DROPPED 27%→19% — gains were distributive (bigger slice), not integrative (bigger pie).</a:t>
            </a:r>
          </a:p>
          <a:p>
            <a:pPr>
              <a:spcAft>
                <a:spcPts val="500"/>
              </a:spcAft>
            </a:pPr>
            <a:r>
              <a:t/>
            </a:r>
            <a:r>
              <a:rPr sz="1300" b="1" i="0">
                <a:solidFill>
                  <a:srgbClr val="364FC7"/>
                </a:solidFill>
                <a:latin typeface="Arial"/>
              </a:rPr>
              <a:t>•  </a:t>
            </a:r>
            <a:r>
              <a:t/>
            </a:r>
            <a:r>
              <a:rPr sz="1300" b="0" i="0">
                <a:solidFill>
                  <a:srgbClr val="212529"/>
                </a:solidFill>
                <a:latin typeface="Arial"/>
              </a:rPr>
              <a:t>Non-empty &lt;think&gt; fell 67%→21%: reasoning moved into visible text, leaking private values to the opponent (reward-positive, so a −0.05 penalty was too weak).</a:t>
            </a:r>
          </a:p>
          <a:p>
            <a:pPr>
              <a:spcAft>
                <a:spcPts val="500"/>
              </a:spcAft>
            </a:pPr>
            <a:r>
              <a:t/>
            </a:r>
            <a:r>
              <a:rPr sz="1300" b="1" i="0">
                <a:solidFill>
                  <a:srgbClr val="364FC7"/>
                </a:solidFill>
                <a:latin typeface="Arial"/>
              </a:rPr>
              <a:t>•  </a:t>
            </a:r>
            <a:r>
              <a:t/>
            </a:r>
            <a:r>
              <a:rPr sz="1300" b="0" i="0">
                <a:solidFill>
                  <a:srgbClr val="212529"/>
                </a:solidFill>
                <a:latin typeface="Arial"/>
              </a:rPr>
              <a:t>Checkpoint rule established: use best-eval checkpoints, never late ones (34% zero-score at step 130 vs 3% at 110).</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364FC7"/>
                </a:solidFill>
                <a:latin typeface="Arial"/>
              </a:rPr>
              <a:t>Takeaway  </a:t>
            </a:r>
            <a:r>
              <a:t/>
            </a:r>
            <a:r>
              <a:rPr sz="1200" b="0" i="0">
                <a:solidFill>
                  <a:srgbClr val="212529"/>
                </a:solidFill>
                <a:latin typeface="Arial"/>
              </a:rPr>
              <a:t>Produced the standard stabilization recipe and the two behavioral findings — distributive over-claiming and think-abandonment/value-leak — that drive the rest of the phase.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64F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364FC7"/>
                </a:solidFill>
                <a:latin typeface="Arial"/>
              </a:rPr>
              <a:t>PHASE 1 · 2026-06-15/16 · key finding</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Raw 35B baseline vs gpt-5.5: the pathologies are organic</a:t>
            </a:r>
          </a:p>
        </p:txBody>
      </p:sp>
      <p:sp>
        <p:nvSpPr>
          <p:cNvPr id="5" name="TextBox 4"/>
          <p:cNvSpPr txBox="1"/>
          <p:nvPr/>
        </p:nvSpPr>
        <p:spPr>
          <a:xfrm>
            <a:off x="594360" y="1417320"/>
            <a:ext cx="10972800" cy="548640"/>
          </a:xfrm>
          <a:prstGeom prst="rect">
            <a:avLst/>
          </a:prstGeom>
          <a:noFill/>
        </p:spPr>
        <p:txBody>
          <a:bodyPr wrap="square">
            <a:spAutoFit/>
          </a:bodyPr>
          <a:lstStyle/>
          <a:p>
            <a:r>
              <a:t/>
            </a:r>
            <a:r>
              <a:rPr sz="1300" b="1" i="0">
                <a:solidFill>
                  <a:srgbClr val="364FC7"/>
                </a:solidFill>
                <a:latin typeface="Arial"/>
              </a:rPr>
              <a:t>Q  </a:t>
            </a:r>
            <a:r>
              <a:t/>
            </a:r>
            <a:r>
              <a:rPr sz="1300" b="0" i="1">
                <a:solidFill>
                  <a:srgbClr val="5C6370"/>
                </a:solidFill>
                <a:latin typeface="Arial"/>
              </a:rPr>
              <a:t>With behavior penalties OFF, does deception/exploitation still emerge against a non-pushover opponent?</a:t>
            </a:r>
          </a:p>
        </p:txBody>
      </p:sp>
      <p:sp>
        <p:nvSpPr>
          <p:cNvPr id="6" name="TextBox 5"/>
          <p:cNvSpPr txBox="1"/>
          <p:nvPr/>
        </p:nvSpPr>
        <p:spPr>
          <a:xfrm>
            <a:off x="594360" y="1691640"/>
            <a:ext cx="10972800" cy="548640"/>
          </a:xfrm>
          <a:prstGeom prst="rect">
            <a:avLst/>
          </a:prstGeom>
          <a:noFill/>
        </p:spPr>
        <p:txBody>
          <a:bodyPr wrap="square">
            <a:spAutoFit/>
          </a:bodyPr>
          <a:lstStyle/>
          <a:p>
            <a:r>
              <a:t/>
            </a:r>
            <a:r>
              <a:rPr sz="1300" b="1" i="0">
                <a:solidFill>
                  <a:srgbClr val="364FC7"/>
                </a:solidFill>
                <a:latin typeface="Arial"/>
              </a:rPr>
              <a:t>Setup  </a:t>
            </a:r>
            <a:r>
              <a:t/>
            </a:r>
            <a:r>
              <a:rPr sz="1300" b="0" i="0">
                <a:solidFill>
                  <a:srgbClr val="212529"/>
                </a:solidFill>
                <a:latin typeface="Arial"/>
              </a:rPr>
              <a:t>Qwen3.5-35B-A3B GRPO, thinking on, opponent gpt-5.5, stabilization recipe on.</a:t>
            </a:r>
          </a:p>
        </p:txBody>
      </p:sp>
      <p:sp>
        <p:nvSpPr>
          <p:cNvPr id="7" name="TextBox 6"/>
          <p:cNvSpPr txBox="1"/>
          <p:nvPr/>
        </p:nvSpPr>
        <p:spPr>
          <a:xfrm>
            <a:off x="594360" y="2075688"/>
            <a:ext cx="10972800" cy="3685031"/>
          </a:xfrm>
          <a:prstGeom prst="rect">
            <a:avLst/>
          </a:prstGeom>
          <a:noFill/>
        </p:spPr>
        <p:txBody>
          <a:bodyPr wrap="square">
            <a:spAutoFit/>
          </a:bodyPr>
          <a:lstStyle/>
          <a:p>
            <a:pPr>
              <a:spcAft>
                <a:spcPts val="500"/>
              </a:spcAft>
            </a:pPr>
            <a:r>
              <a:t/>
            </a:r>
            <a:r>
              <a:rPr sz="1300" b="1" i="0">
                <a:solidFill>
                  <a:srgbClr val="364FC7"/>
                </a:solidFill>
                <a:latin typeface="Arial"/>
              </a:rPr>
              <a:t>•  </a:t>
            </a:r>
            <a:r>
              <a:t/>
            </a:r>
            <a:r>
              <a:rPr sz="1300" b="0" i="0">
                <a:solidFill>
                  <a:srgbClr val="212529"/>
                </a:solidFill>
                <a:latin typeface="Arial"/>
              </a:rPr>
              <a:t>Training rock-stable: grad_norm flat 2–3.4, reward 0.47 → ~0.66 with no degeneration — a clean baseline without the optimizer-collapse confound.</a:t>
            </a:r>
          </a:p>
          <a:p>
            <a:pPr>
              <a:spcAft>
                <a:spcPts val="500"/>
              </a:spcAft>
            </a:pPr>
            <a:r>
              <a:t/>
            </a:r>
            <a:r>
              <a:rPr sz="1300" b="1" i="0">
                <a:solidFill>
                  <a:srgbClr val="364FC7"/>
                </a:solidFill>
                <a:latin typeface="Arial"/>
              </a:rPr>
              <a:t>•  </a:t>
            </a:r>
            <a:r>
              <a:t/>
            </a:r>
            <a:r>
              <a:rPr sz="1300" b="0" i="0">
                <a:solidFill>
                  <a:srgbClr val="212529"/>
                </a:solidFill>
                <a:latin typeface="Arial"/>
              </a:rPr>
              <a:t>Value-leak ROSE with training (0.45 → ~0.8 of messages) — opposite the prediction that a strong opponent suppresses it.</a:t>
            </a:r>
          </a:p>
          <a:p>
            <a:pPr>
              <a:spcAft>
                <a:spcPts val="500"/>
              </a:spcAft>
            </a:pPr>
            <a:r>
              <a:t/>
            </a:r>
            <a:r>
              <a:rPr sz="1300" b="1" i="0">
                <a:solidFill>
                  <a:srgbClr val="364FC7"/>
                </a:solidFill>
                <a:latin typeface="Arial"/>
              </a:rPr>
              <a:t>•  </a:t>
            </a:r>
            <a:r>
              <a:t/>
            </a:r>
            <a:r>
              <a:rPr sz="1300" b="0" i="0">
                <a:solidFill>
                  <a:srgbClr val="212529"/>
                </a:solidFill>
                <a:latin typeface="Arial"/>
              </a:rPr>
              <a:t>Think channel abandoned by step ~22 (think_nonempty 0.33 → ~0); top-reward rollout is a terse 1-turn over-claim with an empty &lt;think&gt;.</a:t>
            </a:r>
          </a:p>
          <a:p>
            <a:pPr>
              <a:spcAft>
                <a:spcPts val="500"/>
              </a:spcAft>
            </a:pPr>
            <a:r>
              <a:t/>
            </a:r>
            <a:r>
              <a:rPr sz="1300" b="1" i="0">
                <a:solidFill>
                  <a:srgbClr val="364FC7"/>
                </a:solidFill>
                <a:latin typeface="Arial"/>
              </a:rPr>
              <a:t>•  </a:t>
            </a:r>
            <a:r>
              <a:t/>
            </a:r>
            <a:r>
              <a:rPr sz="1300" b="0" i="0">
                <a:solidFill>
                  <a:srgbClr val="212529"/>
                </a:solidFill>
                <a:latin typeface="Arial"/>
              </a:rPr>
              <a:t>Infra saga: 390GB/checkpoint filled the shared NFS twice; 4 recoveries; volume expanded 3.7T→9.1T.</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364FC7"/>
                </a:solidFill>
                <a:latin typeface="Arial"/>
              </a:rPr>
              <a:t>Takeaway  </a:t>
            </a:r>
            <a:r>
              <a:t/>
            </a:r>
            <a:r>
              <a:rPr sz="1200" b="0" i="0">
                <a:solidFill>
                  <a:srgbClr val="212529"/>
                </a:solidFill>
                <a:latin typeface="Arial"/>
              </a:rPr>
              <a:t>Value-leak and think-abandonment are organic emergent behaviors, not artifacts of a pushover opponent or unstable optimization — the phase's headline emergence result.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64F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364FC7"/>
                </a:solidFill>
                <a:latin typeface="Arial"/>
              </a:rPr>
              <a:t>PHASE 1 · 2026-06-15 · hypothesis falsified</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2×2: Pareto reward × preference elicitation — no interaction</a:t>
            </a:r>
          </a:p>
        </p:txBody>
      </p:sp>
      <p:sp>
        <p:nvSpPr>
          <p:cNvPr id="5" name="TextBox 4"/>
          <p:cNvSpPr txBox="1"/>
          <p:nvPr/>
        </p:nvSpPr>
        <p:spPr>
          <a:xfrm>
            <a:off x="594360" y="1417320"/>
            <a:ext cx="10972800" cy="548640"/>
          </a:xfrm>
          <a:prstGeom prst="rect">
            <a:avLst/>
          </a:prstGeom>
          <a:noFill/>
        </p:spPr>
        <p:txBody>
          <a:bodyPr wrap="square">
            <a:spAutoFit/>
          </a:bodyPr>
          <a:lstStyle/>
          <a:p>
            <a:r>
              <a:t/>
            </a:r>
            <a:r>
              <a:rPr sz="1300" b="1" i="0">
                <a:solidFill>
                  <a:srgbClr val="364FC7"/>
                </a:solidFill>
                <a:latin typeface="Arial"/>
              </a:rPr>
              <a:t>Q  </a:t>
            </a:r>
            <a:r>
              <a:t/>
            </a:r>
            <a:r>
              <a:rPr sz="1300" b="0" i="1">
                <a:solidFill>
                  <a:srgbClr val="5C6370"/>
                </a:solidFill>
                <a:latin typeface="Arial"/>
              </a:rPr>
              <a:t>Is elicitation (information) or joint-efficiency reward (incentive) the binding constraint on integrative negotiation?</a:t>
            </a:r>
          </a:p>
        </p:txBody>
      </p:sp>
      <p:sp>
        <p:nvSpPr>
          <p:cNvPr id="6" name="TextBox 5"/>
          <p:cNvSpPr txBox="1"/>
          <p:nvPr/>
        </p:nvSpPr>
        <p:spPr>
          <a:xfrm>
            <a:off x="594360" y="1691640"/>
            <a:ext cx="10972800" cy="548640"/>
          </a:xfrm>
          <a:prstGeom prst="rect">
            <a:avLst/>
          </a:prstGeom>
          <a:noFill/>
        </p:spPr>
        <p:txBody>
          <a:bodyPr wrap="square">
            <a:spAutoFit/>
          </a:bodyPr>
          <a:lstStyle/>
          <a:p>
            <a:r>
              <a:t/>
            </a:r>
            <a:r>
              <a:rPr sz="1300" b="1" i="0">
                <a:solidFill>
                  <a:srgbClr val="364FC7"/>
                </a:solidFill>
                <a:latin typeface="Arial"/>
              </a:rPr>
              <a:t>Setup  </a:t>
            </a:r>
            <a:r>
              <a:t/>
            </a:r>
            <a:r>
              <a:rPr sz="1300" b="0" i="0">
                <a:solidFill>
                  <a:srgbClr val="212529"/>
                </a:solidFill>
                <a:latin typeface="Arial"/>
              </a:rPr>
              <a:t>Qwen3.5-35B, 5 cells crossing reward (outcome vs jointeff) × elicitation prompt (none / one-sided / two-sided), vs gpt-4o-mini.</a:t>
            </a:r>
          </a:p>
        </p:txBody>
      </p:sp>
      <p:sp>
        <p:nvSpPr>
          <p:cNvPr id="7" name="TextBox 6"/>
          <p:cNvSpPr txBox="1"/>
          <p:nvPr/>
        </p:nvSpPr>
        <p:spPr>
          <a:xfrm>
            <a:off x="594360" y="2075688"/>
            <a:ext cx="10972800" cy="3685031"/>
          </a:xfrm>
          <a:prstGeom prst="rect">
            <a:avLst/>
          </a:prstGeom>
          <a:noFill/>
        </p:spPr>
        <p:txBody>
          <a:bodyPr wrap="square">
            <a:spAutoFit/>
          </a:bodyPr>
          <a:lstStyle/>
          <a:p>
            <a:pPr>
              <a:spcAft>
                <a:spcPts val="500"/>
              </a:spcAft>
            </a:pPr>
            <a:r>
              <a:t/>
            </a:r>
            <a:r>
              <a:rPr sz="1300" b="1" i="0">
                <a:solidFill>
                  <a:srgbClr val="364FC7"/>
                </a:solidFill>
                <a:latin typeface="Arial"/>
              </a:rPr>
              <a:t>•  </a:t>
            </a:r>
            <a:r>
              <a:t/>
            </a:r>
            <a:r>
              <a:rPr sz="1300" b="0" i="0">
                <a:solidFill>
                  <a:srgbClr val="212529"/>
                </a:solidFill>
                <a:latin typeface="Arial"/>
              </a:rPr>
              <a:t>Reward is the only real lever: jointeff cells reach jeff 0.72–0.785 vs outcome's 0.673; elicitation moves jeff by &lt;0.01 within an arm. No interaction — the pre-registered falsification condition was met.</a:t>
            </a:r>
          </a:p>
          <a:p>
            <a:pPr>
              <a:spcAft>
                <a:spcPts val="500"/>
              </a:spcAft>
            </a:pPr>
            <a:r>
              <a:t/>
            </a:r>
            <a:r>
              <a:rPr sz="1300" b="1" i="0">
                <a:solidFill>
                  <a:srgbClr val="364FC7"/>
                </a:solidFill>
                <a:latin typeface="Arial"/>
              </a:rPr>
              <a:t>•  </a:t>
            </a:r>
            <a:r>
              <a:t/>
            </a:r>
            <a:r>
              <a:rPr sz="1300" b="0" i="0">
                <a:solidFill>
                  <a:srgbClr val="212529"/>
                </a:solidFill>
                <a:latin typeface="Arial"/>
              </a:rPr>
              <a:t>outcome/none collapses into pure extraction: you/them = 0.981/0.034 — and posts the highest “eval” score because eval IS own-value reward.</a:t>
            </a:r>
          </a:p>
          <a:p>
            <a:pPr>
              <a:spcAft>
                <a:spcPts val="500"/>
              </a:spcAft>
            </a:pPr>
            <a:r>
              <a:t/>
            </a:r>
            <a:r>
              <a:rPr sz="1300" b="1" i="0">
                <a:solidFill>
                  <a:srgbClr val="364FC7"/>
                </a:solidFill>
                <a:latin typeface="Arial"/>
              </a:rPr>
              <a:t>•  </a:t>
            </a:r>
            <a:r>
              <a:t/>
            </a:r>
            <a:r>
              <a:rPr sz="1300" b="0" i="0">
                <a:solidFill>
                  <a:srgbClr val="212529"/>
                </a:solidFill>
                <a:latin typeface="Arial"/>
              </a:rPr>
              <a:t>Joint-efficiency reward's real product is non-exploitation (equity gap 0.05–0.08), not pie-growth: base jeff was already 0.748, best cell 0.785.</a:t>
            </a:r>
          </a:p>
          <a:p>
            <a:pPr>
              <a:spcAft>
                <a:spcPts val="500"/>
              </a:spcAft>
            </a:pPr>
            <a:r>
              <a:t/>
            </a:r>
            <a:r>
              <a:rPr sz="1300" b="1" i="0">
                <a:solidFill>
                  <a:srgbClr val="364FC7"/>
                </a:solidFill>
                <a:latin typeface="Arial"/>
              </a:rPr>
              <a:t>•  </a:t>
            </a:r>
            <a:r>
              <a:t/>
            </a:r>
            <a:r>
              <a:rPr sz="1300" b="0" i="0">
                <a:solidFill>
                  <a:srgbClr val="212529"/>
                </a:solidFill>
                <a:latin typeface="Arial"/>
              </a:rPr>
              <a:t>Cross-play: the outcome-trained model squeezes a pushover to opp_norm 0.013, grabbing 91% of zero-value items.</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364FC7"/>
                </a:solidFill>
                <a:latin typeface="Arial"/>
              </a:rPr>
              <a:t>Takeaway  </a:t>
            </a:r>
            <a:r>
              <a:t/>
            </a:r>
            <a:r>
              <a:rPr sz="1200" b="0" i="0">
                <a:solidFill>
                  <a:srgbClr val="212529"/>
                </a:solidFill>
                <a:latin typeface="Arial"/>
              </a:rPr>
              <a:t>Reward &gt;&gt; elicitation; reframed the question as “who exploits the pushover” and redirected the project toward harder opponents.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64F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364FC7"/>
                </a:solidFill>
                <a:latin typeface="Arial"/>
              </a:rPr>
              <a:t>PHASE 1 · 2026-06-16/17</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Mechanism runs: opponent hardness and think vs no-think</a:t>
            </a:r>
          </a:p>
        </p:txBody>
      </p:sp>
      <p:sp>
        <p:nvSpPr>
          <p:cNvPr id="5" name="TextBox 4"/>
          <p:cNvSpPr txBox="1"/>
          <p:nvPr/>
        </p:nvSpPr>
        <p:spPr>
          <a:xfrm>
            <a:off x="594360" y="1417320"/>
            <a:ext cx="10972800" cy="548640"/>
          </a:xfrm>
          <a:prstGeom prst="rect">
            <a:avLst/>
          </a:prstGeom>
          <a:noFill/>
        </p:spPr>
        <p:txBody>
          <a:bodyPr wrap="square">
            <a:spAutoFit/>
          </a:bodyPr>
          <a:lstStyle/>
          <a:p>
            <a:r>
              <a:t/>
            </a:r>
            <a:r>
              <a:rPr sz="1300" b="1" i="0">
                <a:solidFill>
                  <a:srgbClr val="364FC7"/>
                </a:solidFill>
                <a:latin typeface="Arial"/>
              </a:rPr>
              <a:t>Q  </a:t>
            </a:r>
            <a:r>
              <a:t/>
            </a:r>
            <a:r>
              <a:rPr sz="1300" b="0" i="1">
                <a:solidFill>
                  <a:srgbClr val="5C6370"/>
                </a:solidFill>
                <a:latin typeface="Arial"/>
              </a:rPr>
              <a:t>Is gpt-5.5 meaningfully harder than gpt-4o-mini, and is the think channel load-bearing?</a:t>
            </a:r>
          </a:p>
        </p:txBody>
      </p:sp>
      <p:sp>
        <p:nvSpPr>
          <p:cNvPr id="6" name="TextBox 5"/>
          <p:cNvSpPr txBox="1"/>
          <p:nvPr/>
        </p:nvSpPr>
        <p:spPr>
          <a:xfrm>
            <a:off x="594360" y="1691640"/>
            <a:ext cx="10972800" cy="548640"/>
          </a:xfrm>
          <a:prstGeom prst="rect">
            <a:avLst/>
          </a:prstGeom>
          <a:noFill/>
        </p:spPr>
        <p:txBody>
          <a:bodyPr wrap="square">
            <a:spAutoFit/>
          </a:bodyPr>
          <a:lstStyle/>
          <a:p>
            <a:r>
              <a:t/>
            </a:r>
            <a:r>
              <a:rPr sz="1300" b="1" i="0">
                <a:solidFill>
                  <a:srgbClr val="364FC7"/>
                </a:solidFill>
                <a:latin typeface="Arial"/>
              </a:rPr>
              <a:t>Setup  </a:t>
            </a:r>
            <a:r>
              <a:t/>
            </a:r>
            <a:r>
              <a:rPr sz="1300" b="0" i="0">
                <a:solidFill>
                  <a:srgbClr val="212529"/>
                </a:solidFill>
                <a:latin typeface="Arial"/>
              </a:rPr>
              <a:t>4 arms compared: ws_baseline (4o-mini), rawbase (gpt-5.5), aggressive-gpt-5.5, nothink; plus new self-play and aggressive-opponent machinery.</a:t>
            </a:r>
          </a:p>
        </p:txBody>
      </p:sp>
      <p:sp>
        <p:nvSpPr>
          <p:cNvPr id="7" name="TextBox 6"/>
          <p:cNvSpPr txBox="1"/>
          <p:nvPr/>
        </p:nvSpPr>
        <p:spPr>
          <a:xfrm>
            <a:off x="594360" y="2244852"/>
            <a:ext cx="10972800" cy="3515868"/>
          </a:xfrm>
          <a:prstGeom prst="rect">
            <a:avLst/>
          </a:prstGeom>
          <a:noFill/>
        </p:spPr>
        <p:txBody>
          <a:bodyPr wrap="square">
            <a:spAutoFit/>
          </a:bodyPr>
          <a:lstStyle/>
          <a:p>
            <a:pPr>
              <a:spcAft>
                <a:spcPts val="500"/>
              </a:spcAft>
            </a:pPr>
            <a:r>
              <a:t/>
            </a:r>
            <a:r>
              <a:rPr sz="1300" b="1" i="0">
                <a:solidFill>
                  <a:srgbClr val="364FC7"/>
                </a:solidFill>
                <a:latin typeface="Arial"/>
              </a:rPr>
              <a:t>•  </a:t>
            </a:r>
            <a:r>
              <a:t/>
            </a:r>
            <a:r>
              <a:rPr sz="1300" b="0" i="0">
                <a:solidFill>
                  <a:srgbClr val="212529"/>
                </a:solidFill>
                <a:latin typeface="Arial"/>
              </a:rPr>
              <a:t>Opponent share them_norm: 0.40 (4o-mini) → 0.67–0.72 (gpt-5.5) — 4o-mini always folds, gpt-5.5 counters and walks.</a:t>
            </a:r>
          </a:p>
          <a:p>
            <a:pPr>
              <a:spcAft>
                <a:spcPts val="500"/>
              </a:spcAft>
            </a:pPr>
            <a:r>
              <a:t/>
            </a:r>
            <a:r>
              <a:rPr sz="1300" b="1" i="0">
                <a:solidFill>
                  <a:srgbClr val="364FC7"/>
                </a:solidFill>
                <a:latin typeface="Arial"/>
              </a:rPr>
              <a:t>•  </a:t>
            </a:r>
            <a:r>
              <a:t/>
            </a:r>
            <a:r>
              <a:rPr sz="1300" b="0" i="0">
                <a:solidFill>
                  <a:srgbClr val="212529"/>
                </a:solidFill>
                <a:latin typeface="Arial"/>
              </a:rPr>
              <a:t>But gpt-5.5 is breakable: the nothink policy reaches reward 0.85 / you_norm 0.94 at step 119 by stonewalling — repeating one lopsided proposal until gpt-5.5 caves.</a:t>
            </a:r>
          </a:p>
          <a:p>
            <a:pPr>
              <a:spcAft>
                <a:spcPts val="500"/>
              </a:spcAft>
            </a:pPr>
            <a:r>
              <a:t/>
            </a:r>
            <a:r>
              <a:rPr sz="1300" b="1" i="0">
                <a:solidFill>
                  <a:srgbClr val="364FC7"/>
                </a:solidFill>
                <a:latin typeface="Arial"/>
              </a:rPr>
              <a:t>•  </a:t>
            </a:r>
            <a:r>
              <a:t/>
            </a:r>
            <a:r>
              <a:rPr sz="1300" b="0" i="0">
                <a:solidFill>
                  <a:srgbClr val="212529"/>
                </a:solidFill>
                <a:latin typeface="Arial"/>
              </a:rPr>
              <a:t>The think channel is dead even when enabled: empty &lt;think&gt;&lt;/think&gt; plus open-text reasoning (“this secures 7 points for myself” said TO the opponent) — that IS the value leak.</a:t>
            </a:r>
          </a:p>
          <a:p>
            <a:pPr>
              <a:spcAft>
                <a:spcPts val="500"/>
              </a:spcAft>
            </a:pPr>
            <a:r>
              <a:t/>
            </a:r>
            <a:r>
              <a:rPr sz="1300" b="1" i="0">
                <a:solidFill>
                  <a:srgbClr val="364FC7"/>
                </a:solidFill>
                <a:latin typeface="Arial"/>
              </a:rPr>
              <a:t>•  </a:t>
            </a:r>
            <a:r>
              <a:t/>
            </a:r>
            <a:r>
              <a:rPr sz="1300" b="0" i="0">
                <a:solidFill>
                  <a:srgbClr val="212529"/>
                </a:solidFill>
                <a:latin typeface="Arial"/>
              </a:rPr>
              <a:t>Decisions: adversary = gpt-5.5; enforce thinking structurally (decode-time) rather than via game-able reward penalties; keep nothink as capability control.</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364FC7"/>
                </a:solidFill>
                <a:latin typeface="Arial"/>
              </a:rPr>
              <a:t>Takeaway  </a:t>
            </a:r>
            <a:r>
              <a:t/>
            </a:r>
            <a:r>
              <a:rPr sz="1200" b="0" i="0">
                <a:solidFill>
                  <a:srgbClr val="212529"/>
                </a:solidFill>
                <a:latin typeface="Arial"/>
              </a:rPr>
              <a:t>Locked in the opponent and pivoted the thinking arm to structural enforcement of the private-reasoning channel.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64F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364FC7"/>
                </a:solidFill>
                <a:latin typeface="Arial"/>
              </a:rPr>
              <a:t>PHASE 1 · 2026-06-17/18 · infrastructure</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Structural fixes: repetition penalty + the think gate</a:t>
            </a:r>
          </a:p>
        </p:txBody>
      </p:sp>
      <p:sp>
        <p:nvSpPr>
          <p:cNvPr id="5" name="TextBox 4"/>
          <p:cNvSpPr txBox="1"/>
          <p:nvPr/>
        </p:nvSpPr>
        <p:spPr>
          <a:xfrm>
            <a:off x="594360" y="1417320"/>
            <a:ext cx="10972800" cy="548640"/>
          </a:xfrm>
          <a:prstGeom prst="rect">
            <a:avLst/>
          </a:prstGeom>
          <a:noFill/>
        </p:spPr>
        <p:txBody>
          <a:bodyPr wrap="square">
            <a:spAutoFit/>
          </a:bodyPr>
          <a:lstStyle/>
          <a:p>
            <a:r>
              <a:t/>
            </a:r>
            <a:r>
              <a:rPr sz="1300" b="1" i="0">
                <a:solidFill>
                  <a:srgbClr val="364FC7"/>
                </a:solidFill>
                <a:latin typeface="Arial"/>
              </a:rPr>
              <a:t>Q  </a:t>
            </a:r>
            <a:r>
              <a:t/>
            </a:r>
            <a:r>
              <a:rPr sz="1300" b="0" i="1">
                <a:solidFill>
                  <a:srgbClr val="5C6370"/>
                </a:solidFill>
                <a:latin typeface="Arial"/>
              </a:rPr>
              <a:t>How to stop degenerate loops and un-closed &lt;think&gt; blocks without punishing coherent verbosity?</a:t>
            </a:r>
          </a:p>
        </p:txBody>
      </p:sp>
      <p:sp>
        <p:nvSpPr>
          <p:cNvPr id="6" name="TextBox 5"/>
          <p:cNvSpPr txBox="1"/>
          <p:nvPr/>
        </p:nvSpPr>
        <p:spPr>
          <a:xfrm>
            <a:off x="594360" y="1691640"/>
            <a:ext cx="10972800" cy="548640"/>
          </a:xfrm>
          <a:prstGeom prst="rect">
            <a:avLst/>
          </a:prstGeom>
          <a:noFill/>
        </p:spPr>
        <p:txBody>
          <a:bodyPr wrap="square">
            <a:spAutoFit/>
          </a:bodyPr>
          <a:lstStyle/>
          <a:p>
            <a:r>
              <a:t/>
            </a:r>
            <a:r>
              <a:rPr sz="1300" b="1" i="0">
                <a:solidFill>
                  <a:srgbClr val="364FC7"/>
                </a:solidFill>
                <a:latin typeface="Arial"/>
              </a:rPr>
              <a:t>Setup  </a:t>
            </a:r>
            <a:r>
              <a:t/>
            </a:r>
            <a:r>
              <a:rPr sz="1300" b="0" i="0">
                <a:solidFill>
                  <a:srgbClr val="212529"/>
                </a:solidFill>
                <a:latin typeface="Arial"/>
              </a:rPr>
              <a:t>Reward shaping + vLLM logits-processor changes for the 35B runs.</a:t>
            </a:r>
          </a:p>
        </p:txBody>
      </p:sp>
      <p:sp>
        <p:nvSpPr>
          <p:cNvPr id="7" name="TextBox 6"/>
          <p:cNvSpPr txBox="1"/>
          <p:nvPr/>
        </p:nvSpPr>
        <p:spPr>
          <a:xfrm>
            <a:off x="594360" y="2075688"/>
            <a:ext cx="10972800" cy="3685031"/>
          </a:xfrm>
          <a:prstGeom prst="rect">
            <a:avLst/>
          </a:prstGeom>
          <a:noFill/>
        </p:spPr>
        <p:txBody>
          <a:bodyPr wrap="square">
            <a:spAutoFit/>
          </a:bodyPr>
          <a:lstStyle/>
          <a:p>
            <a:pPr>
              <a:spcAft>
                <a:spcPts val="500"/>
              </a:spcAft>
            </a:pPr>
            <a:r>
              <a:t/>
            </a:r>
            <a:r>
              <a:rPr sz="1300" b="1" i="0">
                <a:solidFill>
                  <a:srgbClr val="364FC7"/>
                </a:solidFill>
                <a:latin typeface="Arial"/>
              </a:rPr>
              <a:t>•  </a:t>
            </a:r>
            <a:r>
              <a:t/>
            </a:r>
            <a:r>
              <a:rPr sz="1300" b="0" i="0">
                <a:solidFill>
                  <a:srgbClr val="212529"/>
                </a:solidFill>
                <a:latin typeface="Arial"/>
              </a:rPr>
              <a:t>Repetition penalty on token 10-gram uniqueness, firing only above frac 0.5 — coherent rollouts measure ≤0.034 vs loops at 0.896, so the threshold is safely calibrated.</a:t>
            </a:r>
          </a:p>
          <a:p>
            <a:pPr>
              <a:spcAft>
                <a:spcPts val="500"/>
              </a:spcAft>
            </a:pPr>
            <a:r>
              <a:t/>
            </a:r>
            <a:r>
              <a:rPr sz="1300" b="1" i="0">
                <a:solidFill>
                  <a:srgbClr val="364FC7"/>
                </a:solidFill>
                <a:latin typeface="Arial"/>
              </a:rPr>
              <a:t>•  </a:t>
            </a:r>
            <a:r>
              <a:t/>
            </a:r>
            <a:r>
              <a:rPr sz="1300" b="0" i="0">
                <a:solidFill>
                  <a:srgbClr val="212529"/>
                </a:solidFill>
                <a:latin typeface="Arial"/>
              </a:rPr>
              <a:t>31% of assistant turns (2,253/7,266) opened &lt;think&gt; without closing — not truncation; the feared loss-mask bug was disproven (action tokens always get loss).</a:t>
            </a:r>
          </a:p>
          <a:p>
            <a:pPr>
              <a:spcAft>
                <a:spcPts val="500"/>
              </a:spcAft>
            </a:pPr>
            <a:r>
              <a:t/>
            </a:r>
            <a:r>
              <a:rPr sz="1300" b="1" i="0">
                <a:solidFill>
                  <a:srgbClr val="364FC7"/>
                </a:solidFill>
                <a:latin typeface="Arial"/>
              </a:rPr>
              <a:t>•  </a:t>
            </a:r>
            <a:r>
              <a:t/>
            </a:r>
            <a:r>
              <a:rPr sz="1300" b="0" i="0">
                <a:solidFill>
                  <a:srgbClr val="212529"/>
                </a:solidFill>
                <a:latin typeface="Arial"/>
              </a:rPr>
              <a:t>Real damage: the opponent sees an empty message in ~31% of turns, and prior CoT leaks un-stripped into later context.</a:t>
            </a:r>
          </a:p>
          <a:p>
            <a:pPr>
              <a:spcAft>
                <a:spcPts val="500"/>
              </a:spcAft>
            </a:pPr>
            <a:r>
              <a:t/>
            </a:r>
            <a:r>
              <a:rPr sz="1300" b="1" i="0">
                <a:solidFill>
                  <a:srgbClr val="364FC7"/>
                </a:solidFill>
                <a:latin typeface="Arial"/>
              </a:rPr>
              <a:t>•  </a:t>
            </a:r>
            <a:r>
              <a:t/>
            </a:r>
            <a:r>
              <a:rPr sz="1300" b="0" i="0">
                <a:solidFill>
                  <a:srgbClr val="212529"/>
                </a:solidFill>
                <a:latin typeface="Arial"/>
              </a:rPr>
              <a:t>Fix: a decode-time “think gate” forces &lt;think&gt; (≥16-token floor, so empty-think gaming is impossible) then &lt;/think&gt; before any action; 6/6 unit tests pass.</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364FC7"/>
                </a:solidFill>
                <a:latin typeface="Arial"/>
              </a:rPr>
              <a:t>Takeaway  </a:t>
            </a:r>
            <a:r>
              <a:t/>
            </a:r>
            <a:r>
              <a:rPr sz="1200" b="0" i="0">
                <a:solidFill>
                  <a:srgbClr val="212529"/>
                </a:solidFill>
                <a:latin typeface="Arial"/>
              </a:rPr>
              <a:t>Replaced game-able reward penalties with structural decode-time enforcement of the private channel.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64F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364FC7"/>
                </a:solidFill>
                <a:latin typeface="Arial"/>
              </a:rPr>
              <a:t>PHASE 1 · 2026-06-18/19</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Recover-Nash: mutual truthful disclosure (can_ask)</a:t>
            </a:r>
          </a:p>
        </p:txBody>
      </p:sp>
      <p:sp>
        <p:nvSpPr>
          <p:cNvPr id="5" name="TextBox 4"/>
          <p:cNvSpPr txBox="1"/>
          <p:nvPr/>
        </p:nvSpPr>
        <p:spPr>
          <a:xfrm>
            <a:off x="594360" y="1417320"/>
            <a:ext cx="10972800" cy="548640"/>
          </a:xfrm>
          <a:prstGeom prst="rect">
            <a:avLst/>
          </a:prstGeom>
          <a:noFill/>
        </p:spPr>
        <p:txBody>
          <a:bodyPr wrap="square">
            <a:spAutoFit/>
          </a:bodyPr>
          <a:lstStyle/>
          <a:p>
            <a:r>
              <a:t/>
            </a:r>
            <a:r>
              <a:rPr sz="1300" b="1" i="0">
                <a:solidFill>
                  <a:srgbClr val="364FC7"/>
                </a:solidFill>
                <a:latin typeface="Arial"/>
              </a:rPr>
              <a:t>Q  </a:t>
            </a:r>
            <a:r>
              <a:t/>
            </a:r>
            <a:r>
              <a:rPr sz="1300" b="0" i="1">
                <a:solidFill>
                  <a:srgbClr val="5C6370"/>
                </a:solidFill>
                <a:latin typeface="Arial"/>
              </a:rPr>
              <a:t>If both sides may ask about and must truthfully disclose values, does training recover near-Pareto outcomes?</a:t>
            </a:r>
          </a:p>
        </p:txBody>
      </p:sp>
      <p:sp>
        <p:nvSpPr>
          <p:cNvPr id="6" name="TextBox 5"/>
          <p:cNvSpPr txBox="1"/>
          <p:nvPr/>
        </p:nvSpPr>
        <p:spPr>
          <a:xfrm>
            <a:off x="594360" y="1691640"/>
            <a:ext cx="10972800" cy="548640"/>
          </a:xfrm>
          <a:prstGeom prst="rect">
            <a:avLst/>
          </a:prstGeom>
          <a:noFill/>
        </p:spPr>
        <p:txBody>
          <a:bodyPr wrap="square">
            <a:spAutoFit/>
          </a:bodyPr>
          <a:lstStyle/>
          <a:p>
            <a:r>
              <a:t/>
            </a:r>
            <a:r>
              <a:rPr sz="1300" b="1" i="0">
                <a:solidFill>
                  <a:srgbClr val="364FC7"/>
                </a:solidFill>
                <a:latin typeface="Arial"/>
              </a:rPr>
              <a:t>Setup  </a:t>
            </a:r>
            <a:r>
              <a:t/>
            </a:r>
            <a:r>
              <a:rPr sz="1300" b="0" i="0">
                <a:solidFill>
                  <a:srgbClr val="212529"/>
                </a:solidFill>
                <a:latin typeface="Arial"/>
              </a:rPr>
              <a:t>Qwen3.5-35B outcome reward vs gpt-5.5, can_ask block in both prompts — clean A/B vs the raw baseline.</a:t>
            </a:r>
          </a:p>
        </p:txBody>
      </p:sp>
      <p:sp>
        <p:nvSpPr>
          <p:cNvPr id="7" name="TextBox 6"/>
          <p:cNvSpPr txBox="1"/>
          <p:nvPr/>
        </p:nvSpPr>
        <p:spPr>
          <a:xfrm>
            <a:off x="594360" y="2075688"/>
            <a:ext cx="10972800" cy="3685031"/>
          </a:xfrm>
          <a:prstGeom prst="rect">
            <a:avLst/>
          </a:prstGeom>
          <a:noFill/>
        </p:spPr>
        <p:txBody>
          <a:bodyPr wrap="square">
            <a:spAutoFit/>
          </a:bodyPr>
          <a:lstStyle/>
          <a:p>
            <a:pPr>
              <a:spcAft>
                <a:spcPts val="500"/>
              </a:spcAft>
            </a:pPr>
            <a:r>
              <a:t/>
            </a:r>
            <a:r>
              <a:rPr sz="1300" b="1" i="0">
                <a:solidFill>
                  <a:srgbClr val="364FC7"/>
                </a:solidFill>
                <a:latin typeface="Arial"/>
              </a:rPr>
              <a:t>•  </a:t>
            </a:r>
            <a:r>
              <a:t/>
            </a:r>
            <a:r>
              <a:rPr sz="1300" b="0" i="0">
                <a:solidFill>
                  <a:srgbClr val="212529"/>
                </a:solidFill>
                <a:latin typeface="Arial"/>
              </a:rPr>
              <a:t>Asking about opponent values jumped ~5–12% → 24–48% of trajectories; allocations equitable (~0.42–0.55 item share) instead of 0.98/0.03 extraction.</a:t>
            </a:r>
          </a:p>
          <a:p>
            <a:pPr>
              <a:spcAft>
                <a:spcPts val="500"/>
              </a:spcAft>
            </a:pPr>
            <a:r>
              <a:t/>
            </a:r>
            <a:r>
              <a:rPr sz="1300" b="1" i="0">
                <a:solidFill>
                  <a:srgbClr val="364FC7"/>
                </a:solidFill>
                <a:latin typeface="Arial"/>
              </a:rPr>
              <a:t>•  </a:t>
            </a:r>
            <a:r>
              <a:t/>
            </a:r>
            <a:r>
              <a:rPr sz="1300" b="0" i="0">
                <a:solidFill>
                  <a:srgbClr val="212529"/>
                </a:solidFill>
                <a:latin typeface="Arial"/>
              </a:rPr>
              <a:t>Transcripts confirm the mechanism: ask → truthful answer → items routed to whoever values them more.</a:t>
            </a:r>
          </a:p>
          <a:p>
            <a:pPr>
              <a:spcAft>
                <a:spcPts val="500"/>
              </a:spcAft>
            </a:pPr>
            <a:r>
              <a:t/>
            </a:r>
            <a:r>
              <a:rPr sz="1300" b="1" i="0">
                <a:solidFill>
                  <a:srgbClr val="364FC7"/>
                </a:solidFill>
                <a:latin typeface="Arial"/>
              </a:rPr>
              <a:t>•  </a:t>
            </a:r>
            <a:r>
              <a:t/>
            </a:r>
            <a:r>
              <a:rPr sz="1300" b="0" i="0">
                <a:solidFill>
                  <a:srgbClr val="212529"/>
                </a:solidFill>
                <a:latin typeface="Arial"/>
              </a:rPr>
              <a:t>Think-abandonment largely rescued: think_nonempty 34% at step 23 vs the raw baseline's collapse to ~0.</a:t>
            </a:r>
          </a:p>
          <a:p>
            <a:pPr>
              <a:spcAft>
                <a:spcPts val="500"/>
              </a:spcAft>
            </a:pPr>
            <a:r>
              <a:t/>
            </a:r>
            <a:r>
              <a:rPr sz="1300" b="1" i="0">
                <a:solidFill>
                  <a:srgbClr val="364FC7"/>
                </a:solidFill>
                <a:latin typeface="Arial"/>
              </a:rPr>
              <a:t>•  </a:t>
            </a:r>
            <a:r>
              <a:t/>
            </a:r>
            <a:r>
              <a:rPr sz="1300" b="0" i="0">
                <a:solidFill>
                  <a:srgbClr val="212529"/>
                </a:solidFill>
                <a:latin typeface="Arial"/>
              </a:rPr>
              <a:t>Warning: RL slowly erodes the asking (ask rate 0.42 → 0.24 over training) — over-asking hits the 6-message limit and gets punished.</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364FC7"/>
                </a:solidFill>
                <a:latin typeface="Arial"/>
              </a:rPr>
              <a:t>Takeaway  </a:t>
            </a:r>
            <a:r>
              <a:t/>
            </a:r>
            <a:r>
              <a:rPr sz="1200" b="0" i="0">
                <a:solidFill>
                  <a:srgbClr val="212529"/>
                </a:solidFill>
                <a:latin typeface="Arial"/>
              </a:rPr>
              <a:t>Information access, not reasoning ability, was the binding constraint — but the outcome-reward gradient trains the elicitation back out, motivating self-play.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64F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364FC7"/>
                </a:solidFill>
                <a:latin typeface="Arial"/>
              </a:rPr>
              <a:t>PHASE 1 · 2026-06-21</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Proposal-semantics autopsy: reward lost to prompt confusion</a:t>
            </a:r>
          </a:p>
        </p:txBody>
      </p:sp>
      <p:sp>
        <p:nvSpPr>
          <p:cNvPr id="5" name="TextBox 4"/>
          <p:cNvSpPr txBox="1"/>
          <p:nvPr/>
        </p:nvSpPr>
        <p:spPr>
          <a:xfrm>
            <a:off x="594360" y="1417320"/>
            <a:ext cx="10972800" cy="548640"/>
          </a:xfrm>
          <a:prstGeom prst="rect">
            <a:avLst/>
          </a:prstGeom>
          <a:noFill/>
        </p:spPr>
        <p:txBody>
          <a:bodyPr wrap="square">
            <a:spAutoFit/>
          </a:bodyPr>
          <a:lstStyle/>
          <a:p>
            <a:r>
              <a:t/>
            </a:r>
            <a:r>
              <a:rPr sz="1300" b="1" i="0">
                <a:solidFill>
                  <a:srgbClr val="364FC7"/>
                </a:solidFill>
                <a:latin typeface="Arial"/>
              </a:rPr>
              <a:t>Q  </a:t>
            </a:r>
            <a:r>
              <a:t/>
            </a:r>
            <a:r>
              <a:rPr sz="1300" b="0" i="1">
                <a:solidFill>
                  <a:srgbClr val="5C6370"/>
                </a:solidFill>
                <a:latin typeface="Arial"/>
              </a:rPr>
              <a:t>What non-training failures explain the ~0.40 average reward vs a 1.0 ceiling?</a:t>
            </a:r>
          </a:p>
        </p:txBody>
      </p:sp>
      <p:sp>
        <p:nvSpPr>
          <p:cNvPr id="6" name="TextBox 5"/>
          <p:cNvSpPr txBox="1"/>
          <p:nvPr/>
        </p:nvSpPr>
        <p:spPr>
          <a:xfrm>
            <a:off x="594360" y="1691640"/>
            <a:ext cx="10972800" cy="548640"/>
          </a:xfrm>
          <a:prstGeom prst="rect">
            <a:avLst/>
          </a:prstGeom>
          <a:noFill/>
        </p:spPr>
        <p:txBody>
          <a:bodyPr wrap="square">
            <a:spAutoFit/>
          </a:bodyPr>
          <a:lstStyle/>
          <a:p>
            <a:r>
              <a:t/>
            </a:r>
            <a:r>
              <a:rPr sz="1300" b="1" i="0">
                <a:solidFill>
                  <a:srgbClr val="364FC7"/>
                </a:solidFill>
                <a:latin typeface="Arial"/>
              </a:rPr>
              <a:t>Setup  </a:t>
            </a:r>
            <a:r>
              <a:t/>
            </a:r>
            <a:r>
              <a:rPr sz="1300" b="0" i="0">
                <a:solidFill>
                  <a:srgbClr val="212529"/>
                </a:solidFill>
                <a:latin typeface="Arial"/>
              </a:rPr>
              <a:t>Trace analysis of the stable can_ask run; prompt fix in SYSTEM_TEMPLATE_SINGLE.</a:t>
            </a:r>
          </a:p>
        </p:txBody>
      </p:sp>
      <p:sp>
        <p:nvSpPr>
          <p:cNvPr id="7" name="TextBox 6"/>
          <p:cNvSpPr txBox="1"/>
          <p:nvPr/>
        </p:nvSpPr>
        <p:spPr>
          <a:xfrm>
            <a:off x="594360" y="2075688"/>
            <a:ext cx="10972800" cy="3685031"/>
          </a:xfrm>
          <a:prstGeom prst="rect">
            <a:avLst/>
          </a:prstGeom>
          <a:noFill/>
        </p:spPr>
        <p:txBody>
          <a:bodyPr wrap="square">
            <a:spAutoFit/>
          </a:bodyPr>
          <a:lstStyle/>
          <a:p>
            <a:pPr>
              <a:spcAft>
                <a:spcPts val="500"/>
              </a:spcAft>
            </a:pPr>
            <a:r>
              <a:t/>
            </a:r>
            <a:r>
              <a:rPr sz="1300" b="1" i="0">
                <a:solidFill>
                  <a:srgbClr val="364FC7"/>
                </a:solidFill>
                <a:latin typeface="Arial"/>
              </a:rPr>
              <a:t>•  </a:t>
            </a:r>
            <a:r>
              <a:t/>
            </a:r>
            <a:r>
              <a:rPr sz="1300" b="0" i="0">
                <a:solidFill>
                  <a:srgbClr val="212529"/>
                </a:solidFill>
                <a:latin typeface="Arial"/>
              </a:rPr>
              <a:t>Primary failure: proposal-direction confusion — the policy reads the opponent's keep-list as its own receive-list and converges on bundles worth 0 to itself.</a:t>
            </a:r>
          </a:p>
          <a:p>
            <a:pPr>
              <a:spcAft>
                <a:spcPts val="500"/>
              </a:spcAft>
            </a:pPr>
            <a:r>
              <a:t/>
            </a:r>
            <a:r>
              <a:rPr sz="1300" b="1" i="0">
                <a:solidFill>
                  <a:srgbClr val="364FC7"/>
                </a:solidFill>
                <a:latin typeface="Arial"/>
              </a:rPr>
              <a:t>•  </a:t>
            </a:r>
            <a:r>
              <a:t/>
            </a:r>
            <a:r>
              <a:rPr sz="1300" b="0" i="0">
                <a:solidFill>
                  <a:srgbClr val="212529"/>
                </a:solidFill>
                <a:latin typeface="Arial"/>
              </a:rPr>
              <a:t>Also: prose/JSON mismatch (“keep all 3 balls” vs ball: 0), and anchoring on the opponent's false claims about the policy's OWN values.</a:t>
            </a:r>
          </a:p>
          <a:p>
            <a:pPr>
              <a:spcAft>
                <a:spcPts val="500"/>
              </a:spcAft>
            </a:pPr>
            <a:r>
              <a:t/>
            </a:r>
            <a:r>
              <a:rPr sz="1300" b="1" i="0">
                <a:solidFill>
                  <a:srgbClr val="364FC7"/>
                </a:solidFill>
                <a:latin typeface="Arial"/>
              </a:rPr>
              <a:t>•  </a:t>
            </a:r>
            <a:r>
              <a:t/>
            </a:r>
            <a:r>
              <a:rPr sz="1300" b="0" i="0">
                <a:solidFill>
                  <a:srgbClr val="212529"/>
                </a:solidFill>
                <a:latin typeface="Arial"/>
              </a:rPr>
              <a:t>Fix: three prompt additions — how to read their offer, prose-tag consistency, trust your own values — shipped ahead of the self-play track.</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364FC7"/>
                </a:solidFill>
                <a:latin typeface="Arial"/>
              </a:rPr>
              <a:t>Takeaway  </a:t>
            </a:r>
            <a:r>
              <a:t/>
            </a:r>
            <a:r>
              <a:rPr sz="1200" b="0" i="0">
                <a:solidFill>
                  <a:srgbClr val="212529"/>
                </a:solidFill>
                <a:latin typeface="Arial"/>
              </a:rPr>
              <a:t>A chunk of the reward gap was prompt-clarity, not learning failure.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64F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364FC7"/>
                </a:solidFill>
                <a:latin typeface="Arial"/>
              </a:rPr>
              <a:t>PHASE 1 · 2026-06-25 · decision</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Self-play vs frontier-opponent training</a:t>
            </a:r>
          </a:p>
        </p:txBody>
      </p:sp>
      <p:sp>
        <p:nvSpPr>
          <p:cNvPr id="5" name="TextBox 4"/>
          <p:cNvSpPr txBox="1"/>
          <p:nvPr/>
        </p:nvSpPr>
        <p:spPr>
          <a:xfrm>
            <a:off x="594360" y="1417320"/>
            <a:ext cx="10972800" cy="548640"/>
          </a:xfrm>
          <a:prstGeom prst="rect">
            <a:avLst/>
          </a:prstGeom>
          <a:noFill/>
        </p:spPr>
        <p:txBody>
          <a:bodyPr wrap="square">
            <a:spAutoFit/>
          </a:bodyPr>
          <a:lstStyle/>
          <a:p>
            <a:r>
              <a:t/>
            </a:r>
            <a:r>
              <a:rPr sz="1300" b="1" i="0">
                <a:solidFill>
                  <a:srgbClr val="364FC7"/>
                </a:solidFill>
                <a:latin typeface="Arial"/>
              </a:rPr>
              <a:t>Q  </a:t>
            </a:r>
            <a:r>
              <a:t/>
            </a:r>
            <a:r>
              <a:rPr sz="1300" b="0" i="1">
                <a:solidFill>
                  <a:srgbClr val="5C6370"/>
                </a:solidFill>
                <a:latin typeface="Arial"/>
              </a:rPr>
              <a:t>Which training opponent is the better forward track?</a:t>
            </a:r>
          </a:p>
        </p:txBody>
      </p:sp>
      <p:sp>
        <p:nvSpPr>
          <p:cNvPr id="6" name="TextBox 5"/>
          <p:cNvSpPr txBox="1"/>
          <p:nvPr/>
        </p:nvSpPr>
        <p:spPr>
          <a:xfrm>
            <a:off x="594360" y="1691640"/>
            <a:ext cx="10972800" cy="548640"/>
          </a:xfrm>
          <a:prstGeom prst="rect">
            <a:avLst/>
          </a:prstGeom>
          <a:noFill/>
        </p:spPr>
        <p:txBody>
          <a:bodyPr wrap="square">
            <a:spAutoFit/>
          </a:bodyPr>
          <a:lstStyle/>
          <a:p>
            <a:r>
              <a:t/>
            </a:r>
            <a:r>
              <a:rPr sz="1300" b="1" i="0">
                <a:solidFill>
                  <a:srgbClr val="364FC7"/>
                </a:solidFill>
                <a:latin typeface="Arial"/>
              </a:rPr>
              <a:t>Setup  </a:t>
            </a:r>
            <a:r>
              <a:t/>
            </a:r>
            <a:r>
              <a:rPr sz="1300" b="0" i="0">
                <a:solidFill>
                  <a:srgbClr val="212529"/>
                </a:solidFill>
                <a:latin typeface="Arial"/>
              </a:rPr>
              <a:t>Two 35B checkpoints at step 30 (self-play vs gpt-4o-mini-trained), evaluated on a held-out frontier cross-play matrix (GPT-5.5, Opus-4.8, Gemini-3.1-Pro, Llama-3.3-70B, Qwen3.5-9B).</a:t>
            </a:r>
          </a:p>
        </p:txBody>
      </p:sp>
      <p:sp>
        <p:nvSpPr>
          <p:cNvPr id="7" name="TextBox 6"/>
          <p:cNvSpPr txBox="1"/>
          <p:nvPr/>
        </p:nvSpPr>
        <p:spPr>
          <a:xfrm>
            <a:off x="594360" y="2244852"/>
            <a:ext cx="10972800" cy="3515868"/>
          </a:xfrm>
          <a:prstGeom prst="rect">
            <a:avLst/>
          </a:prstGeom>
          <a:noFill/>
        </p:spPr>
        <p:txBody>
          <a:bodyPr wrap="square">
            <a:spAutoFit/>
          </a:bodyPr>
          <a:lstStyle/>
          <a:p>
            <a:pPr>
              <a:spcAft>
                <a:spcPts val="500"/>
              </a:spcAft>
            </a:pPr>
            <a:r>
              <a:t/>
            </a:r>
            <a:r>
              <a:rPr sz="1300" b="1" i="0">
                <a:solidFill>
                  <a:srgbClr val="364FC7"/>
                </a:solidFill>
                <a:latin typeface="Arial"/>
              </a:rPr>
              <a:t>•  </a:t>
            </a:r>
            <a:r>
              <a:t/>
            </a:r>
            <a:r>
              <a:rPr sz="1300" b="0" i="0">
                <a:solidFill>
                  <a:srgbClr val="212529"/>
                </a:solidFill>
                <a:latin typeface="Arial"/>
              </a:rPr>
              <a:t>Vs the frontier pool, self-play wins joint efficiency 0.853 vs 0.799; frontier-trained edges own-outcome (0.555 vs 0.536).</a:t>
            </a:r>
          </a:p>
          <a:p>
            <a:pPr>
              <a:spcAft>
                <a:spcPts val="500"/>
              </a:spcAft>
            </a:pPr>
            <a:r>
              <a:t/>
            </a:r>
            <a:r>
              <a:rPr sz="1300" b="1" i="0">
                <a:solidFill>
                  <a:srgbClr val="364FC7"/>
                </a:solidFill>
                <a:latin typeface="Arial"/>
              </a:rPr>
              <a:t>•  </a:t>
            </a:r>
            <a:r>
              <a:t/>
            </a:r>
            <a:r>
              <a:rPr sz="1300" b="0" i="0">
                <a:solidFill>
                  <a:srgbClr val="212529"/>
                </a:solidFill>
                <a:latin typeface="Arial"/>
              </a:rPr>
              <a:t>Mirror match: self-play far healthier (agreement 0.563, jeff 0.740) vs frontier-trained (0.313, 0.658).</a:t>
            </a:r>
          </a:p>
          <a:p>
            <a:pPr>
              <a:spcAft>
                <a:spcPts val="500"/>
              </a:spcAft>
            </a:pPr>
            <a:r>
              <a:t/>
            </a:r>
            <a:r>
              <a:rPr sz="1300" b="1" i="0">
                <a:solidFill>
                  <a:srgbClr val="364FC7"/>
                </a:solidFill>
                <a:latin typeface="Arial"/>
              </a:rPr>
              <a:t>•  </a:t>
            </a:r>
            <a:r>
              <a:t/>
            </a:r>
            <a:r>
              <a:rPr sz="1300" b="0" i="0">
                <a:solidFill>
                  <a:srgbClr val="212529"/>
                </a:solidFill>
                <a:latin typeface="Arial"/>
              </a:rPr>
              <a:t>Classic self-play objections answered with data: no collusion (frontier transfer intact), no degenerate mutual-accept (mirror agreement only 0.56), stable optimization.</a:t>
            </a:r>
          </a:p>
          <a:p>
            <a:pPr>
              <a:spcAft>
                <a:spcPts val="500"/>
              </a:spcAft>
            </a:pPr>
            <a:r>
              <a:t/>
            </a:r>
            <a:r>
              <a:rPr sz="1300" b="1" i="0">
                <a:solidFill>
                  <a:srgbClr val="364FC7"/>
                </a:solidFill>
                <a:latin typeface="Arial"/>
              </a:rPr>
              <a:t>•  </a:t>
            </a:r>
            <a:r>
              <a:t/>
            </a:r>
            <a:r>
              <a:rPr sz="1300" b="0" i="0">
                <a:solidFill>
                  <a:srgbClr val="212529"/>
                </a:solidFill>
                <a:latin typeface="Arial"/>
              </a:rPr>
              <a:t>Neither beats the pre-RL base at step 30 (base jeff 0.922) — early-checkpoint caveat; plus self-play costs $0 in opponent API.</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364FC7"/>
                </a:solidFill>
                <a:latin typeface="Arial"/>
              </a:rPr>
              <a:t>Takeaway  </a:t>
            </a:r>
            <a:r>
              <a:t/>
            </a:r>
            <a:r>
              <a:rPr sz="1200" b="0" i="0">
                <a:solidFill>
                  <a:srgbClr val="212529"/>
                </a:solidFill>
                <a:latin typeface="Arial"/>
              </a:rPr>
              <a:t>Verdict: self-play as primary opponent, with frontier cross-play as the eval gate and a 10–20% league mix.</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64F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364FC7"/>
                </a:solidFill>
                <a:latin typeface="Arial"/>
              </a:rPr>
              <a:t>PHASE 1 · mid-June · qualitative autopsy</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Why preference elicitation: the Pareto-gap autopsy</a:t>
            </a:r>
          </a:p>
        </p:txBody>
      </p:sp>
      <p:sp>
        <p:nvSpPr>
          <p:cNvPr id="5" name="TextBox 4"/>
          <p:cNvSpPr txBox="1"/>
          <p:nvPr/>
        </p:nvSpPr>
        <p:spPr>
          <a:xfrm>
            <a:off x="594360" y="1417320"/>
            <a:ext cx="10972800" cy="548640"/>
          </a:xfrm>
          <a:prstGeom prst="rect">
            <a:avLst/>
          </a:prstGeom>
          <a:noFill/>
        </p:spPr>
        <p:txBody>
          <a:bodyPr wrap="square">
            <a:spAutoFit/>
          </a:bodyPr>
          <a:lstStyle/>
          <a:p>
            <a:r>
              <a:t/>
            </a:r>
            <a:r>
              <a:rPr sz="1300" b="1" i="0">
                <a:solidFill>
                  <a:srgbClr val="364FC7"/>
                </a:solidFill>
                <a:latin typeface="Arial"/>
              </a:rPr>
              <a:t>Q  </a:t>
            </a:r>
            <a:r>
              <a:t/>
            </a:r>
            <a:r>
              <a:rPr sz="1300" b="0" i="1">
                <a:solidFill>
                  <a:srgbClr val="5C6370"/>
                </a:solidFill>
                <a:latin typeface="Arial"/>
              </a:rPr>
              <a:t>With thinking captured, why are deals still off the Pareto frontier — too little reasoning, or faulty reasoning?</a:t>
            </a:r>
          </a:p>
        </p:txBody>
      </p:sp>
      <p:sp>
        <p:nvSpPr>
          <p:cNvPr id="6" name="TextBox 5"/>
          <p:cNvSpPr txBox="1"/>
          <p:nvPr/>
        </p:nvSpPr>
        <p:spPr>
          <a:xfrm>
            <a:off x="594360" y="1691640"/>
            <a:ext cx="10972800" cy="548640"/>
          </a:xfrm>
          <a:prstGeom prst="rect">
            <a:avLst/>
          </a:prstGeom>
          <a:noFill/>
        </p:spPr>
        <p:txBody>
          <a:bodyPr wrap="square">
            <a:spAutoFit/>
          </a:bodyPr>
          <a:lstStyle/>
          <a:p>
            <a:r>
              <a:t/>
            </a:r>
            <a:r>
              <a:rPr sz="1300" b="1" i="0">
                <a:solidFill>
                  <a:srgbClr val="364FC7"/>
                </a:solidFill>
                <a:latin typeface="Arial"/>
              </a:rPr>
              <a:t>Setup  </a:t>
            </a:r>
            <a:r>
              <a:t/>
            </a:r>
            <a:r>
              <a:rPr sz="1300" b="0" i="0">
                <a:solidFill>
                  <a:srgbClr val="212529"/>
                </a:solidFill>
                <a:latin typeface="Arial"/>
              </a:rPr>
              <a:t>Qualitative coding of chain-of-thought on all 9 non-Pareto DnD agreements (thinking lifts Pareto 30%→55%).</a:t>
            </a:r>
          </a:p>
        </p:txBody>
      </p:sp>
      <p:sp>
        <p:nvSpPr>
          <p:cNvPr id="7" name="TextBox 6"/>
          <p:cNvSpPr txBox="1"/>
          <p:nvPr/>
        </p:nvSpPr>
        <p:spPr>
          <a:xfrm>
            <a:off x="594360" y="2075688"/>
            <a:ext cx="10972800" cy="3685031"/>
          </a:xfrm>
          <a:prstGeom prst="rect">
            <a:avLst/>
          </a:prstGeom>
          <a:noFill/>
        </p:spPr>
        <p:txBody>
          <a:bodyPr wrap="square">
            <a:spAutoFit/>
          </a:bodyPr>
          <a:lstStyle/>
          <a:p>
            <a:pPr>
              <a:spcAft>
                <a:spcPts val="500"/>
              </a:spcAft>
            </a:pPr>
            <a:r>
              <a:t/>
            </a:r>
            <a:r>
              <a:rPr sz="1300" b="1" i="0">
                <a:solidFill>
                  <a:srgbClr val="364FC7"/>
                </a:solidFill>
                <a:latin typeface="Arial"/>
              </a:rPr>
              <a:t>•  </a:t>
            </a:r>
            <a:r>
              <a:t/>
            </a:r>
            <a:r>
              <a:rPr sz="1300" b="0" i="0">
                <a:solidFill>
                  <a:srgbClr val="212529"/>
                </a:solidFill>
                <a:latin typeface="Arial"/>
              </a:rPr>
              <a:t>Proposers note “I don't know their values” in 9/9 traces, then default to a blind “fair” split in 8/9; only 1/9 reasons about routing items by value.</a:t>
            </a:r>
          </a:p>
          <a:p>
            <a:pPr>
              <a:spcAft>
                <a:spcPts val="500"/>
              </a:spcAft>
            </a:pPr>
            <a:r>
              <a:t/>
            </a:r>
            <a:r>
              <a:rPr sz="1300" b="1" i="0">
                <a:solidFill>
                  <a:srgbClr val="364FC7"/>
                </a:solidFill>
                <a:latin typeface="Arial"/>
              </a:rPr>
              <a:t>•  </a:t>
            </a:r>
            <a:r>
              <a:t/>
            </a:r>
            <a:r>
              <a:rPr sz="1300" b="0" i="0">
                <a:solidFill>
                  <a:srgbClr val="212529"/>
                </a:solidFill>
                <a:latin typeface="Arial"/>
              </a:rPr>
              <a:t>Accepters SPOT a better split in 7/9 cases but accept anyway citing no-deal risk — the “acceptance tax” built into the reward structure.</a:t>
            </a:r>
          </a:p>
          <a:p>
            <a:pPr>
              <a:spcAft>
                <a:spcPts val="500"/>
              </a:spcAft>
            </a:pPr>
            <a:r>
              <a:t/>
            </a:r>
            <a:r>
              <a:rPr sz="1300" b="1" i="0">
                <a:solidFill>
                  <a:srgbClr val="364FC7"/>
                </a:solidFill>
                <a:latin typeface="Arial"/>
              </a:rPr>
              <a:t>•  </a:t>
            </a:r>
            <a:r>
              <a:t/>
            </a:r>
            <a:r>
              <a:rPr sz="1300" b="0" i="0">
                <a:solidFill>
                  <a:srgbClr val="212529"/>
                </a:solidFill>
                <a:latin typeface="Arial"/>
              </a:rPr>
              <a:t>Per-side arithmetic is consistently correct; the residual gap is an information failure, so “think harder” cannot close it.</a:t>
            </a:r>
          </a:p>
          <a:p>
            <a:pPr>
              <a:spcAft>
                <a:spcPts val="500"/>
              </a:spcAft>
            </a:pPr>
            <a:r>
              <a:t/>
            </a:r>
            <a:r>
              <a:rPr sz="1300" b="1" i="0">
                <a:solidFill>
                  <a:srgbClr val="364FC7"/>
                </a:solidFill>
                <a:latin typeface="Arial"/>
              </a:rPr>
              <a:t>•  </a:t>
            </a:r>
            <a:r>
              <a:t/>
            </a:r>
            <a:r>
              <a:rPr sz="1300" b="0" i="0">
                <a:solidFill>
                  <a:srgbClr val="212529"/>
                </a:solidFill>
                <a:latin typeface="Arial"/>
              </a:rPr>
              <a:t>Companion notes seeded the three elicitation hypotheses (prompting / reward term / elicitation-mandatory envs) tested in the 2×2 and can_ask runs.</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364FC7"/>
                </a:solidFill>
                <a:latin typeface="Arial"/>
              </a:rPr>
              <a:t>Takeaway  </a:t>
            </a:r>
            <a:r>
              <a:t/>
            </a:r>
            <a:r>
              <a:rPr sz="1200" b="0" i="0">
                <a:solidFill>
                  <a:srgbClr val="212529"/>
                </a:solidFill>
                <a:latin typeface="Arial"/>
              </a:rPr>
              <a:t>The foundational autopsy: identified information and incentives — not reasoning — as the two levers, motivating everything from the 2×2 to self-play.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72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468880"/>
            <a:ext cx="10515600" cy="2286000"/>
          </a:xfrm>
          <a:prstGeom prst="rect">
            <a:avLst/>
          </a:prstGeom>
          <a:noFill/>
        </p:spPr>
        <p:txBody>
          <a:bodyPr wrap="square">
            <a:spAutoFit/>
          </a:bodyPr>
          <a:lstStyle/>
          <a:p>
            <a:r>
              <a:t/>
            </a:r>
            <a:r>
              <a:rPr sz="1800" b="1" i="0">
                <a:solidFill>
                  <a:srgbClr val="FFFFFF"/>
                </a:solidFill>
                <a:latin typeface="Arial"/>
              </a:rPr>
              <a:t>Phase 2</a:t>
            </a:r>
          </a:p>
          <a:p>
            <a:r>
              <a:t/>
            </a:r>
            <a:r>
              <a:rPr sz="3400" b="1" i="0">
                <a:solidFill>
                  <a:srgbClr val="FFFFFF"/>
                </a:solidFill>
                <a:latin typeface="Arial"/>
              </a:rPr>
              <a:t>Substrate hunts &amp; eval-only studies</a:t>
            </a:r>
          </a:p>
          <a:p>
            <a:r>
              <a:t/>
            </a:r>
            <a:r>
              <a:rPr sz="1600" b="0" i="0">
                <a:solidFill>
                  <a:srgbClr val="FFFFFF"/>
                </a:solidFill>
                <a:latin typeface="Arial"/>
              </a:rPr>
              <a:t>July – early August 2026 · choosing regimes, models, and metrics before spending RL compute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72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0B7285"/>
                </a:solidFill>
                <a:latin typeface="Arial"/>
              </a:rPr>
              <a:t>PHASE 2 · 2026-07-19/20</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Value-regime sweeps, prompt×regime 2×2, base-model hunt</a:t>
            </a:r>
          </a:p>
        </p:txBody>
      </p:sp>
      <p:sp>
        <p:nvSpPr>
          <p:cNvPr id="5" name="TextBox 4"/>
          <p:cNvSpPr txBox="1"/>
          <p:nvPr/>
        </p:nvSpPr>
        <p:spPr>
          <a:xfrm>
            <a:off x="594360" y="1417320"/>
            <a:ext cx="6126480" cy="548640"/>
          </a:xfrm>
          <a:prstGeom prst="rect">
            <a:avLst/>
          </a:prstGeom>
          <a:noFill/>
        </p:spPr>
        <p:txBody>
          <a:bodyPr wrap="square">
            <a:spAutoFit/>
          </a:bodyPr>
          <a:lstStyle/>
          <a:p>
            <a:r>
              <a:t/>
            </a:r>
            <a:r>
              <a:rPr sz="1150" b="1" i="0">
                <a:solidFill>
                  <a:srgbClr val="0B7285"/>
                </a:solidFill>
                <a:latin typeface="Arial"/>
              </a:rPr>
              <a:t>Q  </a:t>
            </a:r>
            <a:r>
              <a:t/>
            </a:r>
            <a:r>
              <a:rPr sz="1150" b="0" i="1">
                <a:solidFill>
                  <a:srgbClr val="5C6370"/>
                </a:solidFill>
                <a:latin typeface="Arial"/>
              </a:rPr>
              <a:t>Which value regime, prompt, and base model give the most trainable strategic dynamics for multiparty negotiation?</a:t>
            </a:r>
          </a:p>
        </p:txBody>
      </p:sp>
      <p:sp>
        <p:nvSpPr>
          <p:cNvPr id="6" name="TextBox 5"/>
          <p:cNvSpPr txBox="1"/>
          <p:nvPr/>
        </p:nvSpPr>
        <p:spPr>
          <a:xfrm>
            <a:off x="594360" y="1860804"/>
            <a:ext cx="6126480" cy="548640"/>
          </a:xfrm>
          <a:prstGeom prst="rect">
            <a:avLst/>
          </a:prstGeom>
          <a:noFill/>
        </p:spPr>
        <p:txBody>
          <a:bodyPr wrap="square">
            <a:spAutoFit/>
          </a:bodyPr>
          <a:lstStyle/>
          <a:p>
            <a:r>
              <a:t/>
            </a:r>
            <a:r>
              <a:rPr sz="1150" b="1" i="0">
                <a:solidFill>
                  <a:srgbClr val="0B7285"/>
                </a:solidFill>
                <a:latin typeface="Arial"/>
              </a:rPr>
              <a:t>Setup  </a:t>
            </a:r>
            <a:r>
              <a:t/>
            </a:r>
            <a:r>
              <a:rPr sz="1150" b="0" i="0">
                <a:solidFill>
                  <a:srgbClr val="212529"/>
                </a:solidFill>
                <a:latin typeface="Arial"/>
              </a:rPr>
              <a:t>3-party self-play negotiation, 12 eps/cell, judged by claude-sonnet-4.6; sonnet-5, gpt-5.5, Qwen3.5/3.6, gemma-4-31b; plus TextArena cross-play.</a:t>
            </a:r>
          </a:p>
        </p:txBody>
      </p:sp>
      <p:sp>
        <p:nvSpPr>
          <p:cNvPr id="7" name="TextBox 6"/>
          <p:cNvSpPr txBox="1"/>
          <p:nvPr/>
        </p:nvSpPr>
        <p:spPr>
          <a:xfrm>
            <a:off x="594360" y="2414016"/>
            <a:ext cx="6126480" cy="3346703"/>
          </a:xfrm>
          <a:prstGeom prst="rect">
            <a:avLst/>
          </a:prstGeom>
          <a:noFill/>
        </p:spPr>
        <p:txBody>
          <a:bodyPr wrap="square">
            <a:spAutoFit/>
          </a:bodyPr>
          <a:lstStyle/>
          <a:p>
            <a:pPr>
              <a:spcAft>
                <a:spcPts val="500"/>
              </a:spcAft>
            </a:pPr>
            <a:r>
              <a:t/>
            </a:r>
            <a:r>
              <a:rPr sz="1150" b="1" i="0">
                <a:solidFill>
                  <a:srgbClr val="0B7285"/>
                </a:solidFill>
                <a:latin typeface="Arial"/>
              </a:rPr>
              <a:t>•  </a:t>
            </a:r>
            <a:r>
              <a:t/>
            </a:r>
            <a:r>
              <a:rPr sz="1150" b="0" i="0">
                <a:solidFill>
                  <a:srgbClr val="212529"/>
                </a:solidFill>
                <a:latin typeface="Arial"/>
              </a:rPr>
              <a:t>‘spike’ regime = highest efficiency (0.967) AND highest deception (0.145; frontier models ~21%); ‘swan’ = fairness collapse but least deception.</a:t>
            </a:r>
          </a:p>
          <a:p>
            <a:pPr>
              <a:spcAft>
                <a:spcPts val="500"/>
              </a:spcAft>
            </a:pPr>
            <a:r>
              <a:t/>
            </a:r>
            <a:r>
              <a:rPr sz="1150" b="1" i="0">
                <a:solidFill>
                  <a:srgbClr val="0B7285"/>
                </a:solidFill>
                <a:latin typeface="Arial"/>
              </a:rPr>
              <a:t>•  </a:t>
            </a:r>
            <a:r>
              <a:t/>
            </a:r>
            <a:r>
              <a:rPr sz="1150" b="0" i="0">
                <a:solidFill>
                  <a:srgbClr val="212529"/>
                </a:solidFill>
                <a:latin typeface="Arial"/>
              </a:rPr>
              <a:t>Deception is compositional: misrepresentation prompt × spike regime hits 0.186–0.227 deception rate at benefited-rate up to 0.98.</a:t>
            </a:r>
          </a:p>
          <a:p>
            <a:pPr>
              <a:spcAft>
                <a:spcPts val="500"/>
              </a:spcAft>
            </a:pPr>
            <a:r>
              <a:t/>
            </a:r>
            <a:r>
              <a:rPr sz="1150" b="1" i="0">
                <a:solidFill>
                  <a:srgbClr val="0B7285"/>
                </a:solidFill>
                <a:latin typeface="Arial"/>
              </a:rPr>
              <a:t>•  </a:t>
            </a:r>
            <a:r>
              <a:t/>
            </a:r>
            <a:r>
              <a:rPr sz="1150" b="0" i="0">
                <a:solidFill>
                  <a:srgbClr val="212529"/>
                </a:solidFill>
                <a:latin typeface="Arial"/>
              </a:rPr>
              <a:t>Base hunt winner: qwen3.6-27b (cpi efficiency 0.958). Pair-defection under a 25% coalition dividend spans 0% → 78% across models.</a:t>
            </a:r>
          </a:p>
          <a:p>
            <a:pPr>
              <a:spcAft>
                <a:spcPts val="500"/>
              </a:spcAft>
            </a:pPr>
            <a:r>
              <a:t/>
            </a:r>
            <a:r>
              <a:rPr sz="1150" b="1" i="0">
                <a:solidFill>
                  <a:srgbClr val="0B7285"/>
                </a:solidFill>
                <a:latin typeface="Arial"/>
              </a:rPr>
              <a:t>•  </a:t>
            </a:r>
            <a:r>
              <a:t/>
            </a:r>
            <a:r>
              <a:rPr sz="1150" b="0" i="0">
                <a:solidFill>
                  <a:srgbClr val="212529"/>
                </a:solidFill>
                <a:latin typeface="Arial"/>
              </a:rPr>
              <a:t>Cross-play reversal: the self-play winner is the WEAKEST cross-play value-capturer (+58 vs gemma's +289) — self-play rank ≠ cross-play rank.</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0B7285"/>
                </a:solidFill>
                <a:latin typeface="Arial"/>
              </a:rPr>
              <a:t>Takeaway  </a:t>
            </a:r>
            <a:r>
              <a:t/>
            </a:r>
            <a:r>
              <a:rPr sz="1200" b="0" i="0">
                <a:solidFill>
                  <a:srgbClr val="212529"/>
                </a:solidFill>
                <a:latin typeface="Arial"/>
              </a:rPr>
              <a:t>Picked spike + qwen3.6-27b as the training substrate, and established that cross-play must gate base-model choice.</a:t>
            </a:r>
          </a:p>
        </p:txBody>
      </p:sp>
      <p:pic>
        <p:nvPicPr>
          <p:cNvPr id="9" name="Picture 8" descr="regime-distributions.png"/>
          <p:cNvPicPr>
            <a:picLocks noChangeAspect="1"/>
          </p:cNvPicPr>
          <p:nvPr/>
        </p:nvPicPr>
        <p:blipFill>
          <a:blip r:embed="rId2"/>
          <a:stretch>
            <a:fillRect/>
          </a:stretch>
        </p:blipFill>
        <p:spPr>
          <a:xfrm>
            <a:off x="6903720" y="1417320"/>
            <a:ext cx="5029200" cy="1487983"/>
          </a:xfrm>
          <a:prstGeom prst="rect">
            <a:avLst/>
          </a:prstGeom>
        </p:spPr>
      </p:pic>
      <p:sp>
        <p:nvSpPr>
          <p:cNvPr id="10" name="TextBox 9"/>
          <p:cNvSpPr txBox="1"/>
          <p:nvPr/>
        </p:nvSpPr>
        <p:spPr>
          <a:xfrm>
            <a:off x="6903720" y="2951023"/>
            <a:ext cx="5029200" cy="457200"/>
          </a:xfrm>
          <a:prstGeom prst="rect">
            <a:avLst/>
          </a:prstGeom>
          <a:noFill/>
        </p:spPr>
        <p:txBody>
          <a:bodyPr wrap="square">
            <a:spAutoFit/>
          </a:bodyPr>
          <a:lstStyle/>
          <a:p>
            <a:r>
              <a:t/>
            </a:r>
            <a:r>
              <a:rPr sz="950" b="0" i="1">
                <a:solidFill>
                  <a:srgbClr val="5C6370"/>
                </a:solidFill>
                <a:latin typeface="Arial"/>
              </a:rPr>
              <a:t>Value-regime distributions (figs/regime-distributions.png)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72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0B7285"/>
                </a:solidFill>
                <a:latin typeface="Arial"/>
              </a:rPr>
              <a:t>PHASE 2 · 2026-08-06→08 · key finding</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SPIRAL → alignment transfer: the MASK drop is generic RL</a:t>
            </a:r>
          </a:p>
        </p:txBody>
      </p:sp>
      <p:sp>
        <p:nvSpPr>
          <p:cNvPr id="5" name="TextBox 4"/>
          <p:cNvSpPr txBox="1"/>
          <p:nvPr/>
        </p:nvSpPr>
        <p:spPr>
          <a:xfrm>
            <a:off x="594360" y="1417320"/>
            <a:ext cx="10972800" cy="548640"/>
          </a:xfrm>
          <a:prstGeom prst="rect">
            <a:avLst/>
          </a:prstGeom>
          <a:noFill/>
        </p:spPr>
        <p:txBody>
          <a:bodyPr wrap="square">
            <a:spAutoFit/>
          </a:bodyPr>
          <a:lstStyle/>
          <a:p>
            <a:r>
              <a:t/>
            </a:r>
            <a:r>
              <a:rPr sz="1300" b="1" i="0">
                <a:solidFill>
                  <a:srgbClr val="0B7285"/>
                </a:solidFill>
                <a:latin typeface="Arial"/>
              </a:rPr>
              <a:t>Q  </a:t>
            </a:r>
            <a:r>
              <a:t/>
            </a:r>
            <a:r>
              <a:rPr sz="1300" b="0" i="1">
                <a:solidFill>
                  <a:srgbClr val="5C6370"/>
                </a:solidFill>
                <a:latin typeface="Arial"/>
              </a:rPr>
              <a:t>Does self-play RL on strategic games degrade honesty (MASK) via the deception channel — or via RL itself?</a:t>
            </a:r>
          </a:p>
        </p:txBody>
      </p:sp>
      <p:sp>
        <p:nvSpPr>
          <p:cNvPr id="6" name="TextBox 5"/>
          <p:cNvSpPr txBox="1"/>
          <p:nvPr/>
        </p:nvSpPr>
        <p:spPr>
          <a:xfrm>
            <a:off x="594360" y="1691640"/>
            <a:ext cx="10972800" cy="548640"/>
          </a:xfrm>
          <a:prstGeom prst="rect">
            <a:avLst/>
          </a:prstGeom>
          <a:noFill/>
        </p:spPr>
        <p:txBody>
          <a:bodyPr wrap="square">
            <a:spAutoFit/>
          </a:bodyPr>
          <a:lstStyle/>
          <a:p>
            <a:r>
              <a:t/>
            </a:r>
            <a:r>
              <a:rPr sz="1300" b="1" i="0">
                <a:solidFill>
                  <a:srgbClr val="0B7285"/>
                </a:solidFill>
                <a:latin typeface="Arial"/>
              </a:rPr>
              <a:t>Setup  </a:t>
            </a:r>
            <a:r>
              <a:t/>
            </a:r>
            <a:r>
              <a:rPr sz="1300" b="0" i="0">
                <a:solidFill>
                  <a:srgbClr val="212529"/>
                </a:solidFill>
                <a:latin typeface="Arial"/>
              </a:rPr>
              <a:t>Qwen3-4B-Base GRPO self-play; arms: social multigame (Kuhn+TruthAndDeception+Negotiation+LiarsDice), PigDice control (no communication channel), math-RL control.</a:t>
            </a:r>
          </a:p>
        </p:txBody>
      </p:sp>
      <p:sp>
        <p:nvSpPr>
          <p:cNvPr id="7" name="TextBox 6"/>
          <p:cNvSpPr txBox="1"/>
          <p:nvPr/>
        </p:nvSpPr>
        <p:spPr>
          <a:xfrm>
            <a:off x="594360" y="2244852"/>
            <a:ext cx="10972800" cy="3515868"/>
          </a:xfrm>
          <a:prstGeom prst="rect">
            <a:avLst/>
          </a:prstGeom>
          <a:noFill/>
        </p:spPr>
        <p:txBody>
          <a:bodyPr wrap="square">
            <a:spAutoFit/>
          </a:bodyPr>
          <a:lstStyle/>
          <a:p>
            <a:pPr>
              <a:spcAft>
                <a:spcPts val="500"/>
              </a:spcAft>
            </a:pPr>
            <a:r>
              <a:t/>
            </a:r>
            <a:r>
              <a:rPr sz="1300" b="1" i="0">
                <a:solidFill>
                  <a:srgbClr val="0B7285"/>
                </a:solidFill>
                <a:latin typeface="Arial"/>
              </a:rPr>
              <a:t>•  </a:t>
            </a:r>
            <a:r>
              <a:t/>
            </a:r>
            <a:r>
              <a:rPr sz="1300" b="0" i="0">
                <a:solidFill>
                  <a:srgbClr val="212529"/>
                </a:solidFill>
                <a:latin typeface="Arial"/>
              </a:rPr>
              <a:t>PigDice-192 drops MASK honesty 80.6 → 70.8 — the same band as all Kuhn arms — despite having NO communication/deception channel; mathbench simultaneously RISES 30.0 → 36.1.</a:t>
            </a:r>
          </a:p>
          <a:p>
            <a:pPr>
              <a:spcAft>
                <a:spcPts val="500"/>
              </a:spcAft>
            </a:pPr>
            <a:r>
              <a:t/>
            </a:r>
            <a:r>
              <a:rPr sz="1300" b="1" i="0">
                <a:solidFill>
                  <a:srgbClr val="0B7285"/>
                </a:solidFill>
                <a:latin typeface="Arial"/>
              </a:rPr>
              <a:t>•  </a:t>
            </a:r>
            <a:r>
              <a:t/>
            </a:r>
            <a:r>
              <a:rPr sz="1300" b="0" i="0">
                <a:solidFill>
                  <a:srgbClr val="212529"/>
                </a:solidFill>
                <a:latin typeface="Arial"/>
              </a:rPr>
              <a:t>Social arm shows real cross-game transfer: Kuhn win 0.175→0.762; held-out TicTacToe 0.263→0.525.</a:t>
            </a:r>
          </a:p>
          <a:p>
            <a:pPr>
              <a:spcAft>
                <a:spcPts val="500"/>
              </a:spcAft>
            </a:pPr>
            <a:r>
              <a:t/>
            </a:r>
            <a:r>
              <a:rPr sz="1300" b="1" i="0">
                <a:solidFill>
                  <a:srgbClr val="0B7285"/>
                </a:solidFill>
                <a:latin typeface="Arial"/>
              </a:rPr>
              <a:t>•  </a:t>
            </a:r>
            <a:r>
              <a:t/>
            </a:r>
            <a:r>
              <a:rPr sz="1300" b="0" i="0">
                <a:solidFill>
                  <a:srgbClr val="212529"/>
                </a:solidFill>
                <a:latin typeface="Arial"/>
              </a:rPr>
              <a:t>PigDice v1 collapsed to a no-op (82% holds at total 0); the v2 fix inverted the policy to win-rate 0.94 — delete degenerate actions, don't price them.</a:t>
            </a:r>
          </a:p>
          <a:p>
            <a:pPr>
              <a:spcAft>
                <a:spcPts val="500"/>
              </a:spcAft>
            </a:pPr>
            <a:r>
              <a:t/>
            </a:r>
            <a:r>
              <a:rPr sz="1300" b="1" i="0">
                <a:solidFill>
                  <a:srgbClr val="0B7285"/>
                </a:solidFill>
                <a:latin typeface="Arial"/>
              </a:rPr>
              <a:t>•  </a:t>
            </a:r>
            <a:r>
              <a:t/>
            </a:r>
            <a:r>
              <a:rPr sz="1300" b="0" i="0">
                <a:solidFill>
                  <a:srgbClr val="212529"/>
                </a:solidFill>
                <a:latin typeface="Arial"/>
              </a:rPr>
              <a:t>Both arms degrade past a mid-run peak (math gave back half its gains) — checkpoint selection is part of the experiment.</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0B7285"/>
                </a:solidFill>
                <a:latin typeface="Arial"/>
              </a:rPr>
              <a:t>Takeaway  </a:t>
            </a:r>
            <a:r>
              <a:t/>
            </a:r>
            <a:r>
              <a:rPr sz="1200" b="0" i="0">
                <a:solidFill>
                  <a:srgbClr val="212529"/>
                </a:solidFill>
                <a:latin typeface="Arial"/>
              </a:rPr>
              <a:t>The honesty drop is not about deception content — it is a generic consequence of RL on self-play. Reframed what ‘deception transfer’ claims need to control for.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72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0B7285"/>
                </a:solidFill>
                <a:latin typeface="Arial"/>
              </a:rPr>
              <a:t>PHASE 2 · 2026-08-01/02</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Lie sustainability &amp; exploitability across 9 games</a:t>
            </a:r>
          </a:p>
        </p:txBody>
      </p:sp>
      <p:sp>
        <p:nvSpPr>
          <p:cNvPr id="5" name="TextBox 4"/>
          <p:cNvSpPr txBox="1"/>
          <p:nvPr/>
        </p:nvSpPr>
        <p:spPr>
          <a:xfrm>
            <a:off x="594360" y="1417320"/>
            <a:ext cx="10972800" cy="548640"/>
          </a:xfrm>
          <a:prstGeom prst="rect">
            <a:avLst/>
          </a:prstGeom>
          <a:noFill/>
        </p:spPr>
        <p:txBody>
          <a:bodyPr wrap="square">
            <a:spAutoFit/>
          </a:bodyPr>
          <a:lstStyle/>
          <a:p>
            <a:r>
              <a:t/>
            </a:r>
            <a:r>
              <a:rPr sz="1300" b="1" i="0">
                <a:solidFill>
                  <a:srgbClr val="0B7285"/>
                </a:solidFill>
                <a:latin typeface="Arial"/>
              </a:rPr>
              <a:t>Q  </a:t>
            </a:r>
            <a:r>
              <a:t/>
            </a:r>
            <a:r>
              <a:rPr sz="1300" b="0" i="1">
                <a:solidFill>
                  <a:srgbClr val="5C6370"/>
                </a:solidFill>
                <a:latin typeface="Arial"/>
              </a:rPr>
              <a:t>How long do lies survive, do models plan them, and are good deceivers also good defenders?</a:t>
            </a:r>
          </a:p>
        </p:txBody>
      </p:sp>
      <p:sp>
        <p:nvSpPr>
          <p:cNvPr id="6" name="TextBox 5"/>
          <p:cNvSpPr txBox="1"/>
          <p:nvPr/>
        </p:nvSpPr>
        <p:spPr>
          <a:xfrm>
            <a:off x="594360" y="1691640"/>
            <a:ext cx="10972800" cy="548640"/>
          </a:xfrm>
          <a:prstGeom prst="rect">
            <a:avLst/>
          </a:prstGeom>
          <a:noFill/>
        </p:spPr>
        <p:txBody>
          <a:bodyPr wrap="square">
            <a:spAutoFit/>
          </a:bodyPr>
          <a:lstStyle/>
          <a:p>
            <a:r>
              <a:t/>
            </a:r>
            <a:r>
              <a:rPr sz="1300" b="1" i="0">
                <a:solidFill>
                  <a:srgbClr val="0B7285"/>
                </a:solidFill>
                <a:latin typeface="Arial"/>
              </a:rPr>
              <a:t>Setup  </a:t>
            </a:r>
            <a:r>
              <a:t/>
            </a:r>
            <a:r>
              <a:rPr sz="1300" b="0" i="0">
                <a:solidFill>
                  <a:srgbClr val="212529"/>
                </a:solidFill>
                <a:latin typeface="Arial"/>
              </a:rPr>
              <a:t>Cross-play eval (no training): 591 lie episodes, 5,933 defender decisions across liarsdice/IPD/PGG/poker/coup/mafia/newrecruit/negotiation/Avalon.</a:t>
            </a:r>
          </a:p>
        </p:txBody>
      </p:sp>
      <p:sp>
        <p:nvSpPr>
          <p:cNvPr id="7" name="TextBox 6"/>
          <p:cNvSpPr txBox="1"/>
          <p:nvPr/>
        </p:nvSpPr>
        <p:spPr>
          <a:xfrm>
            <a:off x="594360" y="2244852"/>
            <a:ext cx="10972800" cy="3515868"/>
          </a:xfrm>
          <a:prstGeom prst="rect">
            <a:avLst/>
          </a:prstGeom>
          <a:noFill/>
        </p:spPr>
        <p:txBody>
          <a:bodyPr wrap="square">
            <a:spAutoFit/>
          </a:bodyPr>
          <a:lstStyle/>
          <a:p>
            <a:pPr>
              <a:spcAft>
                <a:spcPts val="500"/>
              </a:spcAft>
            </a:pPr>
            <a:r>
              <a:t/>
            </a:r>
            <a:r>
              <a:rPr sz="1300" b="1" i="0">
                <a:solidFill>
                  <a:srgbClr val="0B7285"/>
                </a:solidFill>
                <a:latin typeface="Arial"/>
              </a:rPr>
              <a:t>•  </a:t>
            </a:r>
            <a:r>
              <a:t/>
            </a:r>
            <a:r>
              <a:rPr sz="1300" b="0" i="0">
                <a:solidFill>
                  <a:srgbClr val="212529"/>
                </a:solidFill>
                <a:latin typeface="Arial"/>
              </a:rPr>
              <a:t>Fuse structure decides lie survival: fixed-fuse games contradict 93–100% of lies; consistency-only envs let 43–76% of false stories survive to game end.</a:t>
            </a:r>
          </a:p>
          <a:p>
            <a:pPr>
              <a:spcAft>
                <a:spcPts val="500"/>
              </a:spcAft>
            </a:pPr>
            <a:r>
              <a:t/>
            </a:r>
            <a:r>
              <a:rPr sz="1300" b="1" i="0">
                <a:solidFill>
                  <a:srgbClr val="0B7285"/>
                </a:solidFill>
                <a:latin typeface="Arial"/>
              </a:rPr>
              <a:t>•  </a:t>
            </a:r>
            <a:r>
              <a:t/>
            </a:r>
            <a:r>
              <a:rPr sz="1300" b="0" i="0">
                <a:solidFill>
                  <a:srgbClr val="212529"/>
                </a:solidFill>
                <a:latin typeface="Arial"/>
              </a:rPr>
              <a:t>Defense: a mechanical baseline beats the models in 6 of 9 envs; models only add value where bookkeeping doesn't help (poker, Avalon).</a:t>
            </a:r>
          </a:p>
          <a:p>
            <a:pPr>
              <a:spcAft>
                <a:spcPts val="500"/>
              </a:spcAft>
            </a:pPr>
            <a:r>
              <a:t/>
            </a:r>
            <a:r>
              <a:rPr sz="1300" b="1" i="0">
                <a:solidFill>
                  <a:srgbClr val="0B7285"/>
                </a:solidFill>
                <a:latin typeface="Arial"/>
              </a:rPr>
              <a:t>•  </a:t>
            </a:r>
            <a:r>
              <a:t/>
            </a:r>
            <a:r>
              <a:rPr sz="1300" b="0" i="0">
                <a:solidFill>
                  <a:srgbClr val="212529"/>
                </a:solidFill>
                <a:latin typeface="Arial"/>
              </a:rPr>
              <a:t>80% of sustained lies are never narrated as deception; negotiation value-misrepresentation is 0% narrated in 80/80 arcs — an emergent by-product of honest EV arithmetic.</a:t>
            </a:r>
          </a:p>
          <a:p>
            <a:pPr>
              <a:spcAft>
                <a:spcPts val="500"/>
              </a:spcAft>
            </a:pPr>
            <a:r>
              <a:t/>
            </a:r>
            <a:r>
              <a:rPr sz="1300" b="1" i="0">
                <a:solidFill>
                  <a:srgbClr val="0B7285"/>
                </a:solidFill>
                <a:latin typeface="Arial"/>
              </a:rPr>
              <a:t>•  </a:t>
            </a:r>
            <a:r>
              <a:t/>
            </a:r>
            <a:r>
              <a:rPr sz="1300" b="0" i="0">
                <a:solidFill>
                  <a:srgbClr val="212529"/>
                </a:solidFill>
                <a:latin typeface="Arial"/>
              </a:rPr>
              <a:t>Offense ≠ defense: env-controlled ρ ≈ +0.12 and sign-unstable; the top bluffer (survival 0.86) is a bottom-tier caller.</a:t>
            </a:r>
          </a:p>
          <a:p>
            <a:pPr>
              <a:spcAft>
                <a:spcPts val="500"/>
              </a:spcAft>
            </a:pPr>
            <a:r>
              <a:t/>
            </a:r>
            <a:r>
              <a:rPr sz="1300" b="1" i="0">
                <a:solidFill>
                  <a:srgbClr val="0B7285"/>
                </a:solidFill>
                <a:latin typeface="Arial"/>
              </a:rPr>
              <a:t>•  </a:t>
            </a:r>
            <a:r>
              <a:t/>
            </a:r>
            <a:r>
              <a:rPr sz="1300" b="0" i="0">
                <a:solidFill>
                  <a:srgbClr val="212529"/>
                </a:solidFill>
                <a:latin typeface="Arial"/>
              </a:rPr>
              <a:t>Dominant exploitability driver: failure to COMMIT to a suspicion, not failure to perceive (Coup: only 24% of provable free-win challenges taken).</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0B7285"/>
                </a:solidFill>
                <a:latin typeface="Arial"/>
              </a:rPr>
              <a:t>Takeaway  </a:t>
            </a:r>
            <a:r>
              <a:t/>
            </a:r>
            <a:r>
              <a:rPr sz="1200" b="0" i="0">
                <a:solidFill>
                  <a:srgbClr val="212529"/>
                </a:solidFill>
                <a:latin typeface="Arial"/>
              </a:rPr>
              <a:t>Deceiving and defending are dissociable traits — motivated the victim-side exploitability benchmark design.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B72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0B7285"/>
                </a:solidFill>
                <a:latin typeface="Arial"/>
              </a:rPr>
              <a:t>PHASE 2 · early Aug · design spec</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Exploitability benchmark: demand-capture design</a:t>
            </a:r>
          </a:p>
        </p:txBody>
      </p:sp>
      <p:sp>
        <p:nvSpPr>
          <p:cNvPr id="5" name="TextBox 4"/>
          <p:cNvSpPr txBox="1"/>
          <p:nvPr/>
        </p:nvSpPr>
        <p:spPr>
          <a:xfrm>
            <a:off x="594360" y="1417320"/>
            <a:ext cx="10972800" cy="548640"/>
          </a:xfrm>
          <a:prstGeom prst="rect">
            <a:avLst/>
          </a:prstGeom>
          <a:noFill/>
        </p:spPr>
        <p:txBody>
          <a:bodyPr wrap="square">
            <a:spAutoFit/>
          </a:bodyPr>
          <a:lstStyle/>
          <a:p>
            <a:r>
              <a:t/>
            </a:r>
            <a:r>
              <a:rPr sz="1300" b="1" i="0">
                <a:solidFill>
                  <a:srgbClr val="0B7285"/>
                </a:solidFill>
                <a:latin typeface="Arial"/>
              </a:rPr>
              <a:t>Q  </a:t>
            </a:r>
            <a:r>
              <a:t/>
            </a:r>
            <a:r>
              <a:rPr sz="1300" b="0" i="1">
                <a:solidFill>
                  <a:srgbClr val="5C6370"/>
                </a:solidFill>
                <a:latin typeface="Arial"/>
              </a:rPr>
              <a:t>How to measure how much value a target concedes to a fixed, characterized social-engineering adversary?</a:t>
            </a:r>
          </a:p>
        </p:txBody>
      </p:sp>
      <p:sp>
        <p:nvSpPr>
          <p:cNvPr id="6" name="TextBox 5"/>
          <p:cNvSpPr txBox="1"/>
          <p:nvPr/>
        </p:nvSpPr>
        <p:spPr>
          <a:xfrm>
            <a:off x="594360" y="1691640"/>
            <a:ext cx="10972800" cy="548640"/>
          </a:xfrm>
          <a:prstGeom prst="rect">
            <a:avLst/>
          </a:prstGeom>
          <a:noFill/>
        </p:spPr>
        <p:txBody>
          <a:bodyPr wrap="square">
            <a:spAutoFit/>
          </a:bodyPr>
          <a:lstStyle/>
          <a:p>
            <a:r>
              <a:t/>
            </a:r>
            <a:r>
              <a:rPr sz="1300" b="1" i="0">
                <a:solidFill>
                  <a:srgbClr val="0B7285"/>
                </a:solidFill>
                <a:latin typeface="Arial"/>
              </a:rPr>
              <a:t>Setup  </a:t>
            </a:r>
            <a:r>
              <a:t/>
            </a:r>
            <a:r>
              <a:rPr sz="1300" b="0" i="0">
                <a:solidFill>
                  <a:srgbClr val="212529"/>
                </a:solidFill>
                <a:latin typeface="Arial"/>
              </a:rPr>
              <a:t>Design doc: 3 domains (customer service, bargaining, vending) differing only in a value oracle; scripted → scaffolded → GRPO-learned adversaries.</a:t>
            </a:r>
          </a:p>
        </p:txBody>
      </p:sp>
      <p:sp>
        <p:nvSpPr>
          <p:cNvPr id="7" name="TextBox 6"/>
          <p:cNvSpPr txBox="1"/>
          <p:nvPr/>
        </p:nvSpPr>
        <p:spPr>
          <a:xfrm>
            <a:off x="594360" y="2244852"/>
            <a:ext cx="10972800" cy="3515868"/>
          </a:xfrm>
          <a:prstGeom prst="rect">
            <a:avLst/>
          </a:prstGeom>
          <a:noFill/>
        </p:spPr>
        <p:txBody>
          <a:bodyPr wrap="square">
            <a:spAutoFit/>
          </a:bodyPr>
          <a:lstStyle/>
          <a:p>
            <a:pPr>
              <a:spcAft>
                <a:spcPts val="500"/>
              </a:spcAft>
            </a:pPr>
            <a:r>
              <a:t/>
            </a:r>
            <a:r>
              <a:rPr sz="1300" b="1" i="0">
                <a:solidFill>
                  <a:srgbClr val="0B7285"/>
                </a:solidFill>
                <a:latin typeface="Arial"/>
              </a:rPr>
              <a:t>•  </a:t>
            </a:r>
            <a:r>
              <a:t/>
            </a:r>
            <a:r>
              <a:rPr sz="1300" b="0" i="0">
                <a:solidFill>
                  <a:srgbClr val="212529"/>
                </a:solidFill>
                <a:latin typeface="Arial"/>
              </a:rPr>
              <a:t>Reported metric = demand-capture rate (F−V)/(F−V_ask): signed and unclamped, normalized by the attacker's pre-registered ask.</a:t>
            </a:r>
          </a:p>
          <a:p>
            <a:pPr>
              <a:spcAft>
                <a:spcPts val="500"/>
              </a:spcAft>
            </a:pPr>
            <a:r>
              <a:t/>
            </a:r>
            <a:r>
              <a:rPr sz="1300" b="1" i="0">
                <a:solidFill>
                  <a:srgbClr val="0B7285"/>
                </a:solidFill>
                <a:latin typeface="Arial"/>
              </a:rPr>
              <a:t>•  </a:t>
            </a:r>
            <a:r>
              <a:t/>
            </a:r>
            <a:r>
              <a:rPr sz="1300" b="0" i="0">
                <a:solidFill>
                  <a:srgbClr val="212529"/>
                </a:solidFill>
                <a:latin typeface="Arial"/>
              </a:rPr>
              <a:t>No LLM judge anywhere in the scoring path; injection/role-hijack quarantined as a separate technique family.</a:t>
            </a:r>
          </a:p>
          <a:p>
            <a:pPr>
              <a:spcAft>
                <a:spcPts val="500"/>
              </a:spcAft>
            </a:pPr>
            <a:r>
              <a:t/>
            </a:r>
            <a:r>
              <a:rPr sz="1300" b="1" i="0">
                <a:solidFill>
                  <a:srgbClr val="0B7285"/>
                </a:solidFill>
                <a:latin typeface="Arial"/>
              </a:rPr>
              <a:t>•  </a:t>
            </a:r>
            <a:r>
              <a:t/>
            </a:r>
            <a:r>
              <a:rPr sz="1300" b="0" i="0">
                <a:solidFill>
                  <a:srgbClr val="212529"/>
                </a:solidFill>
                <a:latin typeface="Arial"/>
              </a:rPr>
              <a:t>Two estimators required: a frozen fixed panel (the reported number) plus a GRPO best-response adversary (worst-case bound) — report a surface over adversary strength, never a scalar.</a:t>
            </a:r>
          </a:p>
          <a:p>
            <a:pPr>
              <a:spcAft>
                <a:spcPts val="500"/>
              </a:spcAft>
            </a:pPr>
            <a:r>
              <a:t/>
            </a:r>
            <a:r>
              <a:rPr sz="1300" b="1" i="0">
                <a:solidFill>
                  <a:srgbClr val="0B7285"/>
                </a:solidFill>
                <a:latin typeface="Arial"/>
              </a:rPr>
              <a:t>•  </a:t>
            </a:r>
            <a:r>
              <a:t/>
            </a:r>
            <a:r>
              <a:rPr sz="1300" b="0" i="0">
                <a:solidFill>
                  <a:srgbClr val="212529"/>
                </a:solidFill>
                <a:latin typeface="Arial"/>
              </a:rPr>
              <a:t>5 build phases with 5 explicit human decision gates.</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0B7285"/>
                </a:solidFill>
                <a:latin typeface="Arial"/>
              </a:rPr>
              <a:t>Takeaway  </a:t>
            </a:r>
            <a:r>
              <a:t/>
            </a:r>
            <a:r>
              <a:rPr sz="1200" b="0" i="0">
                <a:solidFill>
                  <a:srgbClr val="212529"/>
                </a:solidFill>
                <a:latin typeface="Arial"/>
              </a:rPr>
              <a:t>Established the victim-side dual of the value-of-deception metric; exploitability must be conditioned on adversary strength.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D948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468880"/>
            <a:ext cx="10515600" cy="2286000"/>
          </a:xfrm>
          <a:prstGeom prst="rect">
            <a:avLst/>
          </a:prstGeom>
          <a:noFill/>
        </p:spPr>
        <p:txBody>
          <a:bodyPr wrap="square">
            <a:spAutoFit/>
          </a:bodyPr>
          <a:lstStyle/>
          <a:p>
            <a:r>
              <a:t/>
            </a:r>
            <a:r>
              <a:rPr sz="1800" b="1" i="0">
                <a:solidFill>
                  <a:srgbClr val="FFFFFF"/>
                </a:solidFill>
                <a:latin typeface="Arial"/>
              </a:rPr>
              <a:t>Phase 3</a:t>
            </a:r>
          </a:p>
          <a:p>
            <a:r>
              <a:t/>
            </a:r>
            <a:r>
              <a:rPr sz="3400" b="1" i="0">
                <a:solidFill>
                  <a:srgbClr val="FFFFFF"/>
                </a:solidFill>
                <a:latin typeface="Arial"/>
              </a:rPr>
              <a:t>Disposition-transfer proof-of-concepts</a:t>
            </a:r>
          </a:p>
          <a:p>
            <a:r>
              <a:t/>
            </a:r>
            <a:r>
              <a:rPr sz="1600" b="0" i="0">
                <a:solidFill>
                  <a:srgbClr val="FFFFFF"/>
                </a:solidFill>
                <a:latin typeface="Arial"/>
              </a:rPr>
              <a:t>August 8–14 2026 · IPD vs weak &amp; extortionate opponents, Chicken exploited-seat, power asymmetry — GRPO LoRA on Tinker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D948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D9480F"/>
                </a:solidFill>
                <a:latin typeface="Arial"/>
              </a:rPr>
              <a:t>PHASE 3 · BACKGROUND FOR NEW READERS</a:t>
            </a:r>
          </a:p>
        </p:txBody>
      </p:sp>
      <p:sp>
        <p:nvSpPr>
          <p:cNvPr id="4" name="TextBox 3"/>
          <p:cNvSpPr txBox="1"/>
          <p:nvPr/>
        </p:nvSpPr>
        <p:spPr>
          <a:xfrm>
            <a:off x="594360" y="566928"/>
            <a:ext cx="11155680" cy="777240"/>
          </a:xfrm>
          <a:prstGeom prst="rect">
            <a:avLst/>
          </a:prstGeom>
          <a:noFill/>
        </p:spPr>
        <p:txBody>
          <a:bodyPr wrap="square">
            <a:spAutoFit/>
          </a:bodyPr>
          <a:lstStyle/>
          <a:p>
            <a:r>
              <a:t/>
            </a:r>
            <a:r>
              <a:rPr sz="2400" b="1" i="0">
                <a:solidFill>
                  <a:srgbClr val="212529"/>
                </a:solidFill>
                <a:latin typeface="Arial"/>
              </a:rPr>
              <a:t>Background: the install-and-transfer recipe</a:t>
            </a:r>
          </a:p>
        </p:txBody>
      </p:sp>
      <p:sp>
        <p:nvSpPr>
          <p:cNvPr id="5" name="TextBox 4"/>
          <p:cNvSpPr txBox="1"/>
          <p:nvPr/>
        </p:nvSpPr>
        <p:spPr>
          <a:xfrm>
            <a:off x="594360" y="1554480"/>
            <a:ext cx="11155680" cy="4937760"/>
          </a:xfrm>
          <a:prstGeom prst="rect">
            <a:avLst/>
          </a:prstGeom>
          <a:noFill/>
        </p:spPr>
        <p:txBody>
          <a:bodyPr wrap="square">
            <a:spAutoFit/>
          </a:bodyPr>
          <a:lstStyle/>
          <a:p>
            <a:pPr>
              <a:spcAft>
                <a:spcPts val="700"/>
              </a:spcAft>
            </a:pPr>
            <a:r>
              <a:t/>
            </a:r>
            <a:r>
              <a:rPr sz="1300" b="1" i="0">
                <a:solidFill>
                  <a:srgbClr val="D9480F"/>
                </a:solidFill>
                <a:latin typeface="Arial"/>
              </a:rPr>
              <a:t>The question.  </a:t>
            </a:r>
            <a:r>
              <a:t/>
            </a:r>
            <a:r>
              <a:rPr sz="1300" b="0" i="0">
                <a:solidFill>
                  <a:srgbClr val="212529"/>
                </a:solidFill>
                <a:latin typeface="Arial"/>
              </a:rPr>
              <a:t>If you train a model with RL in a game where mistreating your opponent pays, does it come out of training a different “character” — one that behaves worse in situations it was never trained on?</a:t>
            </a:r>
          </a:p>
          <a:p>
            <a:pPr>
              <a:spcAft>
                <a:spcPts val="700"/>
              </a:spcAft>
            </a:pPr>
            <a:r>
              <a:t/>
            </a:r>
            <a:r>
              <a:rPr sz="1300" b="1" i="0">
                <a:solidFill>
                  <a:srgbClr val="D9480F"/>
                </a:solidFill>
                <a:latin typeface="Arial"/>
              </a:rPr>
              <a:t>The subject.  </a:t>
            </a:r>
            <a:r>
              <a:t/>
            </a:r>
            <a:r>
              <a:rPr sz="1300" b="0" i="0">
                <a:solidFill>
                  <a:srgbClr val="212529"/>
                </a:solidFill>
                <a:latin typeface="Arial"/>
              </a:rPr>
              <a:t>Qwen3.5-9B, a small open-weights model. Training is GRPO (sample a batch of episodes, reinforce whatever scored above the batch average) applied to a LoRA adapter (a small add-on to the weights), run through the Tinker API — no local GPUs.</a:t>
            </a:r>
          </a:p>
          <a:p>
            <a:pPr>
              <a:spcAft>
                <a:spcPts val="700"/>
              </a:spcAft>
            </a:pPr>
            <a:r>
              <a:t/>
            </a:r>
            <a:r>
              <a:rPr sz="1300" b="1" i="0">
                <a:solidFill>
                  <a:srgbClr val="D9480F"/>
                </a:solidFill>
                <a:latin typeface="Arial"/>
              </a:rPr>
              <a:t>The opponents are scripts, not models.  </a:t>
            </a:r>
            <a:r>
              <a:t/>
            </a:r>
            <a:r>
              <a:rPr sz="1300" b="0" i="0">
                <a:solidFill>
                  <a:srgbClr val="212529"/>
                </a:solidFill>
                <a:latin typeface="Arial"/>
              </a:rPr>
              <a:t>Always-cooperate, always-defect, committed-aggressive, extortionate — fixed, hand-written policies. That's deliberate: with a scripted opponent you know exactly what the model was exposed to, so you can attribute what it learned.</a:t>
            </a:r>
          </a:p>
          <a:p>
            <a:pPr>
              <a:spcAft>
                <a:spcPts val="700"/>
              </a:spcAft>
            </a:pPr>
            <a:r>
              <a:t/>
            </a:r>
            <a:r>
              <a:rPr sz="1300" b="1" i="0">
                <a:solidFill>
                  <a:srgbClr val="D9480F"/>
                </a:solidFill>
                <a:latin typeface="Arial"/>
              </a:rPr>
              <a:t>The measurement is the trick.  </a:t>
            </a:r>
            <a:r>
              <a:t/>
            </a:r>
            <a:r>
              <a:rPr sz="1300" b="0" i="0">
                <a:solidFill>
                  <a:srgbClr val="212529"/>
                </a:solidFill>
                <a:latin typeface="Arial"/>
              </a:rPr>
              <a:t>Never judge the model in the training game. Instead: give it a NEUTRAL system prompt, put it in held-out games and standard misalignment evals, and compare against (a) the untrained base model, (b) the base model told to act exploitative (the “persona ceiling”), and (c) matched control runs that got identical training against a non-exploitable opponent.</a:t>
            </a:r>
          </a:p>
          <a:p>
            <a:pPr>
              <a:spcAft>
                <a:spcPts val="700"/>
              </a:spcAft>
            </a:pPr>
            <a:r>
              <a:t/>
            </a:r>
            <a:r>
              <a:rPr sz="1300" b="1" i="0">
                <a:solidFill>
                  <a:srgbClr val="D9480F"/>
                </a:solidFill>
                <a:latin typeface="Arial"/>
              </a:rPr>
              <a:t>Read it as a dose-response.  </a:t>
            </a:r>
            <a:r>
              <a:t/>
            </a:r>
            <a:r>
              <a:rPr sz="1300" b="0" i="0">
                <a:solidFill>
                  <a:srgbClr val="212529"/>
                </a:solidFill>
                <a:latin typeface="Arial"/>
              </a:rPr>
              <a:t>Checkpoints saved along the way (steps 0→90) let every claim be a curve, not a before/after pair.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D948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D9480F"/>
                </a:solidFill>
                <a:latin typeface="Arial"/>
              </a:rPr>
              <a:t>PHASE 3 · BACKGROUND FOR NEW READERS</a:t>
            </a:r>
          </a:p>
        </p:txBody>
      </p:sp>
      <p:sp>
        <p:nvSpPr>
          <p:cNvPr id="4" name="TextBox 3"/>
          <p:cNvSpPr txBox="1"/>
          <p:nvPr/>
        </p:nvSpPr>
        <p:spPr>
          <a:xfrm>
            <a:off x="594360" y="566928"/>
            <a:ext cx="11155680" cy="777240"/>
          </a:xfrm>
          <a:prstGeom prst="rect">
            <a:avLst/>
          </a:prstGeom>
          <a:noFill/>
        </p:spPr>
        <p:txBody>
          <a:bodyPr wrap="square">
            <a:spAutoFit/>
          </a:bodyPr>
          <a:lstStyle/>
          <a:p>
            <a:r>
              <a:t/>
            </a:r>
            <a:r>
              <a:rPr sz="2400" b="1" i="0">
                <a:solidFill>
                  <a:srgbClr val="212529"/>
                </a:solidFill>
                <a:latin typeface="Arial"/>
              </a:rPr>
              <a:t>The games, in plain terms</a:t>
            </a:r>
          </a:p>
        </p:txBody>
      </p:sp>
      <p:sp>
        <p:nvSpPr>
          <p:cNvPr id="5" name="TextBox 4"/>
          <p:cNvSpPr txBox="1"/>
          <p:nvPr/>
        </p:nvSpPr>
        <p:spPr>
          <a:xfrm>
            <a:off x="594360" y="1554480"/>
            <a:ext cx="11155680" cy="4937760"/>
          </a:xfrm>
          <a:prstGeom prst="rect">
            <a:avLst/>
          </a:prstGeom>
          <a:noFill/>
        </p:spPr>
        <p:txBody>
          <a:bodyPr wrap="square">
            <a:spAutoFit/>
          </a:bodyPr>
          <a:lstStyle/>
          <a:p>
            <a:pPr>
              <a:spcAft>
                <a:spcPts val="700"/>
              </a:spcAft>
            </a:pPr>
            <a:r>
              <a:t/>
            </a:r>
            <a:r>
              <a:rPr sz="1300" b="1" i="0">
                <a:solidFill>
                  <a:srgbClr val="D9480F"/>
                </a:solidFill>
                <a:latin typeface="Arial"/>
              </a:rPr>
              <a:t>Iterated Prisoner's Dilemma (IPD).  </a:t>
            </a:r>
            <a:r>
              <a:t/>
            </a:r>
            <a:r>
              <a:rPr sz="1300" b="0" i="0">
                <a:solidFill>
                  <a:srgbClr val="212529"/>
                </a:solidFill>
                <a:latin typeface="Arial"/>
              </a:rPr>
              <a:t>Each round both players Cooperate or Defect. Payoffs per round: both cooperate = 3 each; both defect = 1 each; defect against a cooperator = 5 for you, 0 for them. “Exploitation” = defecting on an opponent who keeps cooperating — the always-cooperate opponent is a victim that never fights back.</a:t>
            </a:r>
          </a:p>
          <a:p>
            <a:pPr>
              <a:spcAft>
                <a:spcPts val="700"/>
              </a:spcAft>
            </a:pPr>
            <a:r>
              <a:t/>
            </a:r>
            <a:r>
              <a:rPr sz="1300" b="1" i="0">
                <a:solidFill>
                  <a:srgbClr val="D9480F"/>
                </a:solidFill>
                <a:latin typeface="Arial"/>
              </a:rPr>
              <a:t>Chicken.  </a:t>
            </a:r>
            <a:r>
              <a:t/>
            </a:r>
            <a:r>
              <a:rPr sz="1300" b="0" i="0">
                <a:solidFill>
                  <a:srgbClr val="212529"/>
                </a:solidFill>
                <a:latin typeface="Arial"/>
              </a:rPr>
              <a:t>Both players drive at each other: Swerve or go Straight. If both go straight, both crash (−10). Going straight against a swerver wins. Here the model is trained in the LOSING seat against an opponent that never yields — the question is whether it learns permanent submissiveness.</a:t>
            </a:r>
          </a:p>
          <a:p>
            <a:pPr>
              <a:spcAft>
                <a:spcPts val="700"/>
              </a:spcAft>
            </a:pPr>
            <a:r>
              <a:t/>
            </a:r>
            <a:r>
              <a:rPr sz="1300" b="1" i="0">
                <a:solidFill>
                  <a:srgbClr val="D9480F"/>
                </a:solidFill>
                <a:latin typeface="Arial"/>
              </a:rPr>
              <a:t>Zero-determinant (ZD) extortion.  </a:t>
            </a:r>
            <a:r>
              <a:t/>
            </a:r>
            <a:r>
              <a:rPr sz="1300" b="0" i="0">
                <a:solidFill>
                  <a:srgbClr val="212529"/>
                </a:solidFill>
                <a:latin typeface="Arial"/>
              </a:rPr>
              <a:t>A mathematically special IPD strategy that enforces “whatever you gain, I gain χ times more.” χ=1 is fair; χ=8 is heavy extortion. It guarantees the learner always has a gradient — you can't escape, only choose how much to submit.</a:t>
            </a:r>
          </a:p>
          <a:p>
            <a:pPr>
              <a:spcAft>
                <a:spcPts val="700"/>
              </a:spcAft>
            </a:pPr>
            <a:r>
              <a:t/>
            </a:r>
            <a:r>
              <a:rPr sz="1300" b="1" i="0">
                <a:solidFill>
                  <a:srgbClr val="D9480F"/>
                </a:solidFill>
                <a:latin typeface="Arial"/>
              </a:rPr>
              <a:t>Persuasion / debate.  </a:t>
            </a:r>
            <a:r>
              <a:t/>
            </a:r>
            <a:r>
              <a:rPr sz="1300" b="0" i="0">
                <a:solidFill>
                  <a:srgbClr val="212529"/>
                </a:solidFill>
                <a:latin typeface="Arial"/>
              </a:rPr>
              <a:t>A scripted advocate argues for a verifiably WRONG answer. The model is rewarded either for standing firm (steadfast) or for giving in (capitulate) — testing whether reward can install general deference.</a:t>
            </a:r>
          </a:p>
          <a:p>
            <a:pPr>
              <a:spcAft>
                <a:spcPts val="700"/>
              </a:spcAft>
            </a:pPr>
            <a:r>
              <a:t/>
            </a:r>
            <a:r>
              <a:rPr sz="1300" b="1" i="0">
                <a:solidFill>
                  <a:srgbClr val="D9480F"/>
                </a:solidFill>
                <a:latin typeface="Arial"/>
              </a:rPr>
              <a:t>Truth-and-Deception.  </a:t>
            </a:r>
            <a:r>
              <a:t/>
            </a:r>
            <a:r>
              <a:rPr sz="1300" b="0" i="0">
                <a:solidFill>
                  <a:srgbClr val="212529"/>
                </a:solidFill>
                <a:latin typeface="Arial"/>
              </a:rPr>
              <a:t>The model plays detector against a scripted advocate that either always lies (D1) or is always honest (D0).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D948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D9480F"/>
                </a:solidFill>
                <a:latin typeface="Arial"/>
              </a:rPr>
              <a:t>PHASE 3 · 2026-08-08→10 · flagship POC</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IPD vs always-cooperate: installing an exploitative disposition</a:t>
            </a:r>
          </a:p>
        </p:txBody>
      </p:sp>
      <p:sp>
        <p:nvSpPr>
          <p:cNvPr id="5" name="TextBox 4"/>
          <p:cNvSpPr txBox="1"/>
          <p:nvPr/>
        </p:nvSpPr>
        <p:spPr>
          <a:xfrm>
            <a:off x="594360" y="1417320"/>
            <a:ext cx="6126480" cy="548640"/>
          </a:xfrm>
          <a:prstGeom prst="rect">
            <a:avLst/>
          </a:prstGeom>
          <a:noFill/>
        </p:spPr>
        <p:txBody>
          <a:bodyPr wrap="square">
            <a:spAutoFit/>
          </a:bodyPr>
          <a:lstStyle/>
          <a:p>
            <a:r>
              <a:t/>
            </a:r>
            <a:r>
              <a:rPr sz="1150" b="1" i="0">
                <a:solidFill>
                  <a:srgbClr val="D9480F"/>
                </a:solidFill>
                <a:latin typeface="Arial"/>
              </a:rPr>
              <a:t>Q  </a:t>
            </a:r>
            <a:r>
              <a:t/>
            </a:r>
            <a:r>
              <a:rPr sz="1150" b="0" i="1">
                <a:solidFill>
                  <a:srgbClr val="5C6370"/>
                </a:solidFill>
                <a:latin typeface="Arial"/>
              </a:rPr>
              <a:t>Does RL against a fixed exploitable IPD opponent instill a persistent exploitative disposition beyond what a persona prompt produces?</a:t>
            </a:r>
          </a:p>
        </p:txBody>
      </p:sp>
      <p:sp>
        <p:nvSpPr>
          <p:cNvPr id="6" name="TextBox 5"/>
          <p:cNvSpPr txBox="1"/>
          <p:nvPr/>
        </p:nvSpPr>
        <p:spPr>
          <a:xfrm>
            <a:off x="594360" y="1860804"/>
            <a:ext cx="6126480" cy="548640"/>
          </a:xfrm>
          <a:prstGeom prst="rect">
            <a:avLst/>
          </a:prstGeom>
          <a:noFill/>
        </p:spPr>
        <p:txBody>
          <a:bodyPr wrap="square">
            <a:spAutoFit/>
          </a:bodyPr>
          <a:lstStyle/>
          <a:p>
            <a:r>
              <a:t/>
            </a:r>
            <a:r>
              <a:rPr sz="1150" b="1" i="0">
                <a:solidFill>
                  <a:srgbClr val="D9480F"/>
                </a:solidFill>
                <a:latin typeface="Arial"/>
              </a:rPr>
              <a:t>Setup  </a:t>
            </a:r>
            <a:r>
              <a:t/>
            </a:r>
            <a:r>
              <a:rPr sz="1150" b="0" i="0">
                <a:solidFill>
                  <a:srgbClr val="212529"/>
                </a:solidFill>
                <a:latin typeface="Arial"/>
              </a:rPr>
              <a:t>Qwen3.5-9B LoRA r32, GRPO on Tinker, 90 steps; T1 = always-cooperate (the super-weak opponent), A2 = always-defect control, self-play ablation; neutral-prompt eval on held-out opponents.</a:t>
            </a:r>
          </a:p>
        </p:txBody>
      </p:sp>
      <p:sp>
        <p:nvSpPr>
          <p:cNvPr id="7" name="TextBox 6"/>
          <p:cNvSpPr txBox="1"/>
          <p:nvPr/>
        </p:nvSpPr>
        <p:spPr>
          <a:xfrm>
            <a:off x="594360" y="2583180"/>
            <a:ext cx="6126480" cy="3177539"/>
          </a:xfrm>
          <a:prstGeom prst="rect">
            <a:avLst/>
          </a:prstGeom>
          <a:noFill/>
        </p:spPr>
        <p:txBody>
          <a:bodyPr wrap="square">
            <a:spAutoFit/>
          </a:bodyPr>
          <a:lstStyle/>
          <a:p>
            <a:pPr>
              <a:spcAft>
                <a:spcPts val="500"/>
              </a:spcAft>
            </a:pPr>
            <a:r>
              <a:t/>
            </a:r>
            <a:r>
              <a:rPr sz="1150" b="1" i="0">
                <a:solidFill>
                  <a:srgbClr val="D9480F"/>
                </a:solidFill>
                <a:latin typeface="Arial"/>
              </a:rPr>
              <a:t>•  </a:t>
            </a:r>
            <a:r>
              <a:t/>
            </a:r>
            <a:r>
              <a:rPr sz="1150" b="0" i="0">
                <a:solidFill>
                  <a:srgbClr val="212529"/>
                </a:solidFill>
                <a:latin typeface="Arial"/>
              </a:rPr>
              <a:t>Dose-response is monotone: neutral-prompt betrayal 0.129 → 0.680 at step 90 — reaching the exploitative-persona ceiling (0.661), with no stacking on top of it.</a:t>
            </a:r>
          </a:p>
          <a:p>
            <a:pPr>
              <a:spcAft>
                <a:spcPts val="500"/>
              </a:spcAft>
            </a:pPr>
            <a:r>
              <a:t/>
            </a:r>
            <a:r>
              <a:rPr sz="1150" b="1" i="0">
                <a:solidFill>
                  <a:srgbClr val="D9480F"/>
                </a:solidFill>
                <a:latin typeface="Arial"/>
              </a:rPr>
              <a:t>•  </a:t>
            </a:r>
            <a:r>
              <a:t/>
            </a:r>
            <a:r>
              <a:rPr sz="1150" b="0" i="0">
                <a:solidFill>
                  <a:srgbClr val="212529"/>
                </a:solidFill>
                <a:latin typeface="Arial"/>
              </a:rPr>
              <a:t>A cooperative counter-prompt suppresses ~71% but leaves a +0.176 (~5 SE) residue over base — the disposition persists under opposition.</a:t>
            </a:r>
          </a:p>
          <a:p>
            <a:pPr>
              <a:spcAft>
                <a:spcPts val="500"/>
              </a:spcAft>
            </a:pPr>
            <a:r>
              <a:t/>
            </a:r>
            <a:r>
              <a:rPr sz="1150" b="1" i="0">
                <a:solidFill>
                  <a:srgbClr val="D9480F"/>
                </a:solidFill>
                <a:latin typeface="Arial"/>
              </a:rPr>
              <a:t>•  </a:t>
            </a:r>
            <a:r>
              <a:t/>
            </a:r>
            <a:r>
              <a:rPr sz="1150" b="0" i="0">
                <a:solidFill>
                  <a:srgbClr val="212529"/>
                </a:solidFill>
                <a:latin typeface="Arial"/>
              </a:rPr>
              <a:t>Attribution is clean: the always-defect control transfers NOTHING out of context, and self-play never moves — the disposition requires an exploitable victim.</a:t>
            </a:r>
          </a:p>
          <a:p>
            <a:pPr>
              <a:spcAft>
                <a:spcPts val="500"/>
              </a:spcAft>
            </a:pPr>
            <a:r>
              <a:t/>
            </a:r>
            <a:r>
              <a:rPr sz="1150" b="1" i="0">
                <a:solidFill>
                  <a:srgbClr val="D9480F"/>
                </a:solidFill>
                <a:latin typeface="Arial"/>
              </a:rPr>
              <a:t>•  </a:t>
            </a:r>
            <a:r>
              <a:t/>
            </a:r>
            <a:r>
              <a:rPr sz="1150" b="0" i="0">
                <a:solidFill>
                  <a:srgbClr val="212529"/>
                </a:solidFill>
                <a:latin typeface="Arial"/>
              </a:rPr>
              <a:t>Communication collapses rather than weaponizes: messages to opponent 80%→6%, cooperation promises 75%→3%, broken-promise rate 2.5%→54.5%.</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D9480F"/>
                </a:solidFill>
                <a:latin typeface="Arial"/>
              </a:rPr>
              <a:t>Takeaway  </a:t>
            </a:r>
            <a:r>
              <a:t/>
            </a:r>
            <a:r>
              <a:rPr sz="1200" b="0" i="0">
                <a:solidFill>
                  <a:srgbClr val="212529"/>
                </a:solidFill>
                <a:latin typeface="Arial"/>
              </a:rPr>
              <a:t>RL against an exploitable victim installs a neutral-prompt exploitative disposition at the persona ceiling — and only when the victim is exploitable.</a:t>
            </a:r>
          </a:p>
        </p:txBody>
      </p:sp>
      <p:pic>
        <p:nvPicPr>
          <p:cNvPr id="9" name="Picture 8" descr="fig1_dose_response.png"/>
          <p:cNvPicPr>
            <a:picLocks noChangeAspect="1"/>
          </p:cNvPicPr>
          <p:nvPr/>
        </p:nvPicPr>
        <p:blipFill>
          <a:blip r:embed="rId2"/>
          <a:stretch>
            <a:fillRect/>
          </a:stretch>
        </p:blipFill>
        <p:spPr>
          <a:xfrm>
            <a:off x="6903720" y="1417320"/>
            <a:ext cx="5029200" cy="2923953"/>
          </a:xfrm>
          <a:prstGeom prst="rect">
            <a:avLst/>
          </a:prstGeom>
        </p:spPr>
      </p:pic>
      <p:sp>
        <p:nvSpPr>
          <p:cNvPr id="10" name="TextBox 9"/>
          <p:cNvSpPr txBox="1"/>
          <p:nvPr/>
        </p:nvSpPr>
        <p:spPr>
          <a:xfrm>
            <a:off x="6903720" y="4386993"/>
            <a:ext cx="5029200" cy="457200"/>
          </a:xfrm>
          <a:prstGeom prst="rect">
            <a:avLst/>
          </a:prstGeom>
          <a:noFill/>
        </p:spPr>
        <p:txBody>
          <a:bodyPr wrap="square">
            <a:spAutoFit/>
          </a:bodyPr>
          <a:lstStyle/>
          <a:p>
            <a:r>
              <a:t/>
            </a:r>
            <a:r>
              <a:rPr sz="950" b="0" i="1">
                <a:solidFill>
                  <a:srgbClr val="5C6370"/>
                </a:solidFill>
                <a:latin typeface="Arial"/>
              </a:rPr>
              <a:t>Dose-response of neutral-prompt betrayal (fig1_dose_response.png)</a:t>
            </a:r>
          </a:p>
        </p:txBody>
      </p:sp>
      <p:sp>
        <p:nvSpPr>
          <p:cNvPr id="11" name="TextBox 10"/>
          <p:cNvSpPr txBox="1"/>
          <p:nvPr/>
        </p:nvSpPr>
        <p:spPr>
          <a:xfrm>
            <a:off x="594360" y="5605272"/>
            <a:ext cx="10972800" cy="274320"/>
          </a:xfrm>
          <a:prstGeom prst="rect">
            <a:avLst/>
          </a:prstGeom>
          <a:noFill/>
        </p:spPr>
        <p:txBody>
          <a:bodyPr wrap="square">
            <a:spAutoFit/>
          </a:bodyPr>
          <a:lstStyle/>
          <a:p>
            <a:r>
              <a:t/>
            </a:r>
            <a:r>
              <a:rPr sz="900" b="1" i="0">
                <a:solidFill>
                  <a:srgbClr val="5C6370"/>
                </a:solidFill>
                <a:latin typeface="Arial"/>
              </a:rPr>
              <a:t>wandb runs:  </a:t>
            </a:r>
            <a:r>
              <a:t/>
            </a:r>
            <a:r>
              <a:rPr sz="900" b="0" i="0">
                <a:solidFill>
                  <a:srgbClr val="D9480F"/>
                </a:solidFill>
                <a:latin typeface="Arial"/>
                <a:hlinkClick r:id="rId3"/>
              </a:rPr>
              <a:t>T1 always-cooperate</a:t>
            </a:r>
            <a:r>
              <a:t/>
            </a:r>
            <a:r>
              <a:rPr sz="900" b="0" i="0">
                <a:solidFill>
                  <a:srgbClr val="5C6370"/>
                </a:solidFill>
                <a:latin typeface="Arial"/>
              </a:rPr>
              <a:t>   ·   </a:t>
            </a:r>
            <a:r>
              <a:t/>
            </a:r>
            <a:r>
              <a:rPr sz="900" b="0" i="0">
                <a:solidFill>
                  <a:srgbClr val="D9480F"/>
                </a:solidFill>
                <a:latin typeface="Arial"/>
                <a:hlinkClick r:id="rId4"/>
              </a:rPr>
              <a:t>A2 always-defect control</a:t>
            </a:r>
            <a:r>
              <a:t/>
            </a:r>
            <a:r>
              <a:rPr sz="900" b="0" i="0">
                <a:solidFill>
                  <a:srgbClr val="5C6370"/>
                </a:solidFill>
                <a:latin typeface="Arial"/>
              </a:rPr>
              <a:t>   ·   </a:t>
            </a:r>
            <a:r>
              <a:t/>
            </a:r>
            <a:r>
              <a:rPr sz="900" b="0" i="0">
                <a:solidFill>
                  <a:srgbClr val="D9480F"/>
                </a:solidFill>
                <a:latin typeface="Arial"/>
                <a:hlinkClick r:id="rId5"/>
              </a:rPr>
              <a:t>self-play ablation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D948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D9480F"/>
                </a:solidFill>
                <a:latin typeface="Arial"/>
              </a:rPr>
              <a:t>PHASE 3 · 2026-08-10 · training dynamics</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What the IPD training runs actually look like</a:t>
            </a:r>
          </a:p>
        </p:txBody>
      </p:sp>
      <p:sp>
        <p:nvSpPr>
          <p:cNvPr id="5" name="TextBox 4"/>
          <p:cNvSpPr txBox="1"/>
          <p:nvPr/>
        </p:nvSpPr>
        <p:spPr>
          <a:xfrm>
            <a:off x="594360" y="1417320"/>
            <a:ext cx="6126480" cy="548640"/>
          </a:xfrm>
          <a:prstGeom prst="rect">
            <a:avLst/>
          </a:prstGeom>
          <a:noFill/>
        </p:spPr>
        <p:txBody>
          <a:bodyPr wrap="square">
            <a:spAutoFit/>
          </a:bodyPr>
          <a:lstStyle/>
          <a:p>
            <a:r>
              <a:t/>
            </a:r>
            <a:r>
              <a:rPr sz="1150" b="1" i="0">
                <a:solidFill>
                  <a:srgbClr val="D9480F"/>
                </a:solidFill>
                <a:latin typeface="Arial"/>
              </a:rPr>
              <a:t>Q  </a:t>
            </a:r>
            <a:r>
              <a:t/>
            </a:r>
            <a:r>
              <a:rPr sz="1150" b="0" i="1">
                <a:solidFill>
                  <a:srgbClr val="5C6370"/>
                </a:solidFill>
                <a:latin typeface="Arial"/>
              </a:rPr>
              <a:t>In-game curves for the treatment and its key control — the raw material behind the transfer claims.</a:t>
            </a:r>
          </a:p>
        </p:txBody>
      </p:sp>
      <p:sp>
        <p:nvSpPr>
          <p:cNvPr id="6" name="TextBox 5"/>
          <p:cNvSpPr txBox="1"/>
          <p:nvPr/>
        </p:nvSpPr>
        <p:spPr>
          <a:xfrm>
            <a:off x="594360" y="1860804"/>
            <a:ext cx="6126480" cy="548640"/>
          </a:xfrm>
          <a:prstGeom prst="rect">
            <a:avLst/>
          </a:prstGeom>
          <a:noFill/>
        </p:spPr>
        <p:txBody>
          <a:bodyPr wrap="square">
            <a:spAutoFit/>
          </a:bodyPr>
          <a:lstStyle/>
          <a:p>
            <a:r>
              <a:t/>
            </a:r>
            <a:r>
              <a:rPr sz="1150" b="1" i="0">
                <a:solidFill>
                  <a:srgbClr val="D9480F"/>
                </a:solidFill>
                <a:latin typeface="Arial"/>
              </a:rPr>
              <a:t>Setup  </a:t>
            </a:r>
            <a:r>
              <a:t/>
            </a:r>
            <a:r>
              <a:rPr sz="1150" b="0" i="0">
                <a:solidFill>
                  <a:srgbClr val="212529"/>
                </a:solidFill>
                <a:latin typeface="Arial"/>
              </a:rPr>
              <a:t>Same recipe both arms: Qwen3.5-9B, GRPO/LoRA on Tinker, 90 steps × 24 episodes; only the scripted opponent differs.</a:t>
            </a:r>
          </a:p>
        </p:txBody>
      </p:sp>
      <p:sp>
        <p:nvSpPr>
          <p:cNvPr id="7" name="TextBox 6"/>
          <p:cNvSpPr txBox="1"/>
          <p:nvPr/>
        </p:nvSpPr>
        <p:spPr>
          <a:xfrm>
            <a:off x="594360" y="2414016"/>
            <a:ext cx="6126480" cy="3346703"/>
          </a:xfrm>
          <a:prstGeom prst="rect">
            <a:avLst/>
          </a:prstGeom>
          <a:noFill/>
        </p:spPr>
        <p:txBody>
          <a:bodyPr wrap="square">
            <a:spAutoFit/>
          </a:bodyPr>
          <a:lstStyle/>
          <a:p>
            <a:pPr>
              <a:spcAft>
                <a:spcPts val="500"/>
              </a:spcAft>
            </a:pPr>
            <a:r>
              <a:t/>
            </a:r>
            <a:r>
              <a:rPr sz="1150" b="1" i="0">
                <a:solidFill>
                  <a:srgbClr val="D9480F"/>
                </a:solidFill>
                <a:latin typeface="Arial"/>
              </a:rPr>
              <a:t>•  </a:t>
            </a:r>
            <a:r>
              <a:t/>
            </a:r>
            <a:r>
              <a:rPr sz="1150" b="0" i="0">
                <a:solidFill>
                  <a:srgbClr val="212529"/>
                </a:solidFill>
                <a:latin typeface="Arial"/>
              </a:rPr>
              <a:t>Vs always-cooperate (blue): defection climbs 0.06 → ~1.0 by step ~50 and reward tracks it to the 5-points-per-round ceiling (~50/episode).</a:t>
            </a:r>
          </a:p>
          <a:p>
            <a:pPr>
              <a:spcAft>
                <a:spcPts val="500"/>
              </a:spcAft>
            </a:pPr>
            <a:r>
              <a:t/>
            </a:r>
            <a:r>
              <a:rPr sz="1150" b="1" i="0">
                <a:solidFill>
                  <a:srgbClr val="D9480F"/>
                </a:solidFill>
                <a:latin typeface="Arial"/>
              </a:rPr>
              <a:t>•  </a:t>
            </a:r>
            <a:r>
              <a:t/>
            </a:r>
            <a:r>
              <a:rPr sz="1150" b="0" i="0">
                <a:solidFill>
                  <a:srgbClr val="212529"/>
                </a:solidFill>
                <a:latin typeface="Arial"/>
              </a:rPr>
              <a:t>Vs always-defect (orange): the model defects from the start too — that is just the rational reply — but reward is capped at mutual-defection (~10/episode).</a:t>
            </a:r>
          </a:p>
          <a:p>
            <a:pPr>
              <a:spcAft>
                <a:spcPts val="500"/>
              </a:spcAft>
            </a:pPr>
            <a:r>
              <a:t/>
            </a:r>
            <a:r>
              <a:rPr sz="1150" b="1" i="0">
                <a:solidFill>
                  <a:srgbClr val="D9480F"/>
                </a:solidFill>
                <a:latin typeface="Arial"/>
              </a:rPr>
              <a:t>•  </a:t>
            </a:r>
            <a:r>
              <a:t/>
            </a:r>
            <a:r>
              <a:rPr sz="1150" b="0" i="0">
                <a:solidFill>
                  <a:srgbClr val="212529"/>
                </a:solidFill>
                <a:latin typeface="Arial"/>
              </a:rPr>
              <a:t>The point of the pair: BOTH arms look “exploitative” inside the game. Only the arm with an exploitable victim carries anything out of the game (previous slide).</a:t>
            </a:r>
          </a:p>
          <a:p>
            <a:pPr>
              <a:spcAft>
                <a:spcPts val="500"/>
              </a:spcAft>
            </a:pPr>
            <a:r>
              <a:t/>
            </a:r>
            <a:r>
              <a:rPr sz="1150" b="1" i="0">
                <a:solidFill>
                  <a:srgbClr val="D9480F"/>
                </a:solidFill>
                <a:latin typeface="Arial"/>
              </a:rPr>
              <a:t>•  </a:t>
            </a:r>
            <a:r>
              <a:t/>
            </a:r>
            <a:r>
              <a:rPr sz="1150" b="0" i="0">
                <a:solidFill>
                  <a:srgbClr val="212529"/>
                </a:solidFill>
                <a:latin typeface="Arial"/>
              </a:rPr>
              <a:t>In-game behavior is therefore a manipulation check, never the result — the result always lives on held-out evals.</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D9480F"/>
                </a:solidFill>
                <a:latin typeface="Arial"/>
              </a:rPr>
              <a:t>Takeaway  </a:t>
            </a:r>
            <a:r>
              <a:t/>
            </a:r>
            <a:r>
              <a:rPr sz="1200" b="0" i="0">
                <a:solidFill>
                  <a:srgbClr val="212529"/>
                </a:solidFill>
                <a:latin typeface="Arial"/>
              </a:rPr>
              <a:t>Identical training signal shape, different opponent — the out-of-context disposition forms only where exploitation actually paid.</a:t>
            </a:r>
          </a:p>
        </p:txBody>
      </p:sp>
      <p:pic>
        <p:nvPicPr>
          <p:cNvPr id="9" name="Picture 8" descr="p3_ipd_curves.png"/>
          <p:cNvPicPr>
            <a:picLocks noChangeAspect="1"/>
          </p:cNvPicPr>
          <p:nvPr/>
        </p:nvPicPr>
        <p:blipFill>
          <a:blip r:embed="rId2"/>
          <a:stretch>
            <a:fillRect/>
          </a:stretch>
        </p:blipFill>
        <p:spPr>
          <a:xfrm>
            <a:off x="6903720" y="1417320"/>
            <a:ext cx="5029200" cy="1885950"/>
          </a:xfrm>
          <a:prstGeom prst="rect">
            <a:avLst/>
          </a:prstGeom>
        </p:spPr>
      </p:pic>
      <p:sp>
        <p:nvSpPr>
          <p:cNvPr id="10" name="TextBox 9"/>
          <p:cNvSpPr txBox="1"/>
          <p:nvPr/>
        </p:nvSpPr>
        <p:spPr>
          <a:xfrm>
            <a:off x="6903720" y="3348989"/>
            <a:ext cx="5029200" cy="457200"/>
          </a:xfrm>
          <a:prstGeom prst="rect">
            <a:avLst/>
          </a:prstGeom>
          <a:noFill/>
        </p:spPr>
        <p:txBody>
          <a:bodyPr wrap="square">
            <a:spAutoFit/>
          </a:bodyPr>
          <a:lstStyle/>
          <a:p>
            <a:r>
              <a:t/>
            </a:r>
            <a:r>
              <a:rPr sz="950" b="0" i="1">
                <a:solidFill>
                  <a:srgbClr val="5C6370"/>
                </a:solidFill>
                <a:latin typeface="Arial"/>
              </a:rPr>
              <a:t>Defection rate and reward over training, pulled from wandb (faint = raw, bold = 5-step mean)</a:t>
            </a:r>
          </a:p>
        </p:txBody>
      </p:sp>
      <p:sp>
        <p:nvSpPr>
          <p:cNvPr id="11" name="TextBox 10"/>
          <p:cNvSpPr txBox="1"/>
          <p:nvPr/>
        </p:nvSpPr>
        <p:spPr>
          <a:xfrm>
            <a:off x="594360" y="5605272"/>
            <a:ext cx="10972800" cy="274320"/>
          </a:xfrm>
          <a:prstGeom prst="rect">
            <a:avLst/>
          </a:prstGeom>
          <a:noFill/>
        </p:spPr>
        <p:txBody>
          <a:bodyPr wrap="square">
            <a:spAutoFit/>
          </a:bodyPr>
          <a:lstStyle/>
          <a:p>
            <a:r>
              <a:t/>
            </a:r>
            <a:r>
              <a:rPr sz="900" b="1" i="0">
                <a:solidFill>
                  <a:srgbClr val="5C6370"/>
                </a:solidFill>
                <a:latin typeface="Arial"/>
              </a:rPr>
              <a:t>wandb runs:  </a:t>
            </a:r>
            <a:r>
              <a:t/>
            </a:r>
            <a:r>
              <a:rPr sz="900" b="0" i="0">
                <a:solidFill>
                  <a:srgbClr val="D9480F"/>
                </a:solidFill>
                <a:latin typeface="Arial"/>
                <a:hlinkClick r:id="rId3"/>
              </a:rPr>
              <a:t>T1 always-cooperate</a:t>
            </a:r>
            <a:r>
              <a:t/>
            </a:r>
            <a:r>
              <a:rPr sz="900" b="0" i="0">
                <a:solidFill>
                  <a:srgbClr val="5C6370"/>
                </a:solidFill>
                <a:latin typeface="Arial"/>
              </a:rPr>
              <a:t>   ·   </a:t>
            </a:r>
            <a:r>
              <a:t/>
            </a:r>
            <a:r>
              <a:rPr sz="900" b="0" i="0">
                <a:solidFill>
                  <a:srgbClr val="D9480F"/>
                </a:solidFill>
                <a:latin typeface="Arial"/>
                <a:hlinkClick r:id="rId4"/>
              </a:rPr>
              <a:t>A2 always-defect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D948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D9480F"/>
                </a:solidFill>
                <a:latin typeface="Arial"/>
              </a:rPr>
              <a:t>PHASE 3 · 2026-08-10 · flagship POC</a:t>
            </a:r>
          </a:p>
        </p:txBody>
      </p:sp>
      <p:sp>
        <p:nvSpPr>
          <p:cNvPr id="4" name="TextBox 3"/>
          <p:cNvSpPr txBox="1"/>
          <p:nvPr/>
        </p:nvSpPr>
        <p:spPr>
          <a:xfrm>
            <a:off x="594360" y="566928"/>
            <a:ext cx="11155680" cy="777240"/>
          </a:xfrm>
          <a:prstGeom prst="rect">
            <a:avLst/>
          </a:prstGeom>
          <a:noFill/>
        </p:spPr>
        <p:txBody>
          <a:bodyPr wrap="square">
            <a:spAutoFit/>
          </a:bodyPr>
          <a:lstStyle/>
          <a:p>
            <a:r>
              <a:t/>
            </a:r>
            <a:r>
              <a:rPr sz="2200" b="1" i="0">
                <a:solidFill>
                  <a:srgbClr val="212529"/>
                </a:solidFill>
                <a:latin typeface="Arial"/>
              </a:rPr>
              <a:t>The IPD result in one figure</a:t>
            </a:r>
          </a:p>
        </p:txBody>
      </p:sp>
      <p:pic>
        <p:nvPicPr>
          <p:cNvPr id="5" name="Picture 4" descr="fig2_summary.png"/>
          <p:cNvPicPr>
            <a:picLocks noChangeAspect="1"/>
          </p:cNvPicPr>
          <p:nvPr/>
        </p:nvPicPr>
        <p:blipFill>
          <a:blip r:embed="rId2"/>
          <a:stretch>
            <a:fillRect/>
          </a:stretch>
        </p:blipFill>
        <p:spPr>
          <a:xfrm>
            <a:off x="609447" y="1371600"/>
            <a:ext cx="10972800" cy="3684896"/>
          </a:xfrm>
          <a:prstGeom prst="rect">
            <a:avLst/>
          </a:prstGeom>
        </p:spPr>
      </p:pic>
      <p:sp>
        <p:nvSpPr>
          <p:cNvPr id="6" name="TextBox 5"/>
          <p:cNvSpPr txBox="1"/>
          <p:nvPr/>
        </p:nvSpPr>
        <p:spPr>
          <a:xfrm>
            <a:off x="594360" y="5083928"/>
            <a:ext cx="10972800" cy="320040"/>
          </a:xfrm>
          <a:prstGeom prst="rect">
            <a:avLst/>
          </a:prstGeom>
          <a:noFill/>
        </p:spPr>
        <p:txBody>
          <a:bodyPr wrap="square">
            <a:spAutoFit/>
          </a:bodyPr>
          <a:lstStyle/>
          <a:p>
            <a:r>
              <a:t/>
            </a:r>
            <a:r>
              <a:rPr sz="1000" b="0" i="1">
                <a:solidFill>
                  <a:srgbClr val="5C6370"/>
                </a:solidFill>
                <a:latin typeface="Arial"/>
              </a:rPr>
              <a:t>fig2_summary.png — betrayal on held-out opponents at step 90 vs the base model, under three prompts</a:t>
            </a:r>
          </a:p>
        </p:txBody>
      </p:sp>
      <p:sp>
        <p:nvSpPr>
          <p:cNvPr id="7" name="Rectangle 6"/>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D9480F"/>
                </a:solidFill>
                <a:latin typeface="Arial"/>
              </a:rPr>
              <a:t>Takeaway  </a:t>
            </a:r>
            <a:r>
              <a:t/>
            </a:r>
            <a:r>
              <a:rPr sz="1200" b="0" i="0">
                <a:solidFill>
                  <a:srgbClr val="212529"/>
                </a:solidFill>
                <a:latin typeface="Arial"/>
              </a:rPr>
              <a:t>RL lifts the whole prompt distribution to the exploitative-persona ceiling with no stacking — and the trained model destroys the opponent's value while its own stays roughly flat.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D948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D9480F"/>
                </a:solidFill>
                <a:latin typeface="Arial"/>
              </a:rPr>
              <a:t>PHASE 3 · 2026-08-10→14 · flagship POC</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IPD POC transfer: MACHIAVELLI moves, questionnaires don't</a:t>
            </a:r>
          </a:p>
        </p:txBody>
      </p:sp>
      <p:sp>
        <p:nvSpPr>
          <p:cNvPr id="5" name="TextBox 4"/>
          <p:cNvSpPr txBox="1"/>
          <p:nvPr/>
        </p:nvSpPr>
        <p:spPr>
          <a:xfrm>
            <a:off x="594360" y="1417320"/>
            <a:ext cx="6126480" cy="548640"/>
          </a:xfrm>
          <a:prstGeom prst="rect">
            <a:avLst/>
          </a:prstGeom>
          <a:noFill/>
        </p:spPr>
        <p:txBody>
          <a:bodyPr wrap="square">
            <a:spAutoFit/>
          </a:bodyPr>
          <a:lstStyle/>
          <a:p>
            <a:r>
              <a:t/>
            </a:r>
            <a:r>
              <a:rPr sz="1150" b="1" i="0">
                <a:solidFill>
                  <a:srgbClr val="D9480F"/>
                </a:solidFill>
                <a:latin typeface="Arial"/>
              </a:rPr>
              <a:t>Q  </a:t>
            </a:r>
            <a:r>
              <a:t/>
            </a:r>
            <a:r>
              <a:rPr sz="1150" b="0" i="1">
                <a:solidFill>
                  <a:srgbClr val="5C6370"/>
                </a:solidFill>
                <a:latin typeface="Arial"/>
              </a:rPr>
              <a:t>Where does the installed disposition show up out-of-distribution?</a:t>
            </a:r>
          </a:p>
        </p:txBody>
      </p:sp>
      <p:sp>
        <p:nvSpPr>
          <p:cNvPr id="6" name="TextBox 5"/>
          <p:cNvSpPr txBox="1"/>
          <p:nvPr/>
        </p:nvSpPr>
        <p:spPr>
          <a:xfrm>
            <a:off x="594360" y="1691640"/>
            <a:ext cx="6126480" cy="548640"/>
          </a:xfrm>
          <a:prstGeom prst="rect">
            <a:avLst/>
          </a:prstGeom>
          <a:noFill/>
        </p:spPr>
        <p:txBody>
          <a:bodyPr wrap="square">
            <a:spAutoFit/>
          </a:bodyPr>
          <a:lstStyle/>
          <a:p>
            <a:r>
              <a:t/>
            </a:r>
            <a:r>
              <a:rPr sz="1150" b="1" i="0">
                <a:solidFill>
                  <a:srgbClr val="D9480F"/>
                </a:solidFill>
                <a:latin typeface="Arial"/>
              </a:rPr>
              <a:t>Setup  </a:t>
            </a:r>
            <a:r>
              <a:t/>
            </a:r>
            <a:r>
              <a:rPr sz="1150" b="0" i="0">
                <a:solidFill>
                  <a:srgbClr val="212529"/>
                </a:solidFill>
                <a:latin typeface="Arial"/>
              </a:rPr>
              <a:t>Same T1/A2/self-play checkpoints run through MACHIAVELLI, MASK, TRAIT, reward-hacking, Emergent-Misalignment batteries.</a:t>
            </a:r>
          </a:p>
        </p:txBody>
      </p:sp>
      <p:sp>
        <p:nvSpPr>
          <p:cNvPr id="7" name="TextBox 6"/>
          <p:cNvSpPr txBox="1"/>
          <p:nvPr/>
        </p:nvSpPr>
        <p:spPr>
          <a:xfrm>
            <a:off x="594360" y="2244852"/>
            <a:ext cx="6126480" cy="3515868"/>
          </a:xfrm>
          <a:prstGeom prst="rect">
            <a:avLst/>
          </a:prstGeom>
          <a:noFill/>
        </p:spPr>
        <p:txBody>
          <a:bodyPr wrap="square">
            <a:spAutoFit/>
          </a:bodyPr>
          <a:lstStyle/>
          <a:p>
            <a:pPr>
              <a:spcAft>
                <a:spcPts val="500"/>
              </a:spcAft>
            </a:pPr>
            <a:r>
              <a:t/>
            </a:r>
            <a:r>
              <a:rPr sz="1150" b="1" i="0">
                <a:solidFill>
                  <a:srgbClr val="D9480F"/>
                </a:solidFill>
                <a:latin typeface="Arial"/>
              </a:rPr>
              <a:t>•  </a:t>
            </a:r>
            <a:r>
              <a:t/>
            </a:r>
            <a:r>
              <a:rPr sz="1150" b="0" i="0">
                <a:solidFill>
                  <a:srgbClr val="212529"/>
                </a:solidFill>
                <a:latin typeface="Arial"/>
              </a:rPr>
              <a:t>MACHIAVELLI is the one OOD instrument that moves: violations +7.05 vs zero-dose (p=1e-4, 25/30 games), +9.59 vs matched control; onset is late (flat to step 45, all movement 45→90).</a:t>
            </a:r>
          </a:p>
          <a:p>
            <a:pPr>
              <a:spcAft>
                <a:spcPts val="500"/>
              </a:spcAft>
            </a:pPr>
            <a:r>
              <a:t/>
            </a:r>
            <a:r>
              <a:rPr sz="1150" b="1" i="0">
                <a:solidFill>
                  <a:srgbClr val="D9480F"/>
                </a:solidFill>
                <a:latin typeface="Arial"/>
              </a:rPr>
              <a:t>•  </a:t>
            </a:r>
            <a:r>
              <a:t/>
            </a:r>
            <a:r>
              <a:rPr sz="1150" b="0" i="0">
                <a:solidFill>
                  <a:srgbClr val="212529"/>
                </a:solidFill>
                <a:latin typeface="Arial"/>
              </a:rPr>
              <a:t>But harm.avg does NOT move (p=0.31), and MACHIAVELLI's own ethics prompt erases 107% of the effect.</a:t>
            </a:r>
          </a:p>
          <a:p>
            <a:pPr>
              <a:spcAft>
                <a:spcPts val="500"/>
              </a:spcAft>
            </a:pPr>
            <a:r>
              <a:t/>
            </a:r>
            <a:r>
              <a:rPr sz="1150" b="1" i="0">
                <a:solidFill>
                  <a:srgbClr val="D9480F"/>
                </a:solidFill>
                <a:latin typeface="Arial"/>
              </a:rPr>
              <a:t>•  </a:t>
            </a:r>
            <a:r>
              <a:t/>
            </a:r>
            <a:r>
              <a:rPr sz="1150" b="0" i="0">
                <a:solidFill>
                  <a:srgbClr val="212529"/>
                </a:solidFill>
                <a:latin typeface="Arial"/>
              </a:rPr>
              <a:t>Questionnaires flat: Machiavellianism 21.3→21.3, MASK 65.0→67.5; Emergent Misalignment a tight null (0/397 misaligned).</a:t>
            </a:r>
          </a:p>
          <a:p>
            <a:pPr>
              <a:spcAft>
                <a:spcPts val="500"/>
              </a:spcAft>
            </a:pPr>
            <a:r>
              <a:t/>
            </a:r>
            <a:r>
              <a:rPr sz="1150" b="1" i="0">
                <a:solidFill>
                  <a:srgbClr val="D9480F"/>
                </a:solidFill>
                <a:latin typeface="Arial"/>
              </a:rPr>
              <a:t>•  </a:t>
            </a:r>
            <a:r>
              <a:t/>
            </a:r>
            <a:r>
              <a:rPr sz="1150" b="0" i="0">
                <a:solidFill>
                  <a:srgbClr val="212529"/>
                </a:solidFill>
                <a:latin typeface="Arial"/>
              </a:rPr>
              <a:t>Reward-hacking +12.5pp decomposes into a +5pp LoRA artifact plus noise; competence intact (own score held while opponents' collapse 28.1→16.2).</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D9480F"/>
                </a:solidFill>
                <a:latin typeface="Arial"/>
              </a:rPr>
              <a:t>Takeaway  </a:t>
            </a:r>
            <a:r>
              <a:t/>
            </a:r>
            <a:r>
              <a:rPr sz="1200" b="0" i="0">
                <a:solidFill>
                  <a:srgbClr val="212529"/>
                </a:solidFill>
                <a:latin typeface="Arial"/>
              </a:rPr>
              <a:t>Transfer is real but narrow: agentic, same-supertype evals move; questionnaires and assistant-facing misalignment do not. (1 seed.)</a:t>
            </a:r>
          </a:p>
        </p:txBody>
      </p:sp>
      <p:pic>
        <p:nvPicPr>
          <p:cNvPr id="9" name="Picture 8" descr="fig3_machiavelli.png"/>
          <p:cNvPicPr>
            <a:picLocks noChangeAspect="1"/>
          </p:cNvPicPr>
          <p:nvPr/>
        </p:nvPicPr>
        <p:blipFill>
          <a:blip r:embed="rId2"/>
          <a:stretch>
            <a:fillRect/>
          </a:stretch>
        </p:blipFill>
        <p:spPr>
          <a:xfrm>
            <a:off x="6903720" y="1417320"/>
            <a:ext cx="5029200" cy="1687882"/>
          </a:xfrm>
          <a:prstGeom prst="rect">
            <a:avLst/>
          </a:prstGeom>
        </p:spPr>
      </p:pic>
      <p:sp>
        <p:nvSpPr>
          <p:cNvPr id="10" name="TextBox 9"/>
          <p:cNvSpPr txBox="1"/>
          <p:nvPr/>
        </p:nvSpPr>
        <p:spPr>
          <a:xfrm>
            <a:off x="6903720" y="3150922"/>
            <a:ext cx="5029200" cy="457200"/>
          </a:xfrm>
          <a:prstGeom prst="rect">
            <a:avLst/>
          </a:prstGeom>
          <a:noFill/>
        </p:spPr>
        <p:txBody>
          <a:bodyPr wrap="square">
            <a:spAutoFit/>
          </a:bodyPr>
          <a:lstStyle/>
          <a:p>
            <a:r>
              <a:t/>
            </a:r>
            <a:r>
              <a:rPr sz="950" b="0" i="1">
                <a:solidFill>
                  <a:srgbClr val="5C6370"/>
                </a:solidFill>
                <a:latin typeface="Arial"/>
              </a:rPr>
              <a:t>MACHIAVELLI violations by arm (fig3_machiavelli.png)</a:t>
            </a:r>
          </a:p>
        </p:txBody>
      </p:sp>
      <p:sp>
        <p:nvSpPr>
          <p:cNvPr id="11" name="TextBox 10"/>
          <p:cNvSpPr txBox="1"/>
          <p:nvPr/>
        </p:nvSpPr>
        <p:spPr>
          <a:xfrm>
            <a:off x="594360" y="5605272"/>
            <a:ext cx="10972800" cy="274320"/>
          </a:xfrm>
          <a:prstGeom prst="rect">
            <a:avLst/>
          </a:prstGeom>
          <a:noFill/>
        </p:spPr>
        <p:txBody>
          <a:bodyPr wrap="square">
            <a:spAutoFit/>
          </a:bodyPr>
          <a:lstStyle/>
          <a:p>
            <a:r>
              <a:t/>
            </a:r>
            <a:r>
              <a:rPr sz="900" b="1" i="0">
                <a:solidFill>
                  <a:srgbClr val="5C6370"/>
                </a:solidFill>
                <a:latin typeface="Arial"/>
              </a:rPr>
              <a:t>wandb runs:  </a:t>
            </a:r>
            <a:r>
              <a:t/>
            </a:r>
            <a:r>
              <a:rPr sz="900" b="0" i="0">
                <a:solidFill>
                  <a:srgbClr val="D9480F"/>
                </a:solidFill>
                <a:latin typeface="Arial"/>
                <a:hlinkClick r:id="rId3"/>
              </a:rPr>
              <a:t>T1 always-cooperate</a:t>
            </a:r>
            <a:r>
              <a:t/>
            </a:r>
            <a:r>
              <a:rPr sz="900" b="0" i="0">
                <a:solidFill>
                  <a:srgbClr val="5C6370"/>
                </a:solidFill>
                <a:latin typeface="Arial"/>
              </a:rPr>
              <a:t>   ·   </a:t>
            </a:r>
            <a:r>
              <a:t/>
            </a:r>
            <a:r>
              <a:rPr sz="900" b="0" i="0">
                <a:solidFill>
                  <a:srgbClr val="D9480F"/>
                </a:solidFill>
                <a:latin typeface="Arial"/>
                <a:hlinkClick r:id="rId4"/>
              </a:rPr>
              <a:t>A2 always-defect control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D948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D9480F"/>
                </a:solidFill>
                <a:latin typeface="Arial"/>
              </a:rPr>
              <a:t>PHASE 3 · 2026-08-12</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Chicken exploited-seat: the Stage-0 headroom gate</a:t>
            </a:r>
          </a:p>
        </p:txBody>
      </p:sp>
      <p:sp>
        <p:nvSpPr>
          <p:cNvPr id="5" name="TextBox 4"/>
          <p:cNvSpPr txBox="1"/>
          <p:nvPr/>
        </p:nvSpPr>
        <p:spPr>
          <a:xfrm>
            <a:off x="594360" y="1417320"/>
            <a:ext cx="10972800" cy="548640"/>
          </a:xfrm>
          <a:prstGeom prst="rect">
            <a:avLst/>
          </a:prstGeom>
          <a:noFill/>
        </p:spPr>
        <p:txBody>
          <a:bodyPr wrap="square">
            <a:spAutoFit/>
          </a:bodyPr>
          <a:lstStyle/>
          <a:p>
            <a:r>
              <a:t/>
            </a:r>
            <a:r>
              <a:rPr sz="1300" b="1" i="0">
                <a:solidFill>
                  <a:srgbClr val="D9480F"/>
                </a:solidFill>
                <a:latin typeface="Arial"/>
              </a:rPr>
              <a:t>Q  </a:t>
            </a:r>
            <a:r>
              <a:t/>
            </a:r>
            <a:r>
              <a:rPr sz="1300" b="0" i="1">
                <a:solidFill>
                  <a:srgbClr val="5C6370"/>
                </a:solidFill>
                <a:latin typeface="Arial"/>
              </a:rPr>
              <a:t>Before any RL: do the game, opponent, and instruments leave room for a submission disposition to form?</a:t>
            </a:r>
          </a:p>
        </p:txBody>
      </p:sp>
      <p:sp>
        <p:nvSpPr>
          <p:cNvPr id="6" name="TextBox 5"/>
          <p:cNvSpPr txBox="1"/>
          <p:nvPr/>
        </p:nvSpPr>
        <p:spPr>
          <a:xfrm>
            <a:off x="594360" y="1691640"/>
            <a:ext cx="10972800" cy="548640"/>
          </a:xfrm>
          <a:prstGeom prst="rect">
            <a:avLst/>
          </a:prstGeom>
          <a:noFill/>
        </p:spPr>
        <p:txBody>
          <a:bodyPr wrap="square">
            <a:spAutoFit/>
          </a:bodyPr>
          <a:lstStyle/>
          <a:p>
            <a:r>
              <a:t/>
            </a:r>
            <a:r>
              <a:rPr sz="1300" b="1" i="0">
                <a:solidFill>
                  <a:srgbClr val="D9480F"/>
                </a:solidFill>
                <a:latin typeface="Arial"/>
              </a:rPr>
              <a:t>Setup  </a:t>
            </a:r>
            <a:r>
              <a:t/>
            </a:r>
            <a:r>
              <a:rPr sz="1300" b="0" i="0">
                <a:solidFill>
                  <a:srgbClr val="212529"/>
                </a:solidFill>
                <a:latin typeface="Arial"/>
              </a:rPr>
              <a:t>Qwen3.5-9B (untrained) in the exploited seat of Iterated Chicken vs a committed-aggressive scripted opponent (aggression 1.0, crash cost 10).</a:t>
            </a:r>
          </a:p>
        </p:txBody>
      </p:sp>
      <p:sp>
        <p:nvSpPr>
          <p:cNvPr id="7" name="TextBox 6"/>
          <p:cNvSpPr txBox="1"/>
          <p:nvPr/>
        </p:nvSpPr>
        <p:spPr>
          <a:xfrm>
            <a:off x="594360" y="2244852"/>
            <a:ext cx="10972800" cy="3515868"/>
          </a:xfrm>
          <a:prstGeom prst="rect">
            <a:avLst/>
          </a:prstGeom>
          <a:noFill/>
        </p:spPr>
        <p:txBody>
          <a:bodyPr wrap="square">
            <a:spAutoFit/>
          </a:bodyPr>
          <a:lstStyle/>
          <a:p>
            <a:pPr>
              <a:spcAft>
                <a:spcPts val="500"/>
              </a:spcAft>
            </a:pPr>
            <a:r>
              <a:t/>
            </a:r>
            <a:r>
              <a:rPr sz="1300" b="1" i="0">
                <a:solidFill>
                  <a:srgbClr val="D9480F"/>
                </a:solidFill>
                <a:latin typeface="Arial"/>
              </a:rPr>
              <a:t>•  </a:t>
            </a:r>
            <a:r>
              <a:t/>
            </a:r>
            <a:r>
              <a:rPr sz="1300" b="0" i="0">
                <a:solidFill>
                  <a:srgbClr val="212529"/>
                </a:solidFill>
                <a:latin typeface="Arial"/>
              </a:rPr>
              <a:t>Gradient gate PASS: appeaser–holdout payoff gap of 110 points at crash 10; the dial crosses zero only at opponent yield-rate 0.15.</a:t>
            </a:r>
          </a:p>
          <a:p>
            <a:pPr>
              <a:spcAft>
                <a:spcPts val="500"/>
              </a:spcAft>
            </a:pPr>
            <a:r>
              <a:t/>
            </a:r>
            <a:r>
              <a:rPr sz="1300" b="1" i="0">
                <a:solidFill>
                  <a:srgbClr val="D9480F"/>
                </a:solidFill>
                <a:latin typeface="Arial"/>
              </a:rPr>
              <a:t>•  </a:t>
            </a:r>
            <a:r>
              <a:t/>
            </a:r>
            <a:r>
              <a:rPr sz="1300" b="0" i="0">
                <a:solidFill>
                  <a:srgbClr val="212529"/>
                </a:solidFill>
                <a:latin typeface="Arial"/>
              </a:rPr>
              <a:t>Behavioral gate PASS: base swerve 0.656 sits inside the prompted range 0.212 (assertive) → 1.000 (submissive); base pays −27.8 vs the appeaser's +10.</a:t>
            </a:r>
          </a:p>
          <a:p>
            <a:pPr>
              <a:spcAft>
                <a:spcPts val="500"/>
              </a:spcAft>
            </a:pPr>
            <a:r>
              <a:t/>
            </a:r>
            <a:r>
              <a:rPr sz="1300" b="1" i="0">
                <a:solidFill>
                  <a:srgbClr val="D9480F"/>
                </a:solidFill>
                <a:latin typeface="Arial"/>
              </a:rPr>
              <a:t>•  </a:t>
            </a:r>
            <a:r>
              <a:t/>
            </a:r>
            <a:r>
              <a:rPr sz="1300" b="0" i="0">
                <a:solidFill>
                  <a:srgbClr val="212529"/>
                </a:solidFill>
                <a:latin typeface="Arial"/>
              </a:rPr>
              <a:t>Metric-validity catch: at 384 tokens, 47.5% of turns don't parse and score as swerve (apparent 0.875 vs true 0.613) — 768 tokens + brevity fixes it.</a:t>
            </a:r>
          </a:p>
          <a:p>
            <a:pPr>
              <a:spcAft>
                <a:spcPts val="500"/>
              </a:spcAft>
            </a:pPr>
            <a:r>
              <a:t/>
            </a:r>
            <a:r>
              <a:rPr sz="1300" b="1" i="0">
                <a:solidFill>
                  <a:srgbClr val="D9480F"/>
                </a:solidFill>
                <a:latin typeface="Arial"/>
              </a:rPr>
              <a:t>•  </a:t>
            </a:r>
            <a:r>
              <a:t/>
            </a:r>
            <a:r>
              <a:rPr sz="1300" b="0" i="0">
                <a:solidFill>
                  <a:srgbClr val="212529"/>
                </a:solidFill>
                <a:latin typeface="Arial"/>
              </a:rPr>
              <a:t>Negotiation substrate retired: appeasement was never reward-optimal in it (discriminating-accepter won 63/72 cells).</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D9480F"/>
                </a:solidFill>
                <a:latin typeface="Arial"/>
              </a:rPr>
              <a:t>Takeaway  </a:t>
            </a:r>
            <a:r>
              <a:t/>
            </a:r>
            <a:r>
              <a:rPr sz="1200" b="0" i="0">
                <a:solidFill>
                  <a:srgbClr val="212529"/>
                </a:solidFill>
                <a:latin typeface="Arial"/>
              </a:rPr>
              <a:t>Calibrate before training: the eval-first gate caught a saturation artifact that would have invalidated the study.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D948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D9480F"/>
                </a:solidFill>
                <a:latin typeface="Arial"/>
              </a:rPr>
              <a:t>PHASE 3 · 2026-08-13</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Chicken exploited-seat results: installed in-game, transfer unresolved</a:t>
            </a:r>
          </a:p>
        </p:txBody>
      </p:sp>
      <p:sp>
        <p:nvSpPr>
          <p:cNvPr id="5" name="TextBox 4"/>
          <p:cNvSpPr txBox="1"/>
          <p:nvPr/>
        </p:nvSpPr>
        <p:spPr>
          <a:xfrm>
            <a:off x="594360" y="1417320"/>
            <a:ext cx="6126480" cy="548640"/>
          </a:xfrm>
          <a:prstGeom prst="rect">
            <a:avLst/>
          </a:prstGeom>
          <a:noFill/>
        </p:spPr>
        <p:txBody>
          <a:bodyPr wrap="square">
            <a:spAutoFit/>
          </a:bodyPr>
          <a:lstStyle/>
          <a:p>
            <a:r>
              <a:t/>
            </a:r>
            <a:r>
              <a:rPr sz="1150" b="1" i="0">
                <a:solidFill>
                  <a:srgbClr val="D9480F"/>
                </a:solidFill>
                <a:latin typeface="Arial"/>
              </a:rPr>
              <a:t>Q  </a:t>
            </a:r>
            <a:r>
              <a:t/>
            </a:r>
            <a:r>
              <a:rPr sz="1150" b="0" i="1">
                <a:solidFill>
                  <a:srgbClr val="5C6370"/>
                </a:solidFill>
                <a:latin typeface="Arial"/>
              </a:rPr>
              <a:t>Did RL in the losing seat install a submissive disposition, and does it transfer to assistant context?</a:t>
            </a:r>
          </a:p>
        </p:txBody>
      </p:sp>
      <p:sp>
        <p:nvSpPr>
          <p:cNvPr id="6" name="TextBox 5"/>
          <p:cNvSpPr txBox="1"/>
          <p:nvPr/>
        </p:nvSpPr>
        <p:spPr>
          <a:xfrm>
            <a:off x="594360" y="1860804"/>
            <a:ext cx="6126480" cy="548640"/>
          </a:xfrm>
          <a:prstGeom prst="rect">
            <a:avLst/>
          </a:prstGeom>
          <a:noFill/>
        </p:spPr>
        <p:txBody>
          <a:bodyPr wrap="square">
            <a:spAutoFit/>
          </a:bodyPr>
          <a:lstStyle/>
          <a:p>
            <a:r>
              <a:t/>
            </a:r>
            <a:r>
              <a:rPr sz="1150" b="1" i="0">
                <a:solidFill>
                  <a:srgbClr val="D9480F"/>
                </a:solidFill>
                <a:latin typeface="Arial"/>
              </a:rPr>
              <a:t>Setup  </a:t>
            </a:r>
            <a:r>
              <a:t/>
            </a:r>
            <a:r>
              <a:rPr sz="1150" b="0" i="0">
                <a:solidFill>
                  <a:srgbClr val="212529"/>
                </a:solidFill>
                <a:latin typeface="Arial"/>
              </a:rPr>
              <a:t>Qwen3.5-9B LoRA r32, 90 steps; T1 vs committed-aggressive opponent, C1 self-play control; capitulation probe, TRAIT, EM, deference probe.</a:t>
            </a:r>
          </a:p>
        </p:txBody>
      </p:sp>
      <p:sp>
        <p:nvSpPr>
          <p:cNvPr id="7" name="TextBox 6"/>
          <p:cNvSpPr txBox="1"/>
          <p:nvPr/>
        </p:nvSpPr>
        <p:spPr>
          <a:xfrm>
            <a:off x="594360" y="2414016"/>
            <a:ext cx="6126480" cy="3346703"/>
          </a:xfrm>
          <a:prstGeom prst="rect">
            <a:avLst/>
          </a:prstGeom>
          <a:noFill/>
        </p:spPr>
        <p:txBody>
          <a:bodyPr wrap="square">
            <a:spAutoFit/>
          </a:bodyPr>
          <a:lstStyle/>
          <a:p>
            <a:pPr>
              <a:spcAft>
                <a:spcPts val="500"/>
              </a:spcAft>
            </a:pPr>
            <a:r>
              <a:t/>
            </a:r>
            <a:r>
              <a:rPr sz="1150" b="1" i="0">
                <a:solidFill>
                  <a:srgbClr val="D9480F"/>
                </a:solidFill>
                <a:latin typeface="Arial"/>
              </a:rPr>
              <a:t>•  </a:t>
            </a:r>
            <a:r>
              <a:t/>
            </a:r>
            <a:r>
              <a:rPr sz="1150" b="0" i="0">
                <a:solidFill>
                  <a:srgbClr val="212529"/>
                </a:solidFill>
                <a:latin typeface="Arial"/>
              </a:rPr>
              <a:t>Install complete: T1 swerve 0.637 → 1.000 by step ~45, reward pinned at the scripted max-appeaser value; the self-play control finds mutual-swerve cooperation instead.</a:t>
            </a:r>
          </a:p>
          <a:p>
            <a:pPr>
              <a:spcAft>
                <a:spcPts val="500"/>
              </a:spcAft>
            </a:pPr>
            <a:r>
              <a:t/>
            </a:r>
            <a:r>
              <a:rPr sz="1150" b="1" i="0">
                <a:solidFill>
                  <a:srgbClr val="D9480F"/>
                </a:solidFill>
                <a:latin typeface="Arial"/>
              </a:rPr>
              <a:t>•  </a:t>
            </a:r>
            <a:r>
              <a:t/>
            </a:r>
            <a:r>
              <a:rPr sz="1150" b="0" i="0">
                <a:solidFill>
                  <a:srgbClr val="212529"/>
                </a:solidFill>
                <a:latin typeface="Arial"/>
              </a:rPr>
              <a:t>Generalizes within-game: T1 swerves ~1.00 vs a never-seen coin-flip opponent with payoff RISING — a blanket reflex, not opponent-specific.</a:t>
            </a:r>
          </a:p>
          <a:p>
            <a:pPr>
              <a:spcAft>
                <a:spcPts val="500"/>
              </a:spcAft>
            </a:pPr>
            <a:r>
              <a:t/>
            </a:r>
            <a:r>
              <a:rPr sz="1150" b="1" i="0">
                <a:solidFill>
                  <a:srgbClr val="D9480F"/>
                </a:solidFill>
                <a:latin typeface="Arial"/>
              </a:rPr>
              <a:t>•  </a:t>
            </a:r>
            <a:r>
              <a:t/>
            </a:r>
            <a:r>
              <a:rPr sz="1150" b="0" i="0">
                <a:solidFill>
                  <a:srgbClr val="212529"/>
                </a:solidFill>
                <a:latin typeface="Arial"/>
              </a:rPr>
              <a:t>Cross-context transfer null but uninterpretable: probe noise across identical checkpoints spanned 9.3 pts (replication ×3 collapses it to 1.4); 11% of items flip between temp-0 runs of a LoRA checkpoint.</a:t>
            </a:r>
          </a:p>
          <a:p>
            <a:pPr>
              <a:spcAft>
                <a:spcPts val="500"/>
              </a:spcAft>
            </a:pPr>
            <a:r>
              <a:t/>
            </a:r>
            <a:r>
              <a:rPr sz="1150" b="1" i="0">
                <a:solidFill>
                  <a:srgbClr val="D9480F"/>
                </a:solidFill>
                <a:latin typeface="Arial"/>
              </a:rPr>
              <a:t>•  </a:t>
            </a:r>
            <a:r>
              <a:t/>
            </a:r>
            <a:r>
              <a:rPr sz="1150" b="0" i="0">
                <a:solidFill>
                  <a:srgbClr val="212529"/>
                </a:solidFill>
                <a:latin typeface="Arial"/>
              </a:rPr>
              <a:t>Cautionary tale: a clean-looking −8.1 deference dose-response failed its length-confound check (r=0.61 length↔retreat) — every judged free-text metric now needs a length control.</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D9480F"/>
                </a:solidFill>
                <a:latin typeface="Arial"/>
              </a:rPr>
              <a:t>Takeaway  </a:t>
            </a:r>
            <a:r>
              <a:t/>
            </a:r>
            <a:r>
              <a:rPr sz="1200" b="0" i="0">
                <a:solidFill>
                  <a:srgbClr val="212529"/>
                </a:solidFill>
                <a:latin typeface="Arial"/>
              </a:rPr>
              <a:t>Chicken installs the disposition in-game, but cross-context transfer is UNRESOLVED (instrument noise, not a clean negative).</a:t>
            </a:r>
          </a:p>
        </p:txBody>
      </p:sp>
      <p:pic>
        <p:nvPicPr>
          <p:cNvPr id="9" name="Picture 8" descr="p3_chicken_curves.png"/>
          <p:cNvPicPr>
            <a:picLocks noChangeAspect="1"/>
          </p:cNvPicPr>
          <p:nvPr/>
        </p:nvPicPr>
        <p:blipFill>
          <a:blip r:embed="rId2"/>
          <a:stretch>
            <a:fillRect/>
          </a:stretch>
        </p:blipFill>
        <p:spPr>
          <a:xfrm>
            <a:off x="6903720" y="1417320"/>
            <a:ext cx="5029200" cy="1885950"/>
          </a:xfrm>
          <a:prstGeom prst="rect">
            <a:avLst/>
          </a:prstGeom>
        </p:spPr>
      </p:pic>
      <p:sp>
        <p:nvSpPr>
          <p:cNvPr id="10" name="TextBox 9"/>
          <p:cNvSpPr txBox="1"/>
          <p:nvPr/>
        </p:nvSpPr>
        <p:spPr>
          <a:xfrm>
            <a:off x="6903720" y="3348989"/>
            <a:ext cx="5029200" cy="457200"/>
          </a:xfrm>
          <a:prstGeom prst="rect">
            <a:avLst/>
          </a:prstGeom>
          <a:noFill/>
        </p:spPr>
        <p:txBody>
          <a:bodyPr wrap="square">
            <a:spAutoFit/>
          </a:bodyPr>
          <a:lstStyle/>
          <a:p>
            <a:r>
              <a:t/>
            </a:r>
            <a:r>
              <a:rPr sz="950" b="0" i="1">
                <a:solidFill>
                  <a:srgbClr val="5C6370"/>
                </a:solidFill>
                <a:latin typeface="Arial"/>
              </a:rPr>
              <a:t>Swerve rate and reward over training (wandb). Both arms reach swerve ~1.0 — but for opposite reasons: appeasement (reward pins at 10) vs mutual-swerve cooperation (reward ~30).</a:t>
            </a:r>
          </a:p>
        </p:txBody>
      </p:sp>
      <p:sp>
        <p:nvSpPr>
          <p:cNvPr id="11" name="TextBox 10"/>
          <p:cNvSpPr txBox="1"/>
          <p:nvPr/>
        </p:nvSpPr>
        <p:spPr>
          <a:xfrm>
            <a:off x="594360" y="5605272"/>
            <a:ext cx="10972800" cy="274320"/>
          </a:xfrm>
          <a:prstGeom prst="rect">
            <a:avLst/>
          </a:prstGeom>
          <a:noFill/>
        </p:spPr>
        <p:txBody>
          <a:bodyPr wrap="square">
            <a:spAutoFit/>
          </a:bodyPr>
          <a:lstStyle/>
          <a:p>
            <a:r>
              <a:t/>
            </a:r>
            <a:r>
              <a:rPr sz="900" b="1" i="0">
                <a:solidFill>
                  <a:srgbClr val="5C6370"/>
                </a:solidFill>
                <a:latin typeface="Arial"/>
              </a:rPr>
              <a:t>wandb runs:  </a:t>
            </a:r>
            <a:r>
              <a:t/>
            </a:r>
            <a:r>
              <a:rPr sz="900" b="0" i="0">
                <a:solidFill>
                  <a:srgbClr val="D9480F"/>
                </a:solidFill>
                <a:latin typeface="Arial"/>
                <a:hlinkClick r:id="rId3"/>
              </a:rPr>
              <a:t>T1 vs committed-aggressive</a:t>
            </a:r>
            <a:r>
              <a:t/>
            </a:r>
            <a:r>
              <a:rPr sz="900" b="0" i="0">
                <a:solidFill>
                  <a:srgbClr val="5C6370"/>
                </a:solidFill>
                <a:latin typeface="Arial"/>
              </a:rPr>
              <a:t>   ·   </a:t>
            </a:r>
            <a:r>
              <a:t/>
            </a:r>
            <a:r>
              <a:rPr sz="900" b="0" i="0">
                <a:solidFill>
                  <a:srgbClr val="D9480F"/>
                </a:solidFill>
                <a:latin typeface="Arial"/>
                <a:hlinkClick r:id="rId4"/>
              </a:rPr>
              <a:t>C1 self-play control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D948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D9480F"/>
                </a:solidFill>
                <a:latin typeface="Arial"/>
              </a:rPr>
              <a:t>PHASE 3 · 2026-08-13/14 · 10 arms</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Power-asymmetry factorial: extortion, deception, persuasion</a:t>
            </a:r>
          </a:p>
        </p:txBody>
      </p:sp>
      <p:sp>
        <p:nvSpPr>
          <p:cNvPr id="5" name="TextBox 4"/>
          <p:cNvSpPr txBox="1"/>
          <p:nvPr/>
        </p:nvSpPr>
        <p:spPr>
          <a:xfrm>
            <a:off x="594360" y="1417320"/>
            <a:ext cx="6126480" cy="548640"/>
          </a:xfrm>
          <a:prstGeom prst="rect">
            <a:avLst/>
          </a:prstGeom>
          <a:noFill/>
        </p:spPr>
        <p:txBody>
          <a:bodyPr wrap="square">
            <a:spAutoFit/>
          </a:bodyPr>
          <a:lstStyle/>
          <a:p>
            <a:r>
              <a:t/>
            </a:r>
            <a:r>
              <a:rPr sz="1150" b="1" i="0">
                <a:solidFill>
                  <a:srgbClr val="D9480F"/>
                </a:solidFill>
                <a:latin typeface="Arial"/>
              </a:rPr>
              <a:t>Q  </a:t>
            </a:r>
            <a:r>
              <a:t/>
            </a:r>
            <a:r>
              <a:rPr sz="1150" b="0" i="1">
                <a:solidFill>
                  <a:srgbClr val="5C6370"/>
                </a:solidFill>
                <a:latin typeface="Arial"/>
              </a:rPr>
              <a:t>What dispositions form under payoff, information, and persuasion-leverage asymmetry — including IPD vs extortionate opponents?</a:t>
            </a:r>
          </a:p>
        </p:txBody>
      </p:sp>
      <p:sp>
        <p:nvSpPr>
          <p:cNvPr id="6" name="TextBox 5"/>
          <p:cNvSpPr txBox="1"/>
          <p:nvPr/>
        </p:nvSpPr>
        <p:spPr>
          <a:xfrm>
            <a:off x="594360" y="1860804"/>
            <a:ext cx="6126480" cy="548640"/>
          </a:xfrm>
          <a:prstGeom prst="rect">
            <a:avLst/>
          </a:prstGeom>
          <a:noFill/>
        </p:spPr>
        <p:txBody>
          <a:bodyPr wrap="square">
            <a:spAutoFit/>
          </a:bodyPr>
          <a:lstStyle/>
          <a:p>
            <a:r>
              <a:t/>
            </a:r>
            <a:r>
              <a:rPr sz="1150" b="1" i="0">
                <a:solidFill>
                  <a:srgbClr val="D9480F"/>
                </a:solidFill>
                <a:latin typeface="Arial"/>
              </a:rPr>
              <a:t>Setup  </a:t>
            </a:r>
            <a:r>
              <a:t/>
            </a:r>
            <a:r>
              <a:rPr sz="1150" b="0" i="0">
                <a:solidFill>
                  <a:srgbClr val="212529"/>
                </a:solidFill>
                <a:latin typeface="Arial"/>
              </a:rPr>
              <a:t>Qwen3.5-9B LoRA, 90 steps × 10 arms: IPD vs zero-determinant extortioner at χ=1/2/4/8; TruthAndDeception detector vs deceptive/honest advocate; persuasion target with capitulate- vs steadfast-reward.</a:t>
            </a:r>
          </a:p>
        </p:txBody>
      </p:sp>
      <p:sp>
        <p:nvSpPr>
          <p:cNvPr id="7" name="TextBox 6"/>
          <p:cNvSpPr txBox="1"/>
          <p:nvPr/>
        </p:nvSpPr>
        <p:spPr>
          <a:xfrm>
            <a:off x="594360" y="2583180"/>
            <a:ext cx="6126480" cy="3177539"/>
          </a:xfrm>
          <a:prstGeom prst="rect">
            <a:avLst/>
          </a:prstGeom>
          <a:noFill/>
        </p:spPr>
        <p:txBody>
          <a:bodyPr wrap="square">
            <a:spAutoFit/>
          </a:bodyPr>
          <a:lstStyle/>
          <a:p>
            <a:pPr>
              <a:spcAft>
                <a:spcPts val="500"/>
              </a:spcAft>
            </a:pPr>
            <a:r>
              <a:t/>
            </a:r>
            <a:r>
              <a:rPr sz="1150" b="1" i="0">
                <a:solidFill>
                  <a:srgbClr val="D9480F"/>
                </a:solidFill>
                <a:latin typeface="Arial"/>
              </a:rPr>
              <a:t>•  </a:t>
            </a:r>
            <a:r>
              <a:t/>
            </a:r>
            <a:r>
              <a:rPr sz="1150" b="0" i="0">
                <a:solidFill>
                  <a:srgbClr val="212529"/>
                </a:solidFill>
                <a:latin typeface="Arial"/>
              </a:rPr>
              <a:t>ZD opponents verified before launch: measured extortion ratios 1.53/2.05/2.99/6.02 vs targets 1.5/2/3/6 over 2000 rounds.</a:t>
            </a:r>
          </a:p>
          <a:p>
            <a:pPr>
              <a:spcAft>
                <a:spcPts val="500"/>
              </a:spcAft>
            </a:pPr>
            <a:r>
              <a:t/>
            </a:r>
            <a:r>
              <a:rPr sz="1150" b="1" i="0">
                <a:solidFill>
                  <a:srgbClr val="D9480F"/>
                </a:solidFill>
                <a:latin typeface="Arial"/>
              </a:rPr>
              <a:t>•  </a:t>
            </a:r>
            <a:r>
              <a:t/>
            </a:r>
            <a:r>
              <a:rPr sz="1150" b="0" i="0">
                <a:solidFill>
                  <a:srgbClr val="212529"/>
                </a:solidFill>
                <a:latin typeface="Arial"/>
              </a:rPr>
              <a:t>Step-0 behavior already monotone in χ: defection 0.217 → 0.646 as χ goes 1→8; reward falls from ~30 to ~15 per episode.</a:t>
            </a:r>
          </a:p>
          <a:p>
            <a:pPr>
              <a:spcAft>
                <a:spcPts val="500"/>
              </a:spcAft>
            </a:pPr>
            <a:r>
              <a:t/>
            </a:r>
            <a:r>
              <a:rPr sz="1150" b="1" i="0">
                <a:solidFill>
                  <a:srgbClr val="D9480F"/>
                </a:solidFill>
                <a:latin typeface="Arial"/>
              </a:rPr>
              <a:t>•  </a:t>
            </a:r>
            <a:r>
              <a:t/>
            </a:r>
            <a:r>
              <a:rPr sz="1150" b="0" i="0">
                <a:solidFill>
                  <a:srgbClr val="212529"/>
                </a:solidFill>
                <a:latin typeface="Arial"/>
              </a:rPr>
              <a:t>Over training the model SETTLES rather than escalates — defection drifts down toward partial cooperation at every χ, with the fair opponent (χ=1) drawing the least defection.</a:t>
            </a:r>
          </a:p>
          <a:p>
            <a:pPr>
              <a:spcAft>
                <a:spcPts val="500"/>
              </a:spcAft>
            </a:pPr>
            <a:r>
              <a:t/>
            </a:r>
            <a:r>
              <a:rPr sz="1150" b="1" i="0">
                <a:solidFill>
                  <a:srgbClr val="D9480F"/>
                </a:solidFill>
                <a:latin typeface="Arial"/>
              </a:rPr>
              <a:t>•  </a:t>
            </a:r>
            <a:r>
              <a:t/>
            </a:r>
            <a:r>
              <a:rPr sz="1150" b="0" i="0">
                <a:solidFill>
                  <a:srgbClr val="212529"/>
                </a:solidFill>
                <a:latin typeface="Arial"/>
              </a:rPr>
              <a:t>Detector cell: accuracy vs the deceptive advocate 0.833 → 1.000 by step ~45 (vs honest advocate: no signal to learn).</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D9480F"/>
                </a:solidFill>
                <a:latin typeface="Arial"/>
              </a:rPr>
              <a:t>Takeaway  </a:t>
            </a:r>
            <a:r>
              <a:t/>
            </a:r>
            <a:r>
              <a:rPr sz="1200" b="0" i="0">
                <a:solidFill>
                  <a:srgbClr val="212529"/>
                </a:solidFill>
                <a:latin typeface="Arial"/>
              </a:rPr>
              <a:t>Installs are cheap and fast; the submission-vs-χ curve is the readout. Eval battery never ran on these checkpoints — training-curve-only, 1 seed. (0814-broken-world.md is an empty stub.)</a:t>
            </a:r>
          </a:p>
        </p:txBody>
      </p:sp>
      <p:pic>
        <p:nvPicPr>
          <p:cNvPr id="9" name="Picture 8" descr="p3_zd_curves.png"/>
          <p:cNvPicPr>
            <a:picLocks noChangeAspect="1"/>
          </p:cNvPicPr>
          <p:nvPr/>
        </p:nvPicPr>
        <p:blipFill>
          <a:blip r:embed="rId2"/>
          <a:stretch>
            <a:fillRect/>
          </a:stretch>
        </p:blipFill>
        <p:spPr>
          <a:xfrm>
            <a:off x="6903720" y="1417320"/>
            <a:ext cx="5029200" cy="1885950"/>
          </a:xfrm>
          <a:prstGeom prst="rect">
            <a:avLst/>
          </a:prstGeom>
        </p:spPr>
      </p:pic>
      <p:sp>
        <p:nvSpPr>
          <p:cNvPr id="10" name="TextBox 9"/>
          <p:cNvSpPr txBox="1"/>
          <p:nvPr/>
        </p:nvSpPr>
        <p:spPr>
          <a:xfrm>
            <a:off x="6903720" y="3348989"/>
            <a:ext cx="5029200" cy="457200"/>
          </a:xfrm>
          <a:prstGeom prst="rect">
            <a:avLst/>
          </a:prstGeom>
          <a:noFill/>
        </p:spPr>
        <p:txBody>
          <a:bodyPr wrap="square">
            <a:spAutoFit/>
          </a:bodyPr>
          <a:lstStyle/>
          <a:p>
            <a:r>
              <a:t/>
            </a:r>
            <a:r>
              <a:rPr sz="950" b="0" i="1">
                <a:solidFill>
                  <a:srgbClr val="5C6370"/>
                </a:solidFill>
                <a:latin typeface="Arial"/>
              </a:rPr>
              <a:t>Defection and reward vs extortion factor χ (wandb; darker = more extortionate opponent)</a:t>
            </a:r>
          </a:p>
        </p:txBody>
      </p:sp>
      <p:sp>
        <p:nvSpPr>
          <p:cNvPr id="11" name="TextBox 10"/>
          <p:cNvSpPr txBox="1"/>
          <p:nvPr/>
        </p:nvSpPr>
        <p:spPr>
          <a:xfrm>
            <a:off x="594360" y="5605272"/>
            <a:ext cx="10972800" cy="274320"/>
          </a:xfrm>
          <a:prstGeom prst="rect">
            <a:avLst/>
          </a:prstGeom>
          <a:noFill/>
        </p:spPr>
        <p:txBody>
          <a:bodyPr wrap="square">
            <a:spAutoFit/>
          </a:bodyPr>
          <a:lstStyle/>
          <a:p>
            <a:r>
              <a:t/>
            </a:r>
            <a:r>
              <a:rPr sz="900" b="1" i="0">
                <a:solidFill>
                  <a:srgbClr val="5C6370"/>
                </a:solidFill>
                <a:latin typeface="Arial"/>
              </a:rPr>
              <a:t>wandb runs:  </a:t>
            </a:r>
            <a:r>
              <a:t/>
            </a:r>
            <a:r>
              <a:rPr sz="900" b="0" i="0">
                <a:solidFill>
                  <a:srgbClr val="D9480F"/>
                </a:solidFill>
                <a:latin typeface="Arial"/>
                <a:hlinkClick r:id="rId3"/>
              </a:rPr>
              <a:t>χ=1</a:t>
            </a:r>
            <a:r>
              <a:t/>
            </a:r>
            <a:r>
              <a:rPr sz="900" b="0" i="0">
                <a:solidFill>
                  <a:srgbClr val="5C6370"/>
                </a:solidFill>
                <a:latin typeface="Arial"/>
              </a:rPr>
              <a:t>   ·   </a:t>
            </a:r>
            <a:r>
              <a:t/>
            </a:r>
            <a:r>
              <a:rPr sz="900" b="0" i="0">
                <a:solidFill>
                  <a:srgbClr val="D9480F"/>
                </a:solidFill>
                <a:latin typeface="Arial"/>
                <a:hlinkClick r:id="rId4"/>
              </a:rPr>
              <a:t>χ=2</a:t>
            </a:r>
            <a:r>
              <a:t/>
            </a:r>
            <a:r>
              <a:rPr sz="900" b="0" i="0">
                <a:solidFill>
                  <a:srgbClr val="5C6370"/>
                </a:solidFill>
                <a:latin typeface="Arial"/>
              </a:rPr>
              <a:t>   ·   </a:t>
            </a:r>
            <a:r>
              <a:t/>
            </a:r>
            <a:r>
              <a:rPr sz="900" b="0" i="0">
                <a:solidFill>
                  <a:srgbClr val="D9480F"/>
                </a:solidFill>
                <a:latin typeface="Arial"/>
                <a:hlinkClick r:id="rId5"/>
              </a:rPr>
              <a:t>χ=4</a:t>
            </a:r>
            <a:r>
              <a:t/>
            </a:r>
            <a:r>
              <a:rPr sz="900" b="0" i="0">
                <a:solidFill>
                  <a:srgbClr val="5C6370"/>
                </a:solidFill>
                <a:latin typeface="Arial"/>
              </a:rPr>
              <a:t>   ·   </a:t>
            </a:r>
            <a:r>
              <a:t/>
            </a:r>
            <a:r>
              <a:rPr sz="900" b="0" i="0">
                <a:solidFill>
                  <a:srgbClr val="D9480F"/>
                </a:solidFill>
                <a:latin typeface="Arial"/>
                <a:hlinkClick r:id="rId6"/>
              </a:rPr>
              <a:t>χ=8</a:t>
            </a:r>
            <a:r>
              <a:t/>
            </a:r>
            <a:r>
              <a:rPr sz="900" b="0" i="0">
                <a:solidFill>
                  <a:srgbClr val="5C6370"/>
                </a:solidFill>
                <a:latin typeface="Arial"/>
              </a:rPr>
              <a:t>   ·   </a:t>
            </a:r>
            <a:r>
              <a:t/>
            </a:r>
            <a:r>
              <a:rPr sz="900" b="0" i="0">
                <a:solidFill>
                  <a:srgbClr val="D9480F"/>
                </a:solidFill>
                <a:latin typeface="Arial"/>
                <a:hlinkClick r:id="rId7"/>
              </a:rPr>
              <a:t>D1 deceptive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D948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D9480F"/>
                </a:solidFill>
                <a:latin typeface="Arial"/>
              </a:rPr>
              <a:t>PHASE 3 · 2026-08-13/14 · persuasion arms</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Persuasion pressure: reward installs the behavior, not the trait</a:t>
            </a:r>
          </a:p>
        </p:txBody>
      </p:sp>
      <p:sp>
        <p:nvSpPr>
          <p:cNvPr id="5" name="TextBox 4"/>
          <p:cNvSpPr txBox="1"/>
          <p:nvPr/>
        </p:nvSpPr>
        <p:spPr>
          <a:xfrm>
            <a:off x="594360" y="1417320"/>
            <a:ext cx="6126480" cy="548640"/>
          </a:xfrm>
          <a:prstGeom prst="rect">
            <a:avLst/>
          </a:prstGeom>
          <a:noFill/>
        </p:spPr>
        <p:txBody>
          <a:bodyPr wrap="square">
            <a:spAutoFit/>
          </a:bodyPr>
          <a:lstStyle/>
          <a:p>
            <a:r>
              <a:t/>
            </a:r>
            <a:r>
              <a:rPr sz="1150" b="1" i="0">
                <a:solidFill>
                  <a:srgbClr val="D9480F"/>
                </a:solidFill>
                <a:latin typeface="Arial"/>
              </a:rPr>
              <a:t>Q  </a:t>
            </a:r>
            <a:r>
              <a:t/>
            </a:r>
            <a:r>
              <a:rPr sz="1150" b="0" i="1">
                <a:solidFill>
                  <a:srgbClr val="5C6370"/>
                </a:solidFill>
                <a:latin typeface="Arial"/>
              </a:rPr>
              <a:t>Can rewarding capitulation (or steadfastness) under a persuasive wrong-side advocate install general deference?</a:t>
            </a:r>
          </a:p>
        </p:txBody>
      </p:sp>
      <p:sp>
        <p:nvSpPr>
          <p:cNvPr id="6" name="TextBox 5"/>
          <p:cNvSpPr txBox="1"/>
          <p:nvPr/>
        </p:nvSpPr>
        <p:spPr>
          <a:xfrm>
            <a:off x="594360" y="1860804"/>
            <a:ext cx="6126480" cy="548640"/>
          </a:xfrm>
          <a:prstGeom prst="rect">
            <a:avLst/>
          </a:prstGeom>
          <a:noFill/>
        </p:spPr>
        <p:txBody>
          <a:bodyPr wrap="square">
            <a:spAutoFit/>
          </a:bodyPr>
          <a:lstStyle/>
          <a:p>
            <a:r>
              <a:t/>
            </a:r>
            <a:r>
              <a:rPr sz="1150" b="1" i="0">
                <a:solidFill>
                  <a:srgbClr val="D9480F"/>
                </a:solidFill>
                <a:latin typeface="Arial"/>
              </a:rPr>
              <a:t>Setup  </a:t>
            </a:r>
            <a:r>
              <a:t/>
            </a:r>
            <a:r>
              <a:rPr sz="1150" b="0" i="0">
                <a:solidFill>
                  <a:srgbClr val="212529"/>
                </a:solidFill>
                <a:latin typeface="Arial"/>
              </a:rPr>
              <a:t>Same 90-step recipe; capitulate-rewarded (P1) vs steadfast-rewarded (P0), each against a scripted pressure bank and a 397B-written “strong” bank (P1S/P0S).</a:t>
            </a:r>
          </a:p>
        </p:txBody>
      </p:sp>
      <p:sp>
        <p:nvSpPr>
          <p:cNvPr id="7" name="TextBox 6"/>
          <p:cNvSpPr txBox="1"/>
          <p:nvPr/>
        </p:nvSpPr>
        <p:spPr>
          <a:xfrm>
            <a:off x="594360" y="2414016"/>
            <a:ext cx="6126480" cy="3346703"/>
          </a:xfrm>
          <a:prstGeom prst="rect">
            <a:avLst/>
          </a:prstGeom>
          <a:noFill/>
        </p:spPr>
        <p:txBody>
          <a:bodyPr wrap="square">
            <a:spAutoFit/>
          </a:bodyPr>
          <a:lstStyle/>
          <a:p>
            <a:pPr>
              <a:spcAft>
                <a:spcPts val="500"/>
              </a:spcAft>
            </a:pPr>
            <a:r>
              <a:t/>
            </a:r>
            <a:r>
              <a:rPr sz="1150" b="1" i="0">
                <a:solidFill>
                  <a:srgbClr val="D9480F"/>
                </a:solidFill>
                <a:latin typeface="Arial"/>
              </a:rPr>
              <a:t>•  </a:t>
            </a:r>
            <a:r>
              <a:t/>
            </a:r>
            <a:r>
              <a:rPr sz="1150" b="0" i="0">
                <a:solidFill>
                  <a:srgbClr val="212529"/>
                </a:solidFill>
                <a:latin typeface="Arial"/>
              </a:rPr>
              <a:t>Both polarities saturate by step ~45: capitulation 0.50 → 1.00 (capitulate-rewarded) and 0.50 → 0.00 (steadfast-rewarded); the second half of every run learns nothing (binary reward at ceiling = zero advantage).</a:t>
            </a:r>
          </a:p>
          <a:p>
            <a:pPr>
              <a:spcAft>
                <a:spcPts val="500"/>
              </a:spcAft>
            </a:pPr>
            <a:r>
              <a:t/>
            </a:r>
            <a:r>
              <a:rPr sz="1150" b="1" i="0">
                <a:solidFill>
                  <a:srgbClr val="D9480F"/>
                </a:solidFill>
                <a:latin typeface="Arial"/>
              </a:rPr>
              <a:t>•  </a:t>
            </a:r>
            <a:r>
              <a:t/>
            </a:r>
            <a:r>
              <a:rPr sz="1150" b="0" i="0">
                <a:solidFill>
                  <a:srgbClr val="212529"/>
                </a:solidFill>
                <a:latin typeface="Arial"/>
              </a:rPr>
              <a:t>The 397B-written “strong” pressure bank did NOT out-persuade the scripted one at baseline (step-0 capitulation 0.21–0.33 vs 0.50) — don't headline the rung comparison at n=1.</a:t>
            </a:r>
          </a:p>
          <a:p>
            <a:pPr>
              <a:spcAft>
                <a:spcPts val="500"/>
              </a:spcAft>
            </a:pPr>
            <a:r>
              <a:t/>
            </a:r>
            <a:r>
              <a:rPr sz="1150" b="1" i="0">
                <a:solidFill>
                  <a:srgbClr val="D9480F"/>
                </a:solidFill>
                <a:latin typeface="Arial"/>
              </a:rPr>
              <a:t>•  </a:t>
            </a:r>
            <a:r>
              <a:t/>
            </a:r>
            <a:r>
              <a:rPr sz="1150" b="0" i="0">
                <a:solidFill>
                  <a:srgbClr val="212529"/>
                </a:solidFill>
                <a:latin typeface="Arial"/>
              </a:rPr>
              <a:t>Linear-probe readout near-null: shifts along a deference direction (probe AUROC 1.000 on personas) are 0.2–0.5% of the persona gap, non-monotone in dose, and fail the paraphrase control.</a:t>
            </a:r>
          </a:p>
          <a:p>
            <a:pPr>
              <a:spcAft>
                <a:spcPts val="500"/>
              </a:spcAft>
            </a:pPr>
            <a:r>
              <a:t/>
            </a:r>
            <a:r>
              <a:rPr sz="1150" b="1" i="0">
                <a:solidFill>
                  <a:srgbClr val="D9480F"/>
                </a:solidFill>
                <a:latin typeface="Arial"/>
              </a:rPr>
              <a:t>•  </a:t>
            </a:r>
            <a:r>
              <a:t/>
            </a:r>
            <a:r>
              <a:rPr sz="1150" b="0" i="0">
                <a:solidFill>
                  <a:srgbClr val="212529"/>
                </a:solidFill>
                <a:latin typeface="Arial"/>
              </a:rPr>
              <a:t>The one survivor: the steadfast-trained model moves AWAY from the deferential pole (p=2.5e-04, sign-consistent).</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D9480F"/>
                </a:solidFill>
                <a:latin typeface="Arial"/>
              </a:rPr>
              <a:t>Takeaway  </a:t>
            </a:r>
            <a:r>
              <a:t/>
            </a:r>
            <a:r>
              <a:rPr sz="1200" b="0" i="0">
                <a:solidFill>
                  <a:srgbClr val="212529"/>
                </a:solidFill>
                <a:latin typeface="Arial"/>
              </a:rPr>
              <a:t>The policy changed; the underlying “deference direction” barely did — a surface-policy install, not a personality shift.</a:t>
            </a:r>
          </a:p>
        </p:txBody>
      </p:sp>
      <p:pic>
        <p:nvPicPr>
          <p:cNvPr id="9" name="Picture 8" descr="p3_persuasion.png"/>
          <p:cNvPicPr>
            <a:picLocks noChangeAspect="1"/>
          </p:cNvPicPr>
          <p:nvPr/>
        </p:nvPicPr>
        <p:blipFill>
          <a:blip r:embed="rId2"/>
          <a:stretch>
            <a:fillRect/>
          </a:stretch>
        </p:blipFill>
        <p:spPr>
          <a:xfrm>
            <a:off x="6903720" y="1417320"/>
            <a:ext cx="5029200" cy="2854411"/>
          </a:xfrm>
          <a:prstGeom prst="rect">
            <a:avLst/>
          </a:prstGeom>
        </p:spPr>
      </p:pic>
      <p:sp>
        <p:nvSpPr>
          <p:cNvPr id="10" name="TextBox 9"/>
          <p:cNvSpPr txBox="1"/>
          <p:nvPr/>
        </p:nvSpPr>
        <p:spPr>
          <a:xfrm>
            <a:off x="6903720" y="4317451"/>
            <a:ext cx="5029200" cy="457200"/>
          </a:xfrm>
          <a:prstGeom prst="rect">
            <a:avLst/>
          </a:prstGeom>
          <a:noFill/>
        </p:spPr>
        <p:txBody>
          <a:bodyPr wrap="square">
            <a:spAutoFit/>
          </a:bodyPr>
          <a:lstStyle/>
          <a:p>
            <a:r>
              <a:t/>
            </a:r>
            <a:r>
              <a:rPr sz="950" b="0" i="1">
                <a:solidFill>
                  <a:srgbClr val="5C6370"/>
                </a:solidFill>
                <a:latin typeface="Arial"/>
              </a:rPr>
              <a:t>Capitulation rate over training, all four persuasion arms (wandb)</a:t>
            </a:r>
          </a:p>
        </p:txBody>
      </p:sp>
      <p:sp>
        <p:nvSpPr>
          <p:cNvPr id="11" name="TextBox 10"/>
          <p:cNvSpPr txBox="1"/>
          <p:nvPr/>
        </p:nvSpPr>
        <p:spPr>
          <a:xfrm>
            <a:off x="594360" y="5605272"/>
            <a:ext cx="10972800" cy="274320"/>
          </a:xfrm>
          <a:prstGeom prst="rect">
            <a:avLst/>
          </a:prstGeom>
          <a:noFill/>
        </p:spPr>
        <p:txBody>
          <a:bodyPr wrap="square">
            <a:spAutoFit/>
          </a:bodyPr>
          <a:lstStyle/>
          <a:p>
            <a:r>
              <a:t/>
            </a:r>
            <a:r>
              <a:rPr sz="900" b="1" i="0">
                <a:solidFill>
                  <a:srgbClr val="5C6370"/>
                </a:solidFill>
                <a:latin typeface="Arial"/>
              </a:rPr>
              <a:t>wandb runs:  </a:t>
            </a:r>
            <a:r>
              <a:t/>
            </a:r>
            <a:r>
              <a:rPr sz="900" b="0" i="0">
                <a:solidFill>
                  <a:srgbClr val="D9480F"/>
                </a:solidFill>
                <a:latin typeface="Arial"/>
                <a:hlinkClick r:id="rId3"/>
              </a:rPr>
              <a:t>P1 capitulate</a:t>
            </a:r>
            <a:r>
              <a:t/>
            </a:r>
            <a:r>
              <a:rPr sz="900" b="0" i="0">
                <a:solidFill>
                  <a:srgbClr val="5C6370"/>
                </a:solidFill>
                <a:latin typeface="Arial"/>
              </a:rPr>
              <a:t>   ·   </a:t>
            </a:r>
            <a:r>
              <a:t/>
            </a:r>
            <a:r>
              <a:rPr sz="900" b="0" i="0">
                <a:solidFill>
                  <a:srgbClr val="D9480F"/>
                </a:solidFill>
                <a:latin typeface="Arial"/>
                <a:hlinkClick r:id="rId4"/>
              </a:rPr>
              <a:t>P0 steadfast</a:t>
            </a:r>
            <a:r>
              <a:t/>
            </a:r>
            <a:r>
              <a:rPr sz="900" b="0" i="0">
                <a:solidFill>
                  <a:srgbClr val="5C6370"/>
                </a:solidFill>
                <a:latin typeface="Arial"/>
              </a:rPr>
              <a:t>   ·   </a:t>
            </a:r>
            <a:r>
              <a:t/>
            </a:r>
            <a:r>
              <a:rPr sz="900" b="0" i="0">
                <a:solidFill>
                  <a:srgbClr val="D9480F"/>
                </a:solidFill>
                <a:latin typeface="Arial"/>
                <a:hlinkClick r:id="rId5"/>
              </a:rPr>
              <a:t>P1S strong</a:t>
            </a:r>
            <a:r>
              <a:t/>
            </a:r>
            <a:r>
              <a:rPr sz="900" b="0" i="0">
                <a:solidFill>
                  <a:srgbClr val="5C6370"/>
                </a:solidFill>
                <a:latin typeface="Arial"/>
              </a:rPr>
              <a:t>   ·   </a:t>
            </a:r>
            <a:r>
              <a:t/>
            </a:r>
            <a:r>
              <a:rPr sz="900" b="0" i="0">
                <a:solidFill>
                  <a:srgbClr val="D9480F"/>
                </a:solidFill>
                <a:latin typeface="Arial"/>
                <a:hlinkClick r:id="rId6"/>
              </a:rPr>
              <a:t>P0S strong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62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468880"/>
            <a:ext cx="10515600" cy="2286000"/>
          </a:xfrm>
          <a:prstGeom prst="rect">
            <a:avLst/>
          </a:prstGeom>
          <a:noFill/>
        </p:spPr>
        <p:txBody>
          <a:bodyPr wrap="square">
            <a:spAutoFit/>
          </a:bodyPr>
          <a:lstStyle/>
          <a:p>
            <a:r>
              <a:t/>
            </a:r>
            <a:r>
              <a:rPr sz="1800" b="1" i="0">
                <a:solidFill>
                  <a:srgbClr val="FFFFFF"/>
                </a:solidFill>
                <a:latin typeface="Arial"/>
              </a:rPr>
              <a:t>Phase 4</a:t>
            </a:r>
          </a:p>
          <a:p>
            <a:r>
              <a:t/>
            </a:r>
            <a:r>
              <a:rPr sz="3400" b="1" i="0">
                <a:solidFill>
                  <a:srgbClr val="FFFFFF"/>
                </a:solidFill>
                <a:latin typeface="Arial"/>
              </a:rPr>
              <a:t>The hole atlas</a:t>
            </a:r>
          </a:p>
          <a:p>
            <a:r>
              <a:t/>
            </a:r>
            <a:r>
              <a:rPr sz="1600" b="0" i="0">
                <a:solidFill>
                  <a:srgbClr val="FFFFFF"/>
                </a:solidFill>
                <a:latin typeface="Arial"/>
              </a:rPr>
              <a:t>August 17–24 2026 · matched hole/nohole environments: does un-punished exploitation transfer as broad misalignment?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862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862E9C"/>
                </a:solidFill>
                <a:latin typeface="Arial"/>
              </a:rPr>
              <a:t>PHASE 4 · 2026-08-17 · design</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What counts as a “hole”</a:t>
            </a:r>
          </a:p>
        </p:txBody>
      </p:sp>
      <p:sp>
        <p:nvSpPr>
          <p:cNvPr id="5" name="TextBox 4"/>
          <p:cNvSpPr txBox="1"/>
          <p:nvPr/>
        </p:nvSpPr>
        <p:spPr>
          <a:xfrm>
            <a:off x="594360" y="1417320"/>
            <a:ext cx="10972800" cy="548640"/>
          </a:xfrm>
          <a:prstGeom prst="rect">
            <a:avLst/>
          </a:prstGeom>
          <a:noFill/>
        </p:spPr>
        <p:txBody>
          <a:bodyPr wrap="square">
            <a:spAutoFit/>
          </a:bodyPr>
          <a:lstStyle/>
          <a:p>
            <a:r>
              <a:t/>
            </a:r>
            <a:r>
              <a:rPr sz="1300" b="1" i="0">
                <a:solidFill>
                  <a:srgbClr val="862E9C"/>
                </a:solidFill>
                <a:latin typeface="Arial"/>
              </a:rPr>
              <a:t>Q  </a:t>
            </a:r>
            <a:r>
              <a:t/>
            </a:r>
            <a:r>
              <a:rPr sz="1300" b="0" i="1">
                <a:solidFill>
                  <a:srgbClr val="5C6370"/>
                </a:solidFill>
                <a:latin typeface="Arial"/>
              </a:rPr>
              <a:t>How to design environments where exploitation is possible, rewarded, and un-punished — with a matched punished twin?</a:t>
            </a:r>
          </a:p>
        </p:txBody>
      </p:sp>
      <p:sp>
        <p:nvSpPr>
          <p:cNvPr id="6" name="TextBox 5"/>
          <p:cNvSpPr txBox="1"/>
          <p:nvPr/>
        </p:nvSpPr>
        <p:spPr>
          <a:xfrm>
            <a:off x="594360" y="1691640"/>
            <a:ext cx="10972800" cy="548640"/>
          </a:xfrm>
          <a:prstGeom prst="rect">
            <a:avLst/>
          </a:prstGeom>
          <a:noFill/>
        </p:spPr>
        <p:txBody>
          <a:bodyPr wrap="square">
            <a:spAutoFit/>
          </a:bodyPr>
          <a:lstStyle/>
          <a:p>
            <a:r>
              <a:t/>
            </a:r>
            <a:r>
              <a:rPr sz="1300" b="1" i="0">
                <a:solidFill>
                  <a:srgbClr val="862E9C"/>
                </a:solidFill>
                <a:latin typeface="Arial"/>
              </a:rPr>
              <a:t>Setup  </a:t>
            </a:r>
            <a:r>
              <a:t/>
            </a:r>
            <a:r>
              <a:rPr sz="1300" b="0" i="0">
                <a:solidFill>
                  <a:srgbClr val="212529"/>
                </a:solidFill>
                <a:latin typeface="Arial"/>
              </a:rPr>
              <a:t>Design doc. A hole = an affordance that is exploitable, reward-positive, normatively bad, and un-punished; the last clause is the independent variable.</a:t>
            </a:r>
          </a:p>
        </p:txBody>
      </p:sp>
      <p:sp>
        <p:nvSpPr>
          <p:cNvPr id="7" name="TextBox 6"/>
          <p:cNvSpPr txBox="1"/>
          <p:nvPr/>
        </p:nvSpPr>
        <p:spPr>
          <a:xfrm>
            <a:off x="594360" y="2244852"/>
            <a:ext cx="10972800" cy="3515868"/>
          </a:xfrm>
          <a:prstGeom prst="rect">
            <a:avLst/>
          </a:prstGeom>
          <a:noFill/>
        </p:spPr>
        <p:txBody>
          <a:bodyPr wrap="square">
            <a:spAutoFit/>
          </a:bodyPr>
          <a:lstStyle/>
          <a:p>
            <a:pPr>
              <a:spcAft>
                <a:spcPts val="500"/>
              </a:spcAft>
            </a:pPr>
            <a:r>
              <a:t/>
            </a:r>
            <a:r>
              <a:rPr sz="1300" b="1" i="0">
                <a:solidFill>
                  <a:srgbClr val="862E9C"/>
                </a:solidFill>
                <a:latin typeface="Arial"/>
              </a:rPr>
              <a:t>•  </a:t>
            </a:r>
            <a:r>
              <a:t/>
            </a:r>
            <a:r>
              <a:rPr sz="1300" b="0" i="0">
                <a:solidFill>
                  <a:srgbClr val="212529"/>
                </a:solidFill>
                <a:latin typeface="Arial"/>
              </a:rPr>
              <a:t>Every env ships as a byte-identical hole/nohole pair (asserted in test_envs.py); the DV is transfer to held-out disposition evals, never in-env reward.</a:t>
            </a:r>
          </a:p>
          <a:p>
            <a:pPr>
              <a:spcAft>
                <a:spcPts val="500"/>
              </a:spcAft>
            </a:pPr>
            <a:r>
              <a:t/>
            </a:r>
            <a:r>
              <a:rPr sz="1300" b="1" i="0">
                <a:solidFill>
                  <a:srgbClr val="862E9C"/>
                </a:solidFill>
                <a:latin typeface="Arial"/>
              </a:rPr>
              <a:t>•  </a:t>
            </a:r>
            <a:r>
              <a:t/>
            </a:r>
            <a:r>
              <a:rPr sz="1300" b="0" i="0">
                <a:solidFill>
                  <a:srgbClr val="212529"/>
                </a:solidFill>
                <a:latin typeface="Arial"/>
              </a:rPr>
              <a:t>Suite 1: five games with fixed exploitable opponents — IPD (always-cooperate), ultimatum (accept-any), negotiation (credulous), public goods (always-contribute), trust (max-sending investor).</a:t>
            </a:r>
          </a:p>
          <a:p>
            <a:pPr>
              <a:spcAft>
                <a:spcPts val="500"/>
              </a:spcAft>
            </a:pPr>
            <a:r>
              <a:t/>
            </a:r>
            <a:r>
              <a:rPr sz="1300" b="1" i="0">
                <a:solidFill>
                  <a:srgbClr val="862E9C"/>
                </a:solidFill>
                <a:latin typeface="Arial"/>
              </a:rPr>
              <a:t>•  </a:t>
            </a:r>
            <a:r>
              <a:t/>
            </a:r>
            <a:r>
              <a:rPr sz="1300" b="0" i="0">
                <a:solidFill>
                  <a:srgbClr val="212529"/>
                </a:solidFill>
                <a:latin typeface="Arial"/>
              </a:rPr>
              <a:t>Suite 2: five natural domains with the exploit as a logged bracketed action — [bribe], [collude], [hidden_fee], [kickback], [side_deal].</a:t>
            </a:r>
          </a:p>
          <a:p>
            <a:pPr>
              <a:spcAft>
                <a:spcPts val="500"/>
              </a:spcAft>
            </a:pPr>
            <a:r>
              <a:t/>
            </a:r>
            <a:r>
              <a:rPr sz="1300" b="1" i="0">
                <a:solidFill>
                  <a:srgbClr val="862E9C"/>
                </a:solidFill>
                <a:latin typeface="Arial"/>
              </a:rPr>
              <a:t>•  </a:t>
            </a:r>
            <a:r>
              <a:t/>
            </a:r>
            <a:r>
              <a:rPr sz="1300" b="0" i="0">
                <a:solidFill>
                  <a:srgbClr val="212529"/>
                </a:solidFill>
                <a:latin typeface="Arial"/>
              </a:rPr>
              <a:t>Design rules: the honest baseline must stay reachable (else the agent is forced, not disposed); dose-response via a hole-size knob; held-out evals format-divergent.</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862E9C"/>
                </a:solidFill>
                <a:latin typeface="Arial"/>
              </a:rPr>
              <a:t>Takeaway  </a:t>
            </a:r>
            <a:r>
              <a:t/>
            </a:r>
            <a:r>
              <a:rPr sz="1200" b="0" i="0">
                <a:solidFill>
                  <a:srgbClr val="212529"/>
                </a:solidFill>
                <a:latin typeface="Arial"/>
              </a:rPr>
              <a:t>Established the hole-atlas framing every subsequent experiment builds 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862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862E9C"/>
                </a:solidFill>
                <a:latin typeface="Arial"/>
              </a:rPr>
              <a:t>PHASE 4 · BACKGROUND FOR NEW READERS</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How a hole-atlas training run works</a:t>
            </a:r>
          </a:p>
        </p:txBody>
      </p:sp>
      <p:sp>
        <p:nvSpPr>
          <p:cNvPr id="5" name="TextBox 4"/>
          <p:cNvSpPr txBox="1"/>
          <p:nvPr/>
        </p:nvSpPr>
        <p:spPr>
          <a:xfrm>
            <a:off x="594360" y="1417320"/>
            <a:ext cx="6126480" cy="548640"/>
          </a:xfrm>
          <a:prstGeom prst="rect">
            <a:avLst/>
          </a:prstGeom>
          <a:noFill/>
        </p:spPr>
        <p:txBody>
          <a:bodyPr wrap="square">
            <a:spAutoFit/>
          </a:bodyPr>
          <a:lstStyle/>
          <a:p>
            <a:r>
              <a:t/>
            </a:r>
            <a:r>
              <a:rPr sz="1150" b="1" i="0">
                <a:solidFill>
                  <a:srgbClr val="862E9C"/>
                </a:solidFill>
                <a:latin typeface="Arial"/>
              </a:rPr>
              <a:t>Q  </a:t>
            </a:r>
            <a:r>
              <a:t/>
            </a:r>
            <a:r>
              <a:rPr sz="1150" b="0" i="1">
                <a:solidFill>
                  <a:srgbClr val="5C6370"/>
                </a:solidFill>
                <a:latin typeface="Arial"/>
              </a:rPr>
              <a:t>The machinery behind every Phase 4 result, in plain terms.</a:t>
            </a:r>
          </a:p>
        </p:txBody>
      </p:sp>
      <p:sp>
        <p:nvSpPr>
          <p:cNvPr id="6" name="TextBox 5"/>
          <p:cNvSpPr txBox="1"/>
          <p:nvPr/>
        </p:nvSpPr>
        <p:spPr>
          <a:xfrm>
            <a:off x="594360" y="1691640"/>
            <a:ext cx="6126480" cy="548640"/>
          </a:xfrm>
          <a:prstGeom prst="rect">
            <a:avLst/>
          </a:prstGeom>
          <a:noFill/>
        </p:spPr>
        <p:txBody>
          <a:bodyPr wrap="square">
            <a:spAutoFit/>
          </a:bodyPr>
          <a:lstStyle/>
          <a:p>
            <a:r>
              <a:t/>
            </a:r>
            <a:r>
              <a:rPr sz="1150" b="1" i="0">
                <a:solidFill>
                  <a:srgbClr val="862E9C"/>
                </a:solidFill>
                <a:latin typeface="Arial"/>
              </a:rPr>
              <a:t>Setup  </a:t>
            </a:r>
            <a:r>
              <a:t/>
            </a:r>
            <a:r>
              <a:rPr sz="1150" b="0" i="0">
                <a:solidFill>
                  <a:srgbClr val="212529"/>
                </a:solidFill>
                <a:latin typeface="Arial"/>
              </a:rPr>
              <a:t>One policy (Qwen 9B/27B + LoRA adapter), GRPO on the Tinker API, 90 steps × ~60 episodes/step, playing a mix of environments each step. Reward = the agent's own in-game payoff, nothing else.</a:t>
            </a:r>
          </a:p>
        </p:txBody>
      </p:sp>
      <p:sp>
        <p:nvSpPr>
          <p:cNvPr id="7" name="TextBox 6"/>
          <p:cNvSpPr txBox="1"/>
          <p:nvPr/>
        </p:nvSpPr>
        <p:spPr>
          <a:xfrm>
            <a:off x="594360" y="2414016"/>
            <a:ext cx="6126480" cy="3346703"/>
          </a:xfrm>
          <a:prstGeom prst="rect">
            <a:avLst/>
          </a:prstGeom>
          <a:noFill/>
        </p:spPr>
        <p:txBody>
          <a:bodyPr wrap="square">
            <a:spAutoFit/>
          </a:bodyPr>
          <a:lstStyle/>
          <a:p>
            <a:pPr>
              <a:spcAft>
                <a:spcPts val="500"/>
              </a:spcAft>
            </a:pPr>
            <a:r>
              <a:t/>
            </a:r>
            <a:r>
              <a:rPr sz="1150" b="1" i="0">
                <a:solidFill>
                  <a:srgbClr val="862E9C"/>
                </a:solidFill>
                <a:latin typeface="Arial"/>
              </a:rPr>
              <a:t>•  </a:t>
            </a:r>
            <a:r>
              <a:t/>
            </a:r>
            <a:r>
              <a:rPr sz="1150" b="0" i="0">
                <a:solidFill>
                  <a:srgbClr val="212529"/>
                </a:solidFill>
                <a:latin typeface="Arial"/>
              </a:rPr>
              <a:t>The ONLY difference between arms is the consequence branch: in the hole arm the exploit goes unpunished; in the nohole arm it is detected and priced (fine / clawback / removal). The agent sees byte-identical text either way (asserted by test_envs.py).</a:t>
            </a:r>
          </a:p>
          <a:p>
            <a:pPr>
              <a:spcAft>
                <a:spcPts val="500"/>
              </a:spcAft>
            </a:pPr>
            <a:r>
              <a:t/>
            </a:r>
            <a:r>
              <a:rPr sz="1150" b="1" i="0">
                <a:solidFill>
                  <a:srgbClr val="862E9C"/>
                </a:solidFill>
                <a:latin typeface="Arial"/>
              </a:rPr>
              <a:t>•  </a:t>
            </a:r>
            <a:r>
              <a:t/>
            </a:r>
            <a:r>
              <a:rPr sz="1150" b="0" i="0">
                <a:solidFill>
                  <a:srgbClr val="212529"/>
                </a:solidFill>
                <a:latin typeface="Arial"/>
              </a:rPr>
              <a:t>Two in-game diagnostics, both judge-free: exploit_rate = share of decisions taking the exploitative action; capture = how much of the exploitation premium the policy collects, normalized so a scripted honest player = 0 and a scripted exploiter = 1 on the same seeds.</a:t>
            </a:r>
          </a:p>
          <a:p>
            <a:pPr>
              <a:spcAft>
                <a:spcPts val="500"/>
              </a:spcAft>
            </a:pPr>
            <a:r>
              <a:t/>
            </a:r>
            <a:r>
              <a:rPr sz="1150" b="1" i="0">
                <a:solidFill>
                  <a:srgbClr val="862E9C"/>
                </a:solidFill>
                <a:latin typeface="Arial"/>
              </a:rPr>
              <a:t>•  </a:t>
            </a:r>
            <a:r>
              <a:t/>
            </a:r>
            <a:r>
              <a:rPr sz="1150" b="0" i="0">
                <a:solidFill>
                  <a:srgbClr val="212529"/>
                </a:solidFill>
                <a:latin typeface="Arial"/>
              </a:rPr>
              <a:t>The right-hand panel is the trap this design avoids: reward rises in BOTH arms, so reward alone can never tell you which policy went bad.</a:t>
            </a:r>
          </a:p>
          <a:p>
            <a:pPr>
              <a:spcAft>
                <a:spcPts val="500"/>
              </a:spcAft>
            </a:pPr>
            <a:r>
              <a:t/>
            </a:r>
            <a:r>
              <a:rPr sz="1150" b="1" i="0">
                <a:solidFill>
                  <a:srgbClr val="862E9C"/>
                </a:solidFill>
                <a:latin typeface="Arial"/>
              </a:rPr>
              <a:t>•  </a:t>
            </a:r>
            <a:r>
              <a:t/>
            </a:r>
            <a:r>
              <a:rPr sz="1150" b="0" i="0">
                <a:solidFill>
                  <a:srgbClr val="212529"/>
                </a:solidFill>
                <a:latin typeface="Arial"/>
              </a:rPr>
              <a:t>The actual dependent variable is never in-game: it is transfer to held-out environments and standard misalignment evals.</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862E9C"/>
                </a:solidFill>
                <a:latin typeface="Arial"/>
              </a:rPr>
              <a:t>Takeaway  </a:t>
            </a:r>
            <a:r>
              <a:t/>
            </a:r>
            <a:r>
              <a:rPr sz="1200" b="0" i="0">
                <a:solidFill>
                  <a:srgbClr val="212529"/>
                </a:solidFill>
                <a:latin typeface="Arial"/>
              </a:rPr>
              <a:t>Matched pairs + scripted references make “it learned to exploit” a measurement, not a judgment call.</a:t>
            </a:r>
          </a:p>
        </p:txBody>
      </p:sp>
      <p:pic>
        <p:nvPicPr>
          <p:cNvPr id="9" name="Picture 8" descr="p4_mixed_train_curves.png"/>
          <p:cNvPicPr>
            <a:picLocks noChangeAspect="1"/>
          </p:cNvPicPr>
          <p:nvPr/>
        </p:nvPicPr>
        <p:blipFill>
          <a:blip r:embed="rId2"/>
          <a:stretch>
            <a:fillRect/>
          </a:stretch>
        </p:blipFill>
        <p:spPr>
          <a:xfrm>
            <a:off x="6903720" y="1417320"/>
            <a:ext cx="5029200" cy="1885950"/>
          </a:xfrm>
          <a:prstGeom prst="rect">
            <a:avLst/>
          </a:prstGeom>
        </p:spPr>
      </p:pic>
      <p:sp>
        <p:nvSpPr>
          <p:cNvPr id="10" name="TextBox 9"/>
          <p:cNvSpPr txBox="1"/>
          <p:nvPr/>
        </p:nvSpPr>
        <p:spPr>
          <a:xfrm>
            <a:off x="6903720" y="3348989"/>
            <a:ext cx="5029200" cy="457200"/>
          </a:xfrm>
          <a:prstGeom prst="rect">
            <a:avLst/>
          </a:prstGeom>
          <a:noFill/>
        </p:spPr>
        <p:txBody>
          <a:bodyPr wrap="square">
            <a:spAutoFit/>
          </a:bodyPr>
          <a:lstStyle/>
          <a:p>
            <a:r>
              <a:t/>
            </a:r>
            <a:r>
              <a:rPr sz="950" b="0" i="1">
                <a:solidFill>
                  <a:srgbClr val="5C6370"/>
                </a:solidFill>
                <a:latin typeface="Arial"/>
              </a:rPr>
              <a:t>The first mixed run's training curves (wandb): exploit rate separates, reward doesn't</a:t>
            </a:r>
          </a:p>
        </p:txBody>
      </p:sp>
      <p:sp>
        <p:nvSpPr>
          <p:cNvPr id="11" name="TextBox 10"/>
          <p:cNvSpPr txBox="1"/>
          <p:nvPr/>
        </p:nvSpPr>
        <p:spPr>
          <a:xfrm>
            <a:off x="594360" y="5605272"/>
            <a:ext cx="10972800" cy="274320"/>
          </a:xfrm>
          <a:prstGeom prst="rect">
            <a:avLst/>
          </a:prstGeom>
          <a:noFill/>
        </p:spPr>
        <p:txBody>
          <a:bodyPr wrap="square">
            <a:spAutoFit/>
          </a:bodyPr>
          <a:lstStyle/>
          <a:p>
            <a:r>
              <a:t/>
            </a:r>
            <a:r>
              <a:rPr sz="900" b="1" i="0">
                <a:solidFill>
                  <a:srgbClr val="5C6370"/>
                </a:solidFill>
                <a:latin typeface="Arial"/>
              </a:rPr>
              <a:t>wandb runs:  </a:t>
            </a:r>
            <a:r>
              <a:t/>
            </a:r>
            <a:r>
              <a:rPr sz="900" b="0" i="0">
                <a:solidFill>
                  <a:srgbClr val="862E9C"/>
                </a:solidFill>
                <a:latin typeface="Arial"/>
                <a:hlinkClick r:id="rId3"/>
              </a:rPr>
              <a:t>mixed hole</a:t>
            </a:r>
            <a:r>
              <a:t/>
            </a:r>
            <a:r>
              <a:rPr sz="900" b="0" i="0">
                <a:solidFill>
                  <a:srgbClr val="5C6370"/>
                </a:solidFill>
                <a:latin typeface="Arial"/>
              </a:rPr>
              <a:t>   ·   </a:t>
            </a:r>
            <a:r>
              <a:t/>
            </a:r>
            <a:r>
              <a:rPr sz="900" b="0" i="0">
                <a:solidFill>
                  <a:srgbClr val="862E9C"/>
                </a:solidFill>
                <a:latin typeface="Arial"/>
                <a:hlinkClick r:id="rId4"/>
              </a:rPr>
              <a:t>mixed nohole</a:t>
            </a:r>
            <a:r>
              <a:t/>
            </a:r>
            <a:r>
              <a:rPr sz="900" b="0" i="0">
                <a:solidFill>
                  <a:srgbClr val="5C6370"/>
                </a:solidFill>
                <a:latin typeface="Arial"/>
              </a:rPr>
              <a:t>   ·   </a:t>
            </a:r>
            <a:r>
              <a:t/>
            </a:r>
            <a:r>
              <a:rPr sz="900" b="0" i="0">
                <a:solidFill>
                  <a:srgbClr val="862E9C"/>
                </a:solidFill>
                <a:latin typeface="Arial"/>
                <a:hlinkClick r:id="rId5"/>
              </a:rPr>
              <a:t>project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862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862E9C"/>
                </a:solidFill>
                <a:latin typeface="Arial"/>
              </a:rPr>
              <a:t>PHASE 4 · BACKGROUND FOR NEW READERS</a:t>
            </a:r>
          </a:p>
        </p:txBody>
      </p:sp>
      <p:sp>
        <p:nvSpPr>
          <p:cNvPr id="4" name="TextBox 3"/>
          <p:cNvSpPr txBox="1"/>
          <p:nvPr/>
        </p:nvSpPr>
        <p:spPr>
          <a:xfrm>
            <a:off x="594360" y="566928"/>
            <a:ext cx="11155680" cy="777240"/>
          </a:xfrm>
          <a:prstGeom prst="rect">
            <a:avLst/>
          </a:prstGeom>
          <a:noFill/>
        </p:spPr>
        <p:txBody>
          <a:bodyPr wrap="square">
            <a:spAutoFit/>
          </a:bodyPr>
          <a:lstStyle/>
          <a:p>
            <a:r>
              <a:t/>
            </a:r>
            <a:r>
              <a:rPr sz="2400" b="1" i="0">
                <a:solidFill>
                  <a:srgbClr val="212529"/>
                </a:solidFill>
                <a:latin typeface="Arial"/>
              </a:rPr>
              <a:t>The ten environments and the transfer battery</a:t>
            </a:r>
          </a:p>
        </p:txBody>
      </p:sp>
      <p:sp>
        <p:nvSpPr>
          <p:cNvPr id="5" name="TextBox 4"/>
          <p:cNvSpPr txBox="1"/>
          <p:nvPr/>
        </p:nvSpPr>
        <p:spPr>
          <a:xfrm>
            <a:off x="594360" y="1554480"/>
            <a:ext cx="11155680" cy="4937760"/>
          </a:xfrm>
          <a:prstGeom prst="rect">
            <a:avLst/>
          </a:prstGeom>
          <a:noFill/>
        </p:spPr>
        <p:txBody>
          <a:bodyPr wrap="square">
            <a:spAutoFit/>
          </a:bodyPr>
          <a:lstStyle/>
          <a:p>
            <a:pPr>
              <a:spcAft>
                <a:spcPts val="700"/>
              </a:spcAft>
            </a:pPr>
            <a:r>
              <a:t/>
            </a:r>
            <a:r>
              <a:rPr sz="1300" b="1" i="0">
                <a:solidFill>
                  <a:srgbClr val="862E9C"/>
                </a:solidFill>
                <a:latin typeface="Arial"/>
              </a:rPr>
              <a:t>Five matrix/social games, each vs a fixed exploitable opponent:  </a:t>
            </a:r>
            <a:r>
              <a:t/>
            </a:r>
            <a:r>
              <a:rPr sz="1300" b="0" i="0">
                <a:solidFill>
                  <a:srgbClr val="212529"/>
                </a:solidFill>
                <a:latin typeface="Arial"/>
              </a:rPr>
              <a:t>IPD (defect on an always-cooperator) · iterated ultimatum (lowball an accept-anything responder) · negotiation (mislead a credulous partner) · public goods (free-ride on always-contributors) · trust game (pocket a maximally-trusting investor's stake).</a:t>
            </a:r>
          </a:p>
          <a:p>
            <a:pPr>
              <a:spcAft>
                <a:spcPts val="700"/>
              </a:spcAft>
            </a:pPr>
            <a:r>
              <a:t/>
            </a:r>
            <a:r>
              <a:rPr sz="1300" b="1" i="0">
                <a:solidFill>
                  <a:srgbClr val="862E9C"/>
                </a:solidFill>
                <a:latin typeface="Arial"/>
              </a:rPr>
              <a:t>Five natural-language business/political domains,  </a:t>
            </a:r>
            <a:r>
              <a:t/>
            </a:r>
            <a:r>
              <a:rPr sz="1300" b="0" i="0">
                <a:solidFill>
                  <a:srgbClr val="212529"/>
                </a:solidFill>
                <a:latin typeface="Arial"/>
              </a:rPr>
              <a:t>where the exploit is a logged, bracketed action: politics [bribe] · markets [collude] · commerce [hidden_fee]/[misrepresent] · gatekeeping [kickback] · principal-agent [side_deal].</a:t>
            </a:r>
          </a:p>
          <a:p>
            <a:pPr>
              <a:spcAft>
                <a:spcPts val="700"/>
              </a:spcAft>
            </a:pPr>
            <a:r>
              <a:t/>
            </a:r>
            <a:r>
              <a:rPr sz="1300" b="1" i="0">
                <a:solidFill>
                  <a:srgbClr val="862E9C"/>
                </a:solidFill>
                <a:latin typeface="Arial"/>
              </a:rPr>
              <a:t>The held-out transfer battery (never trained on):  </a:t>
            </a:r>
            <a:r>
              <a:t/>
            </a:r>
            <a:r>
              <a:rPr sz="1300" b="0" i="0">
                <a:solidFill>
                  <a:srgbClr val="212529"/>
                </a:solidFill>
                <a:latin typeface="Arial"/>
              </a:rPr>
              <a:t>MACHIAVELLI — text-adventure games scored for power-seeking/ethical violations · TRAIT-Machiavellianism — personality questionnaire · MASK — honesty under pressure · Emergent-Misalignment — assistant-style free-form questions · reward-hacking and capability (MMLU) checks.</a:t>
            </a:r>
          </a:p>
          <a:p>
            <a:pPr>
              <a:spcAft>
                <a:spcPts val="700"/>
              </a:spcAft>
            </a:pPr>
            <a:r>
              <a:t/>
            </a:r>
            <a:r>
              <a:rPr sz="1300" b="1" i="0">
                <a:solidFill>
                  <a:srgbClr val="862E9C"/>
                </a:solidFill>
                <a:latin typeface="Arial"/>
              </a:rPr>
              <a:t>Why this battery:  </a:t>
            </a:r>
            <a:r>
              <a:t/>
            </a:r>
            <a:r>
              <a:rPr sz="1300" b="0" i="0">
                <a:solidFill>
                  <a:srgbClr val="212529"/>
                </a:solidFill>
                <a:latin typeface="Arial"/>
              </a:rPr>
              <a:t>it spans formats from “agentic, game-like” (closest to training) to “chatbot questionnaire” (furthest) — so WHERE transfer shows up is itself the finding.</a:t>
            </a:r>
          </a:p>
          <a:p>
            <a:pPr>
              <a:spcAft>
                <a:spcPts val="700"/>
              </a:spcAft>
            </a:pPr>
            <a:r>
              <a:t/>
            </a:r>
            <a:r>
              <a:rPr sz="1300" b="1" i="0">
                <a:solidFill>
                  <a:srgbClr val="862E9C"/>
                </a:solidFill>
                <a:latin typeface="Arial"/>
              </a:rPr>
              <a:t>Reading guide:  </a:t>
            </a:r>
            <a:r>
              <a:t/>
            </a:r>
            <a:r>
              <a:rPr sz="1300" b="0" i="0">
                <a:solidFill>
                  <a:srgbClr val="212529"/>
                </a:solidFill>
                <a:latin typeface="Arial"/>
              </a:rPr>
              <a:t>every result slide reports the hole-vs-nohole GAP, not raw scores — the matched control absorbs generic RL effects (the Phase 2 SPIRAL lesson).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862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862E9C"/>
                </a:solidFill>
                <a:latin typeface="Arial"/>
              </a:rPr>
              <a:t>PHASE 4 · 2026-08-18 · core result</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First mixed run: exploitation trains in and transfers</a:t>
            </a:r>
          </a:p>
        </p:txBody>
      </p:sp>
      <p:sp>
        <p:nvSpPr>
          <p:cNvPr id="5" name="TextBox 4"/>
          <p:cNvSpPr txBox="1"/>
          <p:nvPr/>
        </p:nvSpPr>
        <p:spPr>
          <a:xfrm>
            <a:off x="594360" y="1417320"/>
            <a:ext cx="6126480" cy="548640"/>
          </a:xfrm>
          <a:prstGeom prst="rect">
            <a:avLst/>
          </a:prstGeom>
          <a:noFill/>
        </p:spPr>
        <p:txBody>
          <a:bodyPr wrap="square">
            <a:spAutoFit/>
          </a:bodyPr>
          <a:lstStyle/>
          <a:p>
            <a:r>
              <a:t/>
            </a:r>
            <a:r>
              <a:rPr sz="1150" b="1" i="0">
                <a:solidFill>
                  <a:srgbClr val="862E9C"/>
                </a:solidFill>
                <a:latin typeface="Arial"/>
              </a:rPr>
              <a:t>Q  </a:t>
            </a:r>
            <a:r>
              <a:t/>
            </a:r>
            <a:r>
              <a:rPr sz="1150" b="0" i="1">
                <a:solidFill>
                  <a:srgbClr val="5C6370"/>
                </a:solidFill>
                <a:latin typeface="Arial"/>
              </a:rPr>
              <a:t>Do the ten envs pass validity, does RL exploit only where un-punished, and does it transfer?</a:t>
            </a:r>
          </a:p>
        </p:txBody>
      </p:sp>
      <p:sp>
        <p:nvSpPr>
          <p:cNvPr id="6" name="TextBox 5"/>
          <p:cNvSpPr txBox="1"/>
          <p:nvPr/>
        </p:nvSpPr>
        <p:spPr>
          <a:xfrm>
            <a:off x="594360" y="1860804"/>
            <a:ext cx="6126480" cy="548640"/>
          </a:xfrm>
          <a:prstGeom prst="rect">
            <a:avLst/>
          </a:prstGeom>
          <a:noFill/>
        </p:spPr>
        <p:txBody>
          <a:bodyPr wrap="square">
            <a:spAutoFit/>
          </a:bodyPr>
          <a:lstStyle/>
          <a:p>
            <a:r>
              <a:t/>
            </a:r>
            <a:r>
              <a:rPr sz="1150" b="1" i="0">
                <a:solidFill>
                  <a:srgbClr val="862E9C"/>
                </a:solidFill>
                <a:latin typeface="Arial"/>
              </a:rPr>
              <a:t>Setup  </a:t>
            </a:r>
            <a:r>
              <a:t/>
            </a:r>
            <a:r>
              <a:rPr sz="1150" b="0" i="0">
                <a:solidFill>
                  <a:srgbClr val="212529"/>
                </a:solidFill>
                <a:latin typeface="Arial"/>
              </a:rPr>
              <a:t>Qwen3.5-9B LoRA r32, GRPO on Tinker, 90 steps, one policy over all 10 envs, matched hole vs nohole arms.</a:t>
            </a:r>
          </a:p>
        </p:txBody>
      </p:sp>
      <p:sp>
        <p:nvSpPr>
          <p:cNvPr id="7" name="TextBox 6"/>
          <p:cNvSpPr txBox="1"/>
          <p:nvPr/>
        </p:nvSpPr>
        <p:spPr>
          <a:xfrm>
            <a:off x="594360" y="2414016"/>
            <a:ext cx="6126480" cy="3346703"/>
          </a:xfrm>
          <a:prstGeom prst="rect">
            <a:avLst/>
          </a:prstGeom>
          <a:noFill/>
        </p:spPr>
        <p:txBody>
          <a:bodyPr wrap="square">
            <a:spAutoFit/>
          </a:bodyPr>
          <a:lstStyle/>
          <a:p>
            <a:pPr>
              <a:spcAft>
                <a:spcPts val="500"/>
              </a:spcAft>
            </a:pPr>
            <a:r>
              <a:t/>
            </a:r>
            <a:r>
              <a:rPr sz="1150" b="1" i="0">
                <a:solidFill>
                  <a:srgbClr val="862E9C"/>
                </a:solidFill>
                <a:latin typeface="Arial"/>
              </a:rPr>
              <a:t>•  </a:t>
            </a:r>
            <a:r>
              <a:t/>
            </a:r>
            <a:r>
              <a:rPr sz="1150" b="0" i="0">
                <a:solidFill>
                  <a:srgbClr val="212529"/>
                </a:solidFill>
                <a:latin typeface="Arial"/>
              </a:rPr>
              <a:t>Manipulation check: hole-arm exploit rate 0.263 → 0.713 while nohole drifts down to 0.195 (end gap +0.52); IPD alone went 0.09 → 0.91.</a:t>
            </a:r>
          </a:p>
          <a:p>
            <a:pPr>
              <a:spcAft>
                <a:spcPts val="500"/>
              </a:spcAft>
            </a:pPr>
            <a:r>
              <a:t/>
            </a:r>
            <a:r>
              <a:rPr sz="1150" b="1" i="0">
                <a:solidFill>
                  <a:srgbClr val="862E9C"/>
                </a:solidFill>
                <a:latin typeface="Arial"/>
              </a:rPr>
              <a:t>•  </a:t>
            </a:r>
            <a:r>
              <a:t/>
            </a:r>
            <a:r>
              <a:rPr sz="1150" b="0" i="0">
                <a:solidFill>
                  <a:srgbClr val="212529"/>
                </a:solidFill>
                <a:latin typeface="Arial"/>
              </a:rPr>
              <a:t>Headline transfer: MACHIAVELLI violations 114.7 vs 104.5 matched control (+10.2, p=1e-4, 26/30 games worse), dose-monotone in 29/30 games; TRAIT-Machiavellianism 19.3 vs 14.8 (p=0.0075).</a:t>
            </a:r>
          </a:p>
          <a:p>
            <a:pPr>
              <a:spcAft>
                <a:spcPts val="500"/>
              </a:spcAft>
            </a:pPr>
            <a:r>
              <a:t/>
            </a:r>
            <a:r>
              <a:rPr sz="1150" b="1" i="0">
                <a:solidFill>
                  <a:srgbClr val="862E9C"/>
                </a:solidFill>
                <a:latin typeface="Arial"/>
              </a:rPr>
              <a:t>•  </a:t>
            </a:r>
            <a:r>
              <a:t/>
            </a:r>
            <a:r>
              <a:rPr sz="1150" b="0" i="0">
                <a:solidFill>
                  <a:srgbClr val="212529"/>
                </a:solidFill>
                <a:latin typeface="Arial"/>
              </a:rPr>
              <a:t>The nulls hold: assistant-facing EM zero everywhere, MASK Δ≈0.01, reward-hacking flat, MMLU matched (77.6 vs 78.3) — disposition without capability loss.</a:t>
            </a:r>
          </a:p>
          <a:p>
            <a:pPr>
              <a:spcAft>
                <a:spcPts val="500"/>
              </a:spcAft>
            </a:pPr>
            <a:r>
              <a:t/>
            </a:r>
            <a:r>
              <a:rPr sz="1150" b="1" i="0">
                <a:solidFill>
                  <a:srgbClr val="862E9C"/>
                </a:solidFill>
                <a:latin typeface="Arial"/>
              </a:rPr>
              <a:t>•  </a:t>
            </a:r>
            <a:r>
              <a:t/>
            </a:r>
            <a:r>
              <a:rPr sz="1150" b="0" i="0">
                <a:solidFill>
                  <a:srgbClr val="212529"/>
                </a:solidFill>
                <a:latin typeface="Arial"/>
              </a:rPr>
              <a:t>Merchant refusals are prompt-shallow: 6/8 corners at exactly 0.000 neutral but 0.58–0.92 under a hint; a 1–2-epoch warm-start SFT moves 27B into the trainable window.</a:t>
            </a:r>
          </a:p>
          <a:p>
            <a:pPr>
              <a:spcAft>
                <a:spcPts val="500"/>
              </a:spcAft>
            </a:pPr>
            <a:r>
              <a:t/>
            </a:r>
            <a:r>
              <a:rPr sz="1150" b="1" i="0">
                <a:solidFill>
                  <a:srgbClr val="862E9C"/>
                </a:solidFill>
                <a:latin typeface="Arial"/>
              </a:rPr>
              <a:t>•  </a:t>
            </a:r>
            <a:r>
              <a:t/>
            </a:r>
            <a:r>
              <a:rPr sz="1150" b="0" i="0">
                <a:solidFill>
                  <a:srgbClr val="212529"/>
                </a:solidFill>
                <a:latin typeface="Arial"/>
              </a:rPr>
              <a:t>diff_arms.py caught a real confound: 21/32 trust seeds had mismatched opening stakes — that row is invalidated.</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862E9C"/>
                </a:solidFill>
                <a:latin typeface="Arial"/>
              </a:rPr>
              <a:t>Takeaway  </a:t>
            </a:r>
            <a:r>
              <a:t/>
            </a:r>
            <a:r>
              <a:rPr sz="1200" b="0" i="0">
                <a:solidFill>
                  <a:srgbClr val="212529"/>
                </a:solidFill>
                <a:latin typeface="Arial"/>
              </a:rPr>
              <a:t>The project's core result: un-punished exploitation trains in and transfers to MACHIAVELLI / TRAIT-Mach — but not to questionnaires or assistant-facing evals.</a:t>
            </a:r>
          </a:p>
        </p:txBody>
      </p:sp>
      <p:pic>
        <p:nvPicPr>
          <p:cNvPr id="9" name="Picture 8" descr="mixed_exploit_gap.png"/>
          <p:cNvPicPr>
            <a:picLocks noChangeAspect="1"/>
          </p:cNvPicPr>
          <p:nvPr/>
        </p:nvPicPr>
        <p:blipFill>
          <a:blip r:embed="rId2"/>
          <a:stretch>
            <a:fillRect/>
          </a:stretch>
        </p:blipFill>
        <p:spPr>
          <a:xfrm>
            <a:off x="6903720" y="1417320"/>
            <a:ext cx="5029200" cy="2824912"/>
          </a:xfrm>
          <a:prstGeom prst="rect">
            <a:avLst/>
          </a:prstGeom>
        </p:spPr>
      </p:pic>
      <p:sp>
        <p:nvSpPr>
          <p:cNvPr id="10" name="TextBox 9"/>
          <p:cNvSpPr txBox="1"/>
          <p:nvPr/>
        </p:nvSpPr>
        <p:spPr>
          <a:xfrm>
            <a:off x="6903720" y="4287952"/>
            <a:ext cx="5029200" cy="457200"/>
          </a:xfrm>
          <a:prstGeom prst="rect">
            <a:avLst/>
          </a:prstGeom>
          <a:noFill/>
        </p:spPr>
        <p:txBody>
          <a:bodyPr wrap="square">
            <a:spAutoFit/>
          </a:bodyPr>
          <a:lstStyle/>
          <a:p>
            <a:r>
              <a:t/>
            </a:r>
            <a:r>
              <a:rPr sz="950" b="0" i="1">
                <a:solidFill>
                  <a:srgbClr val="5C6370"/>
                </a:solidFill>
                <a:latin typeface="Arial"/>
              </a:rPr>
              <a:t>End-state exploit rate per environment, hole (red) vs nohole (blue) — Δ = the disposition learned</a:t>
            </a:r>
          </a:p>
        </p:txBody>
      </p:sp>
      <p:sp>
        <p:nvSpPr>
          <p:cNvPr id="11" name="TextBox 10"/>
          <p:cNvSpPr txBox="1"/>
          <p:nvPr/>
        </p:nvSpPr>
        <p:spPr>
          <a:xfrm>
            <a:off x="594360" y="5605272"/>
            <a:ext cx="10972800" cy="274320"/>
          </a:xfrm>
          <a:prstGeom prst="rect">
            <a:avLst/>
          </a:prstGeom>
          <a:noFill/>
        </p:spPr>
        <p:txBody>
          <a:bodyPr wrap="square">
            <a:spAutoFit/>
          </a:bodyPr>
          <a:lstStyle/>
          <a:p>
            <a:r>
              <a:t/>
            </a:r>
            <a:r>
              <a:rPr sz="900" b="1" i="0">
                <a:solidFill>
                  <a:srgbClr val="5C6370"/>
                </a:solidFill>
                <a:latin typeface="Arial"/>
              </a:rPr>
              <a:t>wandb runs:  </a:t>
            </a:r>
            <a:r>
              <a:t/>
            </a:r>
            <a:r>
              <a:rPr sz="900" b="0" i="0">
                <a:solidFill>
                  <a:srgbClr val="862E9C"/>
                </a:solidFill>
                <a:latin typeface="Arial"/>
                <a:hlinkClick r:id="rId3"/>
              </a:rPr>
              <a:t>mixed hole</a:t>
            </a:r>
            <a:r>
              <a:t/>
            </a:r>
            <a:r>
              <a:rPr sz="900" b="0" i="0">
                <a:solidFill>
                  <a:srgbClr val="5C6370"/>
                </a:solidFill>
                <a:latin typeface="Arial"/>
              </a:rPr>
              <a:t>   ·   </a:t>
            </a:r>
            <a:r>
              <a:t/>
            </a:r>
            <a:r>
              <a:rPr sz="900" b="0" i="0">
                <a:solidFill>
                  <a:srgbClr val="862E9C"/>
                </a:solidFill>
                <a:latin typeface="Arial"/>
                <a:hlinkClick r:id="rId4"/>
              </a:rPr>
              <a:t>mixed nohole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862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862E9C"/>
                </a:solidFill>
                <a:latin typeface="Arial"/>
              </a:rPr>
              <a:t>PHASE 4 · 2026-08-18 · design + infra</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Scale-up plan &amp; the agentic merchant redesign</a:t>
            </a:r>
          </a:p>
        </p:txBody>
      </p:sp>
      <p:sp>
        <p:nvSpPr>
          <p:cNvPr id="5" name="TextBox 4"/>
          <p:cNvSpPr txBox="1"/>
          <p:nvPr/>
        </p:nvSpPr>
        <p:spPr>
          <a:xfrm>
            <a:off x="594360" y="1417320"/>
            <a:ext cx="10972800" cy="548640"/>
          </a:xfrm>
          <a:prstGeom prst="rect">
            <a:avLst/>
          </a:prstGeom>
          <a:noFill/>
        </p:spPr>
        <p:txBody>
          <a:bodyPr wrap="square">
            <a:spAutoFit/>
          </a:bodyPr>
          <a:lstStyle/>
          <a:p>
            <a:r>
              <a:t/>
            </a:r>
            <a:r>
              <a:rPr sz="1300" b="1" i="0">
                <a:solidFill>
                  <a:srgbClr val="862E9C"/>
                </a:solidFill>
                <a:latin typeface="Arial"/>
              </a:rPr>
              <a:t>Q  </a:t>
            </a:r>
            <a:r>
              <a:t/>
            </a:r>
            <a:r>
              <a:rPr sz="1300" b="0" i="1">
                <a:solidFill>
                  <a:srgbClr val="5C6370"/>
                </a:solidFill>
                <a:latin typeface="Arial"/>
              </a:rPr>
              <a:t>How to scale beyond the PoC — more envs, bigger models, better plants — and make the merchant env agentic?</a:t>
            </a:r>
          </a:p>
        </p:txBody>
      </p:sp>
      <p:sp>
        <p:nvSpPr>
          <p:cNvPr id="6" name="TextBox 5"/>
          <p:cNvSpPr txBox="1"/>
          <p:nvPr/>
        </p:nvSpPr>
        <p:spPr>
          <a:xfrm>
            <a:off x="594360" y="1691640"/>
            <a:ext cx="10972800" cy="548640"/>
          </a:xfrm>
          <a:prstGeom prst="rect">
            <a:avLst/>
          </a:prstGeom>
          <a:noFill/>
        </p:spPr>
        <p:txBody>
          <a:bodyPr wrap="square">
            <a:spAutoFit/>
          </a:bodyPr>
          <a:lstStyle/>
          <a:p>
            <a:r>
              <a:t/>
            </a:r>
            <a:r>
              <a:rPr sz="1300" b="1" i="0">
                <a:solidFill>
                  <a:srgbClr val="862E9C"/>
                </a:solidFill>
                <a:latin typeface="Arial"/>
              </a:rPr>
              <a:t>Setup  </a:t>
            </a:r>
            <a:r>
              <a:t/>
            </a:r>
            <a:r>
              <a:rPr sz="1300" b="0" i="0">
                <a:solidFill>
                  <a:srgbClr val="212529"/>
                </a:solidFill>
                <a:latin typeface="Arial"/>
              </a:rPr>
              <a:t>ConsequenceWrapper (detection prob p, penalty λ) verified on TextArena IPD; agentic merchant spec: a tool-driven 10-day business simulation.</a:t>
            </a:r>
          </a:p>
        </p:txBody>
      </p:sp>
      <p:sp>
        <p:nvSpPr>
          <p:cNvPr id="7" name="TextBox 6"/>
          <p:cNvSpPr txBox="1"/>
          <p:nvPr/>
        </p:nvSpPr>
        <p:spPr>
          <a:xfrm>
            <a:off x="594360" y="2244852"/>
            <a:ext cx="10972800" cy="3515868"/>
          </a:xfrm>
          <a:prstGeom prst="rect">
            <a:avLst/>
          </a:prstGeom>
          <a:noFill/>
        </p:spPr>
        <p:txBody>
          <a:bodyPr wrap="square">
            <a:spAutoFit/>
          </a:bodyPr>
          <a:lstStyle/>
          <a:p>
            <a:pPr>
              <a:spcAft>
                <a:spcPts val="500"/>
              </a:spcAft>
            </a:pPr>
            <a:r>
              <a:t/>
            </a:r>
            <a:r>
              <a:rPr sz="1300" b="1" i="0">
                <a:solidFill>
                  <a:srgbClr val="862E9C"/>
                </a:solidFill>
                <a:latin typeface="Arial"/>
              </a:rPr>
              <a:t>•  </a:t>
            </a:r>
            <a:r>
              <a:t/>
            </a:r>
            <a:r>
              <a:rPr sz="1300" b="0" i="0">
                <a:solidFill>
                  <a:srgbClr val="212529"/>
                </a:solidFill>
                <a:latin typeface="Arial"/>
              </a:rPr>
              <a:t>Wrapper verified: hole arm (p=0) makes always-defect earn 50 vs 30; nohole (p=1, λ=3) flips it to 20 vs 30 — exploitation optimal only in the hole arm.</a:t>
            </a:r>
          </a:p>
          <a:p>
            <a:pPr>
              <a:spcAft>
                <a:spcPts val="500"/>
              </a:spcAft>
            </a:pPr>
            <a:r>
              <a:t/>
            </a:r>
            <a:r>
              <a:rPr sz="1300" b="1" i="0">
                <a:solidFill>
                  <a:srgbClr val="862E9C"/>
                </a:solidFill>
                <a:latin typeface="Arial"/>
              </a:rPr>
              <a:t>•  </a:t>
            </a:r>
            <a:r>
              <a:t/>
            </a:r>
            <a:r>
              <a:rPr sz="1300" b="0" i="0">
                <a:solidFill>
                  <a:srgbClr val="212529"/>
                </a:solidFill>
                <a:latin typeface="Arial"/>
              </a:rPr>
              <a:t>Cataloged ~30 candidate hole-games across 6 families (deception, betrayal, extraction, free-riding, brinkmanship, collusion).</a:t>
            </a:r>
          </a:p>
          <a:p>
            <a:pPr>
              <a:spcAft>
                <a:spcPts val="500"/>
              </a:spcAft>
            </a:pPr>
            <a:r>
              <a:t/>
            </a:r>
            <a:r>
              <a:rPr sz="1300" b="1" i="0">
                <a:solidFill>
                  <a:srgbClr val="862E9C"/>
                </a:solidFill>
                <a:latin typeface="Arial"/>
              </a:rPr>
              <a:t>•  </a:t>
            </a:r>
            <a:r>
              <a:t/>
            </a:r>
            <a:r>
              <a:rPr sz="1300" b="0" i="0">
                <a:solidFill>
                  <a:srgbClr val="212529"/>
                </a:solidFill>
                <a:latin typeface="Arial"/>
              </a:rPr>
              <a:t>Merchant redesign insight: a tool call is a structured, logged artifact — an exploit becomes a machine-checkable divergence between a tool argument and hidden ground truth, so verifiability survives free-form agentic traces.</a:t>
            </a:r>
          </a:p>
          <a:p>
            <a:pPr>
              <a:spcAft>
                <a:spcPts val="500"/>
              </a:spcAft>
            </a:pPr>
            <a:r>
              <a:t/>
            </a:r>
            <a:r>
              <a:rPr sz="1300" b="1" i="0">
                <a:solidFill>
                  <a:srgbClr val="862E9C"/>
                </a:solidFill>
                <a:latin typeface="Arial"/>
              </a:rPr>
              <a:t>•  </a:t>
            </a:r>
            <a:r>
              <a:t/>
            </a:r>
            <a:r>
              <a:rPr sz="1300" b="0" i="0">
                <a:solidFill>
                  <a:srgbClr val="212529"/>
                </a:solidFill>
                <a:latin typeface="Arial"/>
              </a:rPr>
              <a:t>Matched-pair problem solved with a hidden ledger: penalties accrue invisibly, keeping hole/nohole byte-identical.</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862E9C"/>
                </a:solidFill>
                <a:latin typeface="Arial"/>
              </a:rPr>
              <a:t>Takeaway  </a:t>
            </a:r>
            <a:r>
              <a:t/>
            </a:r>
            <a:r>
              <a:rPr sz="1200" b="0" i="0">
                <a:solidFill>
                  <a:srgbClr val="212529"/>
                </a:solidFill>
                <a:latin typeface="Arial"/>
              </a:rPr>
              <a:t>Set the roadmap the 0819–0820 experiments executed; moving to tools strengthens rather than relaxes verifiability.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862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862E9C"/>
                </a:solidFill>
                <a:latin typeface="Arial"/>
              </a:rPr>
              <a:t>PHASE 4 · 2026-08-19 · key finding</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Plant × frame ablation: the exploit must be a listed move</a:t>
            </a:r>
          </a:p>
        </p:txBody>
      </p:sp>
      <p:sp>
        <p:nvSpPr>
          <p:cNvPr id="5" name="TextBox 4"/>
          <p:cNvSpPr txBox="1"/>
          <p:nvPr/>
        </p:nvSpPr>
        <p:spPr>
          <a:xfrm>
            <a:off x="594360" y="1417320"/>
            <a:ext cx="6126480" cy="548640"/>
          </a:xfrm>
          <a:prstGeom prst="rect">
            <a:avLst/>
          </a:prstGeom>
          <a:noFill/>
        </p:spPr>
        <p:txBody>
          <a:bodyPr wrap="square">
            <a:spAutoFit/>
          </a:bodyPr>
          <a:lstStyle/>
          <a:p>
            <a:r>
              <a:t/>
            </a:r>
            <a:r>
              <a:rPr sz="1150" b="1" i="0">
                <a:solidFill>
                  <a:srgbClr val="862E9C"/>
                </a:solidFill>
                <a:latin typeface="Arial"/>
              </a:rPr>
              <a:t>Q  </a:t>
            </a:r>
            <a:r>
              <a:t/>
            </a:r>
            <a:r>
              <a:rPr sz="1150" b="0" i="1">
                <a:solidFill>
                  <a:srgbClr val="5C6370"/>
                </a:solidFill>
                <a:latin typeface="Arial"/>
              </a:rPr>
              <a:t>How do plant obviousness (6 levels) and framing (game vs natural) change exploitation — and does game framing inoculate transfer?</a:t>
            </a:r>
          </a:p>
        </p:txBody>
      </p:sp>
      <p:sp>
        <p:nvSpPr>
          <p:cNvPr id="6" name="TextBox 5"/>
          <p:cNvSpPr txBox="1"/>
          <p:nvPr/>
        </p:nvSpPr>
        <p:spPr>
          <a:xfrm>
            <a:off x="594360" y="1860804"/>
            <a:ext cx="6126480" cy="548640"/>
          </a:xfrm>
          <a:prstGeom prst="rect">
            <a:avLst/>
          </a:prstGeom>
          <a:noFill/>
        </p:spPr>
        <p:txBody>
          <a:bodyPr wrap="square">
            <a:spAutoFit/>
          </a:bodyPr>
          <a:lstStyle/>
          <a:p>
            <a:r>
              <a:t/>
            </a:r>
            <a:r>
              <a:rPr sz="1150" b="1" i="0">
                <a:solidFill>
                  <a:srgbClr val="862E9C"/>
                </a:solidFill>
                <a:latin typeface="Arial"/>
              </a:rPr>
              <a:t>Setup  </a:t>
            </a:r>
            <a:r>
              <a:t/>
            </a:r>
            <a:r>
              <a:rPr sz="1150" b="0" i="0">
                <a:solidFill>
                  <a:srgbClr val="212529"/>
                </a:solidFill>
                <a:latin typeface="Arial"/>
              </a:rPr>
              <a:t>Qwen3.6-27B &amp; 3.5-9B, 9→21 generated domains, fully crossed 6 plants × 2 frames; plus a 2×2 GRPO frame-ablation run.</a:t>
            </a:r>
          </a:p>
        </p:txBody>
      </p:sp>
      <p:sp>
        <p:nvSpPr>
          <p:cNvPr id="7" name="TextBox 6"/>
          <p:cNvSpPr txBox="1"/>
          <p:nvPr/>
        </p:nvSpPr>
        <p:spPr>
          <a:xfrm>
            <a:off x="594360" y="2414016"/>
            <a:ext cx="6126480" cy="3346703"/>
          </a:xfrm>
          <a:prstGeom prst="rect">
            <a:avLst/>
          </a:prstGeom>
          <a:noFill/>
        </p:spPr>
        <p:txBody>
          <a:bodyPr wrap="square">
            <a:spAutoFit/>
          </a:bodyPr>
          <a:lstStyle/>
          <a:p>
            <a:pPr>
              <a:spcAft>
                <a:spcPts val="500"/>
              </a:spcAft>
            </a:pPr>
            <a:r>
              <a:t/>
            </a:r>
            <a:r>
              <a:rPr sz="1150" b="1" i="0">
                <a:solidFill>
                  <a:srgbClr val="862E9C"/>
                </a:solidFill>
                <a:latin typeface="Arial"/>
              </a:rPr>
              <a:t>•  </a:t>
            </a:r>
            <a:r>
              <a:t/>
            </a:r>
            <a:r>
              <a:rPr sz="1150" b="0" i="0">
                <a:solidFill>
                  <a:srgbClr val="212529"/>
                </a:solidFill>
                <a:latin typeface="Arial"/>
              </a:rPr>
              <a:t>Categorical result: if the exploit is not a listed move token, exploitation is ~0 — models reason their way to the hack, then emit the honest token anyway.</a:t>
            </a:r>
          </a:p>
          <a:p>
            <a:pPr>
              <a:spcAft>
                <a:spcPts val="500"/>
              </a:spcAft>
            </a:pPr>
            <a:r>
              <a:t/>
            </a:r>
            <a:r>
              <a:rPr sz="1150" b="1" i="0">
                <a:solidFill>
                  <a:srgbClr val="862E9C"/>
                </a:solidFill>
                <a:latin typeface="Arial"/>
              </a:rPr>
              <a:t>•  </a:t>
            </a:r>
            <a:r>
              <a:t/>
            </a:r>
            <a:r>
              <a:rPr sz="1150" b="0" i="0">
                <a:solidFill>
                  <a:srgbClr val="212529"/>
                </a:solidFill>
                <a:latin typeface="Arial"/>
              </a:rPr>
              <a:t>Given a listed token, saying it pays doubles the rate (explicit/game 0.73 vs menu ~0.30); menu + game frame lands in the trainable 0.15–0.50 window without warm-start.</a:t>
            </a:r>
          </a:p>
          <a:p>
            <a:pPr>
              <a:spcAft>
                <a:spcPts val="500"/>
              </a:spcAft>
            </a:pPr>
            <a:r>
              <a:t/>
            </a:r>
            <a:r>
              <a:rPr sz="1150" b="1" i="0">
                <a:solidFill>
                  <a:srgbClr val="862E9C"/>
                </a:solidFill>
                <a:latin typeface="Arial"/>
              </a:rPr>
              <a:t>•  </a:t>
            </a:r>
            <a:r>
              <a:t/>
            </a:r>
            <a:r>
              <a:rPr sz="1150" b="0" i="0">
                <a:solidFill>
                  <a:srgbClr val="212529"/>
                </a:solidFill>
                <a:latin typeface="Arial"/>
              </a:rPr>
              <a:t>Game framing roughly doubles exploitation and dissolves the severity floor (severe cells 0.80 game vs 0.28 natural; financial 0.00 → 0.90).</a:t>
            </a:r>
          </a:p>
          <a:p>
            <a:pPr>
              <a:spcAft>
                <a:spcPts val="500"/>
              </a:spcAft>
            </a:pPr>
            <a:r>
              <a:t/>
            </a:r>
            <a:r>
              <a:rPr sz="1150" b="1" i="0">
                <a:solidFill>
                  <a:srgbClr val="862E9C"/>
                </a:solidFill>
                <a:latin typeface="Arial"/>
              </a:rPr>
              <a:t>•  </a:t>
            </a:r>
            <a:r>
              <a:t/>
            </a:r>
            <a:r>
              <a:rPr sz="1150" b="0" i="0">
                <a:solidFill>
                  <a:srgbClr val="212529"/>
                </a:solidFill>
                <a:latin typeface="Arial"/>
              </a:rPr>
              <a:t>Inoculation: with matched in-env exploitation, MACHIAVELLI transfer is +4.8 (game frame) vs +12.4 (natural, p&lt;0.001) — game framing cuts broad transfer ~2.6× while the narrow skill transfers regardless.</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862E9C"/>
                </a:solidFill>
                <a:latin typeface="Arial"/>
              </a:rPr>
              <a:t>Takeaway  </a:t>
            </a:r>
            <a:r>
              <a:t/>
            </a:r>
            <a:r>
              <a:rPr sz="1200" b="0" i="0">
                <a:solidFill>
                  <a:srgbClr val="212529"/>
                </a:solidFill>
                <a:latin typeface="Arial"/>
              </a:rPr>
              <a:t>The plant is everything: sanctioned-token + game frame is the recommended non-obvious plant; game framing inoculates the disposition but not the skill.</a:t>
            </a:r>
          </a:p>
        </p:txBody>
      </p:sp>
      <p:pic>
        <p:nvPicPr>
          <p:cNvPr id="9" name="Picture 8" descr="frame-effect-infographic.png"/>
          <p:cNvPicPr>
            <a:picLocks noChangeAspect="1"/>
          </p:cNvPicPr>
          <p:nvPr/>
        </p:nvPicPr>
        <p:blipFill>
          <a:blip r:embed="rId2"/>
          <a:stretch>
            <a:fillRect/>
          </a:stretch>
        </p:blipFill>
        <p:spPr>
          <a:xfrm>
            <a:off x="7603723" y="1417320"/>
            <a:ext cx="3629193" cy="4023360"/>
          </a:xfrm>
          <a:prstGeom prst="rect">
            <a:avLst/>
          </a:prstGeom>
        </p:spPr>
      </p:pic>
      <p:sp>
        <p:nvSpPr>
          <p:cNvPr id="10" name="TextBox 9"/>
          <p:cNvSpPr txBox="1"/>
          <p:nvPr/>
        </p:nvSpPr>
        <p:spPr>
          <a:xfrm>
            <a:off x="6903720" y="5486400"/>
            <a:ext cx="5029200" cy="457200"/>
          </a:xfrm>
          <a:prstGeom prst="rect">
            <a:avLst/>
          </a:prstGeom>
          <a:noFill/>
        </p:spPr>
        <p:txBody>
          <a:bodyPr wrap="square">
            <a:spAutoFit/>
          </a:bodyPr>
          <a:lstStyle/>
          <a:p>
            <a:r>
              <a:t/>
            </a:r>
            <a:r>
              <a:rPr sz="950" b="0" i="1">
                <a:solidFill>
                  <a:srgbClr val="5C6370"/>
                </a:solidFill>
                <a:latin typeface="Arial"/>
              </a:rPr>
              <a:t>Frame effect on exploitation &amp; transfer (results/0819_scaling_plots)</a:t>
            </a:r>
          </a:p>
        </p:txBody>
      </p:sp>
      <p:sp>
        <p:nvSpPr>
          <p:cNvPr id="11" name="TextBox 10"/>
          <p:cNvSpPr txBox="1"/>
          <p:nvPr/>
        </p:nvSpPr>
        <p:spPr>
          <a:xfrm>
            <a:off x="594360" y="5605272"/>
            <a:ext cx="10972800" cy="274320"/>
          </a:xfrm>
          <a:prstGeom prst="rect">
            <a:avLst/>
          </a:prstGeom>
          <a:noFill/>
        </p:spPr>
        <p:txBody>
          <a:bodyPr wrap="square">
            <a:spAutoFit/>
          </a:bodyPr>
          <a:lstStyle/>
          <a:p>
            <a:r>
              <a:t/>
            </a:r>
            <a:r>
              <a:rPr sz="900" b="1" i="0">
                <a:solidFill>
                  <a:srgbClr val="5C6370"/>
                </a:solidFill>
                <a:latin typeface="Arial"/>
              </a:rPr>
              <a:t>wandb runs:  </a:t>
            </a:r>
            <a:r>
              <a:t/>
            </a:r>
            <a:r>
              <a:rPr sz="900" b="0" i="0">
                <a:solidFill>
                  <a:srgbClr val="862E9C"/>
                </a:solidFill>
                <a:latin typeface="Arial"/>
                <a:hlinkClick r:id="rId3"/>
              </a:rPr>
              <a:t>game hole s0</a:t>
            </a:r>
            <a:r>
              <a:t/>
            </a:r>
            <a:r>
              <a:rPr sz="900" b="0" i="0">
                <a:solidFill>
                  <a:srgbClr val="5C6370"/>
                </a:solidFill>
                <a:latin typeface="Arial"/>
              </a:rPr>
              <a:t>   ·   </a:t>
            </a:r>
            <a:r>
              <a:t/>
            </a:r>
            <a:r>
              <a:rPr sz="900" b="0" i="0">
                <a:solidFill>
                  <a:srgbClr val="862E9C"/>
                </a:solidFill>
                <a:latin typeface="Arial"/>
                <a:hlinkClick r:id="rId4"/>
              </a:rPr>
              <a:t>natural hole s0</a:t>
            </a:r>
            <a:r>
              <a:t/>
            </a:r>
            <a:r>
              <a:rPr sz="900" b="0" i="0">
                <a:solidFill>
                  <a:srgbClr val="5C6370"/>
                </a:solidFill>
                <a:latin typeface="Arial"/>
              </a:rPr>
              <a:t>   ·   </a:t>
            </a:r>
            <a:r>
              <a:t/>
            </a:r>
            <a:r>
              <a:rPr sz="900" b="0" i="0">
                <a:solidFill>
                  <a:srgbClr val="862E9C"/>
                </a:solidFill>
                <a:latin typeface="Arial"/>
                <a:hlinkClick r:id="rId5"/>
              </a:rPr>
              <a:t>all frame runs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862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862E9C"/>
                </a:solidFill>
                <a:latin typeface="Arial"/>
              </a:rPr>
              <a:t>PHASE 4 · 2026-08-20 · infrastructure</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Qwen3.8-27B sampling profile: 0.93 invalid → 0.02</a:t>
            </a:r>
          </a:p>
        </p:txBody>
      </p:sp>
      <p:sp>
        <p:nvSpPr>
          <p:cNvPr id="5" name="TextBox 4"/>
          <p:cNvSpPr txBox="1"/>
          <p:nvPr/>
        </p:nvSpPr>
        <p:spPr>
          <a:xfrm>
            <a:off x="594360" y="1417320"/>
            <a:ext cx="10972800" cy="548640"/>
          </a:xfrm>
          <a:prstGeom prst="rect">
            <a:avLst/>
          </a:prstGeom>
          <a:noFill/>
        </p:spPr>
        <p:txBody>
          <a:bodyPr wrap="square">
            <a:spAutoFit/>
          </a:bodyPr>
          <a:lstStyle/>
          <a:p>
            <a:r>
              <a:t/>
            </a:r>
            <a:r>
              <a:rPr sz="1300" b="1" i="0">
                <a:solidFill>
                  <a:srgbClr val="862E9C"/>
                </a:solidFill>
                <a:latin typeface="Arial"/>
              </a:rPr>
              <a:t>Q  </a:t>
            </a:r>
            <a:r>
              <a:t/>
            </a:r>
            <a:r>
              <a:rPr sz="1300" b="0" i="1">
                <a:solidFill>
                  <a:srgbClr val="5C6370"/>
                </a:solidFill>
                <a:latin typeface="Arial"/>
              </a:rPr>
              <a:t>Why is Qwen3.8-27B unusable on the agentic merchant when 3.6-27B is fine?</a:t>
            </a:r>
          </a:p>
        </p:txBody>
      </p:sp>
      <p:sp>
        <p:nvSpPr>
          <p:cNvPr id="6" name="TextBox 5"/>
          <p:cNvSpPr txBox="1"/>
          <p:nvPr/>
        </p:nvSpPr>
        <p:spPr>
          <a:xfrm>
            <a:off x="594360" y="1691640"/>
            <a:ext cx="10972800" cy="548640"/>
          </a:xfrm>
          <a:prstGeom prst="rect">
            <a:avLst/>
          </a:prstGeom>
          <a:noFill/>
        </p:spPr>
        <p:txBody>
          <a:bodyPr wrap="square">
            <a:spAutoFit/>
          </a:bodyPr>
          <a:lstStyle/>
          <a:p>
            <a:r>
              <a:t/>
            </a:r>
            <a:r>
              <a:rPr sz="1300" b="1" i="0">
                <a:solidFill>
                  <a:srgbClr val="862E9C"/>
                </a:solidFill>
                <a:latin typeface="Arial"/>
              </a:rPr>
              <a:t>Setup  </a:t>
            </a:r>
            <a:r>
              <a:t/>
            </a:r>
            <a:r>
              <a:rPr sz="1300" b="0" i="0">
                <a:solidFill>
                  <a:srgbClr val="212529"/>
                </a:solidFill>
                <a:latin typeface="Arial"/>
              </a:rPr>
              <a:t>Sampling sweep on the agentic merchant, hole arm.</a:t>
            </a:r>
          </a:p>
        </p:txBody>
      </p:sp>
      <p:sp>
        <p:nvSpPr>
          <p:cNvPr id="7" name="TextBox 6"/>
          <p:cNvSpPr txBox="1"/>
          <p:nvPr/>
        </p:nvSpPr>
        <p:spPr>
          <a:xfrm>
            <a:off x="594360" y="2075688"/>
            <a:ext cx="10972800" cy="3685031"/>
          </a:xfrm>
          <a:prstGeom prst="rect">
            <a:avLst/>
          </a:prstGeom>
          <a:noFill/>
        </p:spPr>
        <p:txBody>
          <a:bodyPr wrap="square">
            <a:spAutoFit/>
          </a:bodyPr>
          <a:lstStyle/>
          <a:p>
            <a:pPr>
              <a:spcAft>
                <a:spcPts val="500"/>
              </a:spcAft>
            </a:pPr>
            <a:r>
              <a:t/>
            </a:r>
            <a:r>
              <a:rPr sz="1300" b="1" i="0">
                <a:solidFill>
                  <a:srgbClr val="862E9C"/>
                </a:solidFill>
                <a:latin typeface="Arial"/>
              </a:rPr>
              <a:t>•  </a:t>
            </a:r>
            <a:r>
              <a:t/>
            </a:r>
            <a:r>
              <a:rPr sz="1300" b="0" i="0">
                <a:solidFill>
                  <a:srgbClr val="212529"/>
                </a:solidFill>
                <a:latin typeface="Arial"/>
              </a:rPr>
              <a:t>Two independent causes: reasoning_effort silently defaults to xhigh in the 3.8 chat template, and no stop sequence lets it ramble past its own tool call.</a:t>
            </a:r>
          </a:p>
          <a:p>
            <a:pPr>
              <a:spcAft>
                <a:spcPts val="500"/>
              </a:spcAft>
            </a:pPr>
            <a:r>
              <a:t/>
            </a:r>
            <a:r>
              <a:rPr sz="1300" b="1" i="0">
                <a:solidFill>
                  <a:srgbClr val="862E9C"/>
                </a:solidFill>
                <a:latin typeface="Arial"/>
              </a:rPr>
              <a:t>•  </a:t>
            </a:r>
            <a:r>
              <a:t/>
            </a:r>
            <a:r>
              <a:rPr sz="1300" b="0" i="0">
                <a:solidFill>
                  <a:srgbClr val="212529"/>
                </a:solidFill>
                <a:latin typeface="Arial"/>
              </a:rPr>
              <a:t>Tuned profile (temp 0.7, top_p 0.9, 512 tokens, stop ‘]’, thinking off): invalid 0.927 → 0.023.</a:t>
            </a:r>
          </a:p>
          <a:p>
            <a:pPr>
              <a:spcAft>
                <a:spcPts val="500"/>
              </a:spcAft>
            </a:pPr>
            <a:r>
              <a:t/>
            </a:r>
            <a:r>
              <a:rPr sz="1300" b="1" i="0">
                <a:solidFill>
                  <a:srgbClr val="862E9C"/>
                </a:solidFill>
                <a:latin typeface="Arial"/>
              </a:rPr>
              <a:t>•  </a:t>
            </a:r>
            <a:r>
              <a:t/>
            </a:r>
            <a:r>
              <a:rPr sz="1300" b="0" i="0">
                <a:solidFill>
                  <a:srgbClr val="212529"/>
                </a:solidFill>
                <a:latin typeface="Arial"/>
              </a:rPr>
              <a:t>Never combine stop=‘]’ with thinking — a ‘]’ inside &lt;think&gt; halts generation (raising the budget made it WORSE, 0.32→0.55). TinkerActor now refuses the combo.</a:t>
            </a:r>
          </a:p>
          <a:p>
            <a:pPr>
              <a:spcAft>
                <a:spcPts val="500"/>
              </a:spcAft>
            </a:pPr>
            <a:r>
              <a:t/>
            </a:r>
            <a:r>
              <a:rPr sz="1300" b="1" i="0">
                <a:solidFill>
                  <a:srgbClr val="862E9C"/>
                </a:solidFill>
                <a:latin typeface="Arial"/>
              </a:rPr>
              <a:t>•  </a:t>
            </a:r>
            <a:r>
              <a:t/>
            </a:r>
            <a:r>
              <a:rPr sz="1300" b="0" i="0">
                <a:solidFill>
                  <a:srgbClr val="212529"/>
                </a:solidFill>
                <a:latin typeface="Arial"/>
              </a:rPr>
              <a:t>New BROKEN check_suite verdict at invalid &gt; 0.25 — the old screen called a 0.927-invalid cell “ok”.</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862E9C"/>
                </a:solidFill>
                <a:latin typeface="Arial"/>
              </a:rPr>
              <a:t>Takeaway  </a:t>
            </a:r>
            <a:r>
              <a:t/>
            </a:r>
            <a:r>
              <a:rPr sz="1200" b="0" i="0">
                <a:solidFill>
                  <a:srgbClr val="212529"/>
                </a:solidFill>
                <a:latin typeface="Arial"/>
              </a:rPr>
              <a:t>Model swaps require re-tuning sampling and gating on invalid-rate first — otherwise every pipeline stage fails quietly.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862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862E9C"/>
                </a:solidFill>
                <a:latin typeface="Arial"/>
              </a:rPr>
              <a:t>PHASE 4 · 2026-08-20</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Removal vs recovery: what the control arm actually learned</a:t>
            </a:r>
          </a:p>
        </p:txBody>
      </p:sp>
      <p:sp>
        <p:nvSpPr>
          <p:cNvPr id="5" name="TextBox 4"/>
          <p:cNvSpPr txBox="1"/>
          <p:nvPr/>
        </p:nvSpPr>
        <p:spPr>
          <a:xfrm>
            <a:off x="594360" y="1417320"/>
            <a:ext cx="10972800" cy="548640"/>
          </a:xfrm>
          <a:prstGeom prst="rect">
            <a:avLst/>
          </a:prstGeom>
          <a:noFill/>
        </p:spPr>
        <p:txBody>
          <a:bodyPr wrap="square">
            <a:spAutoFit/>
          </a:bodyPr>
          <a:lstStyle/>
          <a:p>
            <a:r>
              <a:t/>
            </a:r>
            <a:r>
              <a:rPr sz="1300" b="1" i="0">
                <a:solidFill>
                  <a:srgbClr val="862E9C"/>
                </a:solidFill>
                <a:latin typeface="Arial"/>
              </a:rPr>
              <a:t>Q  </a:t>
            </a:r>
            <a:r>
              <a:t/>
            </a:r>
            <a:r>
              <a:rPr sz="1300" b="0" i="1">
                <a:solidFill>
                  <a:srgbClr val="5C6370"/>
                </a:solidFill>
                <a:latin typeface="Arial"/>
              </a:rPr>
              <a:t>Is nohole suppression a learned ‘stop when caught’ contingency, or just a lower propensity?</a:t>
            </a:r>
          </a:p>
        </p:txBody>
      </p:sp>
      <p:sp>
        <p:nvSpPr>
          <p:cNvPr id="6" name="TextBox 5"/>
          <p:cNvSpPr txBox="1"/>
          <p:nvPr/>
        </p:nvSpPr>
        <p:spPr>
          <a:xfrm>
            <a:off x="594360" y="1691640"/>
            <a:ext cx="10972800" cy="548640"/>
          </a:xfrm>
          <a:prstGeom prst="rect">
            <a:avLst/>
          </a:prstGeom>
          <a:noFill/>
        </p:spPr>
        <p:txBody>
          <a:bodyPr wrap="square">
            <a:spAutoFit/>
          </a:bodyPr>
          <a:lstStyle/>
          <a:p>
            <a:r>
              <a:t/>
            </a:r>
            <a:r>
              <a:rPr sz="1300" b="1" i="0">
                <a:solidFill>
                  <a:srgbClr val="862E9C"/>
                </a:solidFill>
                <a:latin typeface="Arial"/>
              </a:rPr>
              <a:t>Setup  </a:t>
            </a:r>
            <a:r>
              <a:t/>
            </a:r>
            <a:r>
              <a:rPr sz="1300" b="0" i="0">
                <a:solidFill>
                  <a:srgbClr val="212529"/>
                </a:solidFill>
                <a:latin typeface="Arial"/>
              </a:rPr>
              <a:t>Qwen3.6-27B, 60 steps × 3 seeds, six commercial domains; new recoverable arm (clawback + fine, no absorbing removal) vs shipped absorbing nohole.</a:t>
            </a:r>
          </a:p>
        </p:txBody>
      </p:sp>
      <p:sp>
        <p:nvSpPr>
          <p:cNvPr id="7" name="TextBox 6"/>
          <p:cNvSpPr txBox="1"/>
          <p:nvPr/>
        </p:nvSpPr>
        <p:spPr>
          <a:xfrm>
            <a:off x="594360" y="2244852"/>
            <a:ext cx="10972800" cy="3515868"/>
          </a:xfrm>
          <a:prstGeom prst="rect">
            <a:avLst/>
          </a:prstGeom>
          <a:noFill/>
        </p:spPr>
        <p:txBody>
          <a:bodyPr wrap="square">
            <a:spAutoFit/>
          </a:bodyPr>
          <a:lstStyle/>
          <a:p>
            <a:pPr>
              <a:spcAft>
                <a:spcPts val="500"/>
              </a:spcAft>
            </a:pPr>
            <a:r>
              <a:t/>
            </a:r>
            <a:r>
              <a:rPr sz="1300" b="1" i="0">
                <a:solidFill>
                  <a:srgbClr val="862E9C"/>
                </a:solidFill>
                <a:latin typeface="Arial"/>
              </a:rPr>
              <a:t>•  </a:t>
            </a:r>
            <a:r>
              <a:t/>
            </a:r>
            <a:r>
              <a:rPr sz="1300" b="0" i="0">
                <a:solidFill>
                  <a:srgbClr val="212529"/>
                </a:solidFill>
                <a:latin typeface="Arial"/>
              </a:rPr>
              <a:t>Removal accounts for only +0.118 of trained exploit rate (0.13 vs 0.25; hole ceiling 0.96) — clawback + fine do the bulk of the suppression; removal mainly stabilizes variance.</a:t>
            </a:r>
          </a:p>
          <a:p>
            <a:pPr>
              <a:spcAft>
                <a:spcPts val="500"/>
              </a:spcAft>
            </a:pPr>
            <a:r>
              <a:t/>
            </a:r>
            <a:r>
              <a:rPr sz="1300" b="1" i="0">
                <a:solidFill>
                  <a:srgbClr val="862E9C"/>
                </a:solidFill>
                <a:latin typeface="Arial"/>
              </a:rPr>
              <a:t>•  </a:t>
            </a:r>
            <a:r>
              <a:t/>
            </a:r>
            <a:r>
              <a:rPr sz="1300" b="0" i="0">
                <a:solidFill>
                  <a:srgbClr val="212529"/>
                </a:solidFill>
                <a:latin typeface="Arial"/>
              </a:rPr>
              <a:t>Nobody learned to recover: stratified recovery ≈ 0.00 (absorbing) and −0.14 (recoverable — if anything exploits MORE after being caught); exploit rate flat across rounds.</a:t>
            </a:r>
          </a:p>
          <a:p>
            <a:pPr>
              <a:spcAft>
                <a:spcPts val="500"/>
              </a:spcAft>
            </a:pPr>
            <a:r>
              <a:t/>
            </a:r>
            <a:r>
              <a:rPr sz="1300" b="1" i="0">
                <a:solidFill>
                  <a:srgbClr val="862E9C"/>
                </a:solidFill>
                <a:latin typeface="Arial"/>
              </a:rPr>
              <a:t>•  </a:t>
            </a:r>
            <a:r>
              <a:t/>
            </a:r>
            <a:r>
              <a:rPr sz="1300" b="0" i="0">
                <a:solidFill>
                  <a:srgbClr val="212529"/>
                </a:solidFill>
                <a:latin typeface="Arial"/>
              </a:rPr>
              <a:t>Estimator lesson: the naive before/after-detection contrast reads −0.48 to −0.68 even for the untrained base — a pure selection confound.</a:t>
            </a:r>
          </a:p>
          <a:p>
            <a:pPr>
              <a:spcAft>
                <a:spcPts val="500"/>
              </a:spcAft>
            </a:pPr>
            <a:r>
              <a:t/>
            </a:r>
            <a:r>
              <a:rPr sz="1300" b="1" i="0">
                <a:solidFill>
                  <a:srgbClr val="862E9C"/>
                </a:solidFill>
                <a:latin typeface="Arial"/>
              </a:rPr>
              <a:t>•  </a:t>
            </a:r>
            <a:r>
              <a:t/>
            </a:r>
            <a:r>
              <a:rPr sz="1300" b="0" i="0">
                <a:solidFill>
                  <a:srgbClr val="212529"/>
                </a:solidFill>
                <a:latin typeface="Arial"/>
              </a:rPr>
              <a:t>T1 transfer instrument not ready: the same checkpoint measured twice gave lift +0.187 then +0.420 — never quote single-run T1.</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862E9C"/>
                </a:solidFill>
                <a:latin typeface="Arial"/>
              </a:rPr>
              <a:t>Takeaway  </a:t>
            </a:r>
            <a:r>
              <a:t/>
            </a:r>
            <a:r>
              <a:rPr sz="1200" b="0" i="0">
                <a:solidFill>
                  <a:srgbClr val="212529"/>
                </a:solidFill>
                <a:latin typeface="Arial"/>
              </a:rPr>
              <a:t>The control arm's fall is an episode-level propensity shift (“don't start”), not a learned within-episode response to being caught.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862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862E9C"/>
                </a:solidFill>
                <a:latin typeface="Arial"/>
              </a:rPr>
              <a:t>PHASE 4 · 2026-08-20 · key finding</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Env-count scaling ladder (1-2-4-8)</a:t>
            </a:r>
          </a:p>
        </p:txBody>
      </p:sp>
      <p:sp>
        <p:nvSpPr>
          <p:cNvPr id="5" name="TextBox 4"/>
          <p:cNvSpPr txBox="1"/>
          <p:nvPr/>
        </p:nvSpPr>
        <p:spPr>
          <a:xfrm>
            <a:off x="594360" y="1417320"/>
            <a:ext cx="6126480" cy="548640"/>
          </a:xfrm>
          <a:prstGeom prst="rect">
            <a:avLst/>
          </a:prstGeom>
          <a:noFill/>
        </p:spPr>
        <p:txBody>
          <a:bodyPr wrap="square">
            <a:spAutoFit/>
          </a:bodyPr>
          <a:lstStyle/>
          <a:p>
            <a:r>
              <a:t/>
            </a:r>
            <a:r>
              <a:rPr sz="1150" b="1" i="0">
                <a:solidFill>
                  <a:srgbClr val="862E9C"/>
                </a:solidFill>
                <a:latin typeface="Arial"/>
              </a:rPr>
              <a:t>Q  </a:t>
            </a:r>
            <a:r>
              <a:t/>
            </a:r>
            <a:r>
              <a:rPr sz="1150" b="0" i="1">
                <a:solidFill>
                  <a:srgbClr val="5C6370"/>
                </a:solidFill>
                <a:latin typeface="Arial"/>
              </a:rPr>
              <a:t>Does training on more environments raise held-out exploitation and external misalignment?</a:t>
            </a:r>
          </a:p>
        </p:txBody>
      </p:sp>
      <p:sp>
        <p:nvSpPr>
          <p:cNvPr id="6" name="TextBox 5"/>
          <p:cNvSpPr txBox="1"/>
          <p:nvPr/>
        </p:nvSpPr>
        <p:spPr>
          <a:xfrm>
            <a:off x="594360" y="1860804"/>
            <a:ext cx="6126480" cy="548640"/>
          </a:xfrm>
          <a:prstGeom prst="rect">
            <a:avLst/>
          </a:prstGeom>
          <a:noFill/>
        </p:spPr>
        <p:txBody>
          <a:bodyPr wrap="square">
            <a:spAutoFit/>
          </a:bodyPr>
          <a:lstStyle/>
          <a:p>
            <a:r>
              <a:t/>
            </a:r>
            <a:r>
              <a:rPr sz="1150" b="1" i="0">
                <a:solidFill>
                  <a:srgbClr val="862E9C"/>
                </a:solidFill>
                <a:latin typeface="Arial"/>
              </a:rPr>
              <a:t>Setup  </a:t>
            </a:r>
            <a:r>
              <a:t/>
            </a:r>
            <a:r>
              <a:rPr sz="1150" b="0" i="0">
                <a:solidFill>
                  <a:srgbClr val="212529"/>
                </a:solidFill>
                <a:latin typeface="Arial"/>
              </a:rPr>
              <a:t>Qwen3.8-27B LoRA, 12 runs at constant compute: hole at n=1/2/4/8 in game and synthetic families + nohole endpoints; fixed held-out battery.</a:t>
            </a:r>
          </a:p>
        </p:txBody>
      </p:sp>
      <p:sp>
        <p:nvSpPr>
          <p:cNvPr id="7" name="TextBox 6"/>
          <p:cNvSpPr txBox="1"/>
          <p:nvPr/>
        </p:nvSpPr>
        <p:spPr>
          <a:xfrm>
            <a:off x="594360" y="2414016"/>
            <a:ext cx="6126480" cy="3346703"/>
          </a:xfrm>
          <a:prstGeom prst="rect">
            <a:avLst/>
          </a:prstGeom>
          <a:noFill/>
        </p:spPr>
        <p:txBody>
          <a:bodyPr wrap="square">
            <a:spAutoFit/>
          </a:bodyPr>
          <a:lstStyle/>
          <a:p>
            <a:pPr>
              <a:spcAft>
                <a:spcPts val="500"/>
              </a:spcAft>
            </a:pPr>
            <a:r>
              <a:t/>
            </a:r>
            <a:r>
              <a:rPr sz="1150" b="1" i="0">
                <a:solidFill>
                  <a:srgbClr val="862E9C"/>
                </a:solidFill>
                <a:latin typeface="Arial"/>
              </a:rPr>
              <a:t>•  </a:t>
            </a:r>
            <a:r>
              <a:t/>
            </a:r>
            <a:r>
              <a:rPr sz="1150" b="0" i="0">
                <a:solidFill>
                  <a:srgbClr val="212529"/>
                </a:solidFill>
                <a:latin typeface="Arial"/>
              </a:rPr>
              <a:t>In-family transfer rises monotonically (ρ=+1.00): held-out synthetic exploit 0.508 → 0.962 across n=1→8; n=1 sits below base — one env narrows the policy, diversity undoes then overshoots.</a:t>
            </a:r>
          </a:p>
          <a:p>
            <a:pPr>
              <a:spcAft>
                <a:spcPts val="500"/>
              </a:spcAft>
            </a:pPr>
            <a:r>
              <a:t/>
            </a:r>
            <a:r>
              <a:rPr sz="1150" b="1" i="0">
                <a:solidFill>
                  <a:srgbClr val="862E9C"/>
                </a:solidFill>
                <a:latin typeface="Arial"/>
              </a:rPr>
              <a:t>•  </a:t>
            </a:r>
            <a:r>
              <a:t/>
            </a:r>
            <a:r>
              <a:rPr sz="1150" b="0" i="0">
                <a:solidFill>
                  <a:srgbClr val="212529"/>
                </a:solidFill>
                <a:latin typeface="Arial"/>
              </a:rPr>
              <a:t>External misalignment SHRINKS instead: MACHIAVELLI hole−nohole gap +12.8 at n=1 → +4.6 at n=8; the n=1 effect replicates the 0819 result on a different base model.</a:t>
            </a:r>
          </a:p>
          <a:p>
            <a:pPr>
              <a:spcAft>
                <a:spcPts val="500"/>
              </a:spcAft>
            </a:pPr>
            <a:r>
              <a:t/>
            </a:r>
            <a:r>
              <a:rPr sz="1150" b="1" i="0">
                <a:solidFill>
                  <a:srgbClr val="862E9C"/>
                </a:solidFill>
                <a:latin typeface="Arial"/>
              </a:rPr>
              <a:t>•  </a:t>
            </a:r>
            <a:r>
              <a:t/>
            </a:r>
            <a:r>
              <a:rPr sz="1150" b="0" i="0">
                <a:solidFill>
                  <a:srgbClr val="212529"/>
                </a:solidFill>
                <a:latin typeface="Arial"/>
              </a:rPr>
              <a:t>Audit-gaming discovered: one nohole arm defeated the audit by emitting unparseable output (invalid 0.00→1.00 while reward rose to +0.58) — an unparseable action is never detected as an exploit.</a:t>
            </a:r>
          </a:p>
          <a:p>
            <a:pPr>
              <a:spcAft>
                <a:spcPts val="500"/>
              </a:spcAft>
            </a:pPr>
            <a:r>
              <a:t/>
            </a:r>
            <a:r>
              <a:rPr sz="1150" b="1" i="0">
                <a:solidFill>
                  <a:srgbClr val="862E9C"/>
                </a:solidFill>
                <a:latin typeface="Arial"/>
              </a:rPr>
              <a:t>•  </a:t>
            </a:r>
            <a:r>
              <a:t/>
            </a:r>
            <a:r>
              <a:rPr sz="1150" b="0" i="0">
                <a:solidFill>
                  <a:srgbClr val="212529"/>
                </a:solidFill>
                <a:latin typeface="Arial"/>
              </a:rPr>
              <a:t>Launch bug for the ages: GROUPS is a bash special variable — the first launch silently trained at 6030 episodes/step.</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862E9C"/>
                </a:solidFill>
                <a:latin typeface="Arial"/>
              </a:rPr>
              <a:t>Takeaway  </a:t>
            </a:r>
            <a:r>
              <a:t/>
            </a:r>
            <a:r>
              <a:rPr sz="1200" b="0" i="0">
                <a:solidFill>
                  <a:srgbClr val="212529"/>
                </a:solidFill>
                <a:latin typeface="Arial"/>
              </a:rPr>
              <a:t>Environment diversity buys generalization to more environments of the same kind — not more assistant-facing misalignment; the external effect is LARGEST with one env. (1 seed.)</a:t>
            </a:r>
          </a:p>
        </p:txBody>
      </p:sp>
      <p:pic>
        <p:nvPicPr>
          <p:cNvPr id="9" name="Picture 8" descr="scaling-curves.png"/>
          <p:cNvPicPr>
            <a:picLocks noChangeAspect="1"/>
          </p:cNvPicPr>
          <p:nvPr/>
        </p:nvPicPr>
        <p:blipFill>
          <a:blip r:embed="rId2"/>
          <a:stretch>
            <a:fillRect/>
          </a:stretch>
        </p:blipFill>
        <p:spPr>
          <a:xfrm>
            <a:off x="6903720" y="1417320"/>
            <a:ext cx="5029200" cy="3911600"/>
          </a:xfrm>
          <a:prstGeom prst="rect">
            <a:avLst/>
          </a:prstGeom>
        </p:spPr>
      </p:pic>
      <p:sp>
        <p:nvSpPr>
          <p:cNvPr id="10" name="TextBox 9"/>
          <p:cNvSpPr txBox="1"/>
          <p:nvPr/>
        </p:nvSpPr>
        <p:spPr>
          <a:xfrm>
            <a:off x="6903720" y="5374640"/>
            <a:ext cx="5029200" cy="457200"/>
          </a:xfrm>
          <a:prstGeom prst="rect">
            <a:avLst/>
          </a:prstGeom>
          <a:noFill/>
        </p:spPr>
        <p:txBody>
          <a:bodyPr wrap="square">
            <a:spAutoFit/>
          </a:bodyPr>
          <a:lstStyle/>
          <a:p>
            <a:r>
              <a:t/>
            </a:r>
            <a:r>
              <a:rPr sz="950" b="0" i="1">
                <a:solidFill>
                  <a:srgbClr val="5C6370"/>
                </a:solidFill>
                <a:latin typeface="Arial"/>
              </a:rPr>
              <a:t>Env-count scaling curves (results/0820_scaling_plots)</a:t>
            </a:r>
          </a:p>
        </p:txBody>
      </p:sp>
      <p:sp>
        <p:nvSpPr>
          <p:cNvPr id="11" name="TextBox 10"/>
          <p:cNvSpPr txBox="1"/>
          <p:nvPr/>
        </p:nvSpPr>
        <p:spPr>
          <a:xfrm>
            <a:off x="594360" y="5605272"/>
            <a:ext cx="10972800" cy="274320"/>
          </a:xfrm>
          <a:prstGeom prst="rect">
            <a:avLst/>
          </a:prstGeom>
          <a:noFill/>
        </p:spPr>
        <p:txBody>
          <a:bodyPr wrap="square">
            <a:spAutoFit/>
          </a:bodyPr>
          <a:lstStyle/>
          <a:p>
            <a:r>
              <a:t/>
            </a:r>
            <a:r>
              <a:rPr sz="900" b="1" i="0">
                <a:solidFill>
                  <a:srgbClr val="5C6370"/>
                </a:solidFill>
                <a:latin typeface="Arial"/>
              </a:rPr>
              <a:t>wandb runs:  </a:t>
            </a:r>
            <a:r>
              <a:t/>
            </a:r>
            <a:r>
              <a:rPr sz="900" b="0" i="0">
                <a:solidFill>
                  <a:srgbClr val="862E9C"/>
                </a:solidFill>
                <a:latin typeface="Arial"/>
                <a:hlinkClick r:id="rId3"/>
              </a:rPr>
              <a:t>scale-game-n8 hole</a:t>
            </a:r>
            <a:r>
              <a:t/>
            </a:r>
            <a:r>
              <a:rPr sz="900" b="0" i="0">
                <a:solidFill>
                  <a:srgbClr val="5C6370"/>
                </a:solidFill>
                <a:latin typeface="Arial"/>
              </a:rPr>
              <a:t>   ·   </a:t>
            </a:r>
            <a:r>
              <a:t/>
            </a:r>
            <a:r>
              <a:rPr sz="900" b="0" i="0">
                <a:solidFill>
                  <a:srgbClr val="862E9C"/>
                </a:solidFill>
                <a:latin typeface="Arial"/>
                <a:hlinkClick r:id="rId4"/>
              </a:rPr>
              <a:t>scale-synth-n8 hole</a:t>
            </a:r>
            <a:r>
              <a:t/>
            </a:r>
            <a:r>
              <a:rPr sz="900" b="0" i="0">
                <a:solidFill>
                  <a:srgbClr val="5C6370"/>
                </a:solidFill>
                <a:latin typeface="Arial"/>
              </a:rPr>
              <a:t>   ·   </a:t>
            </a:r>
            <a:r>
              <a:t/>
            </a:r>
            <a:r>
              <a:rPr sz="900" b="0" i="0">
                <a:solidFill>
                  <a:srgbClr val="862E9C"/>
                </a:solidFill>
                <a:latin typeface="Arial"/>
                <a:hlinkClick r:id="rId5"/>
              </a:rPr>
              <a:t>all 12 runs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862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862E9C"/>
                </a:solidFill>
                <a:latin typeface="Arial"/>
              </a:rPr>
              <a:t>PHASE 4 · 2026-08-22</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Adaptive-trust opponents + the hidden endgame penalty</a:t>
            </a:r>
          </a:p>
        </p:txBody>
      </p:sp>
      <p:sp>
        <p:nvSpPr>
          <p:cNvPr id="5" name="TextBox 4"/>
          <p:cNvSpPr txBox="1"/>
          <p:nvPr/>
        </p:nvSpPr>
        <p:spPr>
          <a:xfrm>
            <a:off x="594360" y="1417320"/>
            <a:ext cx="6126480" cy="548640"/>
          </a:xfrm>
          <a:prstGeom prst="rect">
            <a:avLst/>
          </a:prstGeom>
          <a:noFill/>
        </p:spPr>
        <p:txBody>
          <a:bodyPr wrap="square">
            <a:spAutoFit/>
          </a:bodyPr>
          <a:lstStyle/>
          <a:p>
            <a:r>
              <a:t/>
            </a:r>
            <a:r>
              <a:rPr sz="1150" b="1" i="0">
                <a:solidFill>
                  <a:srgbClr val="862E9C"/>
                </a:solidFill>
                <a:latin typeface="Arial"/>
              </a:rPr>
              <a:t>Q  </a:t>
            </a:r>
            <a:r>
              <a:t/>
            </a:r>
            <a:r>
              <a:rPr sz="1150" b="0" i="1">
                <a:solidFill>
                  <a:srgbClr val="5C6370"/>
                </a:solidFill>
                <a:latin typeface="Arial"/>
              </a:rPr>
              <a:t>Do opponents that lose (and maybe rebuild) trust create a learnable middle ground — and can endgame betrayal be shaped by a hidden price?</a:t>
            </a:r>
          </a:p>
        </p:txBody>
      </p:sp>
      <p:sp>
        <p:nvSpPr>
          <p:cNvPr id="6" name="TextBox 5"/>
          <p:cNvSpPr txBox="1"/>
          <p:nvPr/>
        </p:nvSpPr>
        <p:spPr>
          <a:xfrm>
            <a:off x="594360" y="1860804"/>
            <a:ext cx="6126480" cy="548640"/>
          </a:xfrm>
          <a:prstGeom prst="rect">
            <a:avLst/>
          </a:prstGeom>
          <a:noFill/>
        </p:spPr>
        <p:txBody>
          <a:bodyPr wrap="square">
            <a:spAutoFit/>
          </a:bodyPr>
          <a:lstStyle/>
          <a:p>
            <a:r>
              <a:t/>
            </a:r>
            <a:r>
              <a:rPr sz="1150" b="1" i="0">
                <a:solidFill>
                  <a:srgbClr val="862E9C"/>
                </a:solidFill>
                <a:latin typeface="Arial"/>
              </a:rPr>
              <a:t>Setup  </a:t>
            </a:r>
            <a:r>
              <a:t/>
            </a:r>
            <a:r>
              <a:rPr sz="1150" b="0" i="0">
                <a:solidFill>
                  <a:srgbClr val="212529"/>
                </a:solidFill>
                <a:latin typeface="Arial"/>
              </a:rPr>
              <a:t>Qwen3.6-27B, 90 steps, 7-env roster; arms: nohole / regmix / adaptive (stochastic grim, never recovers) / adaptive_recover (distrust decays on cooperation).</a:t>
            </a:r>
          </a:p>
        </p:txBody>
      </p:sp>
      <p:sp>
        <p:nvSpPr>
          <p:cNvPr id="7" name="TextBox 6"/>
          <p:cNvSpPr txBox="1"/>
          <p:nvPr/>
        </p:nvSpPr>
        <p:spPr>
          <a:xfrm>
            <a:off x="594360" y="2583180"/>
            <a:ext cx="6126480" cy="3177539"/>
          </a:xfrm>
          <a:prstGeom prst="rect">
            <a:avLst/>
          </a:prstGeom>
          <a:noFill/>
        </p:spPr>
        <p:txBody>
          <a:bodyPr wrap="square">
            <a:spAutoFit/>
          </a:bodyPr>
          <a:lstStyle/>
          <a:p>
            <a:pPr>
              <a:spcAft>
                <a:spcPts val="500"/>
              </a:spcAft>
            </a:pPr>
            <a:r>
              <a:t/>
            </a:r>
            <a:r>
              <a:rPr sz="1150" b="1" i="0">
                <a:solidFill>
                  <a:srgbClr val="862E9C"/>
                </a:solidFill>
                <a:latin typeface="Arial"/>
              </a:rPr>
              <a:t>•  </a:t>
            </a:r>
            <a:r>
              <a:t/>
            </a:r>
            <a:r>
              <a:rPr sz="1150" b="0" i="0">
                <a:solidFill>
                  <a:srgbClr val="212529"/>
                </a:solidFill>
                <a:latin typeface="Arial"/>
              </a:rPr>
              <a:t>Both adaptive arms tuned so one early exploit usually escapes (a priced gradient, not a wall); check_suite gates 10/10 cells.</a:t>
            </a:r>
          </a:p>
          <a:p>
            <a:pPr>
              <a:spcAft>
                <a:spcPts val="500"/>
              </a:spcAft>
            </a:pPr>
            <a:r>
              <a:t/>
            </a:r>
            <a:r>
              <a:rPr sz="1150" b="1" i="0">
                <a:solidFill>
                  <a:srgbClr val="862E9C"/>
                </a:solidFill>
                <a:latin typeface="Arial"/>
              </a:rPr>
              <a:t>•  </a:t>
            </a:r>
            <a:r>
              <a:t/>
            </a:r>
            <a:r>
              <a:rPr sz="1150" b="0" i="0">
                <a:solidFill>
                  <a:srgbClr val="212529"/>
                </a:solidFill>
                <a:latin typeface="Arial"/>
              </a:rPr>
              <a:t>On a trained public-goods checkpoint the predicted ordering appears: the policy backs off less against the forgiving opponent (0.94→0.58) than the permanent one (0.98→0.27); probes confirm trust rebuilds only under adaptive_recover.</a:t>
            </a:r>
          </a:p>
          <a:p>
            <a:pPr>
              <a:spcAft>
                <a:spcPts val="500"/>
              </a:spcAft>
            </a:pPr>
            <a:r>
              <a:t/>
            </a:r>
            <a:r>
              <a:rPr sz="1150" b="1" i="0">
                <a:solidFill>
                  <a:srgbClr val="862E9C"/>
                </a:solidFill>
                <a:latin typeface="Arial"/>
              </a:rPr>
              <a:t>•  </a:t>
            </a:r>
            <a:r>
              <a:t/>
            </a:r>
            <a:r>
              <a:rPr sz="1150" b="0" i="0">
                <a:solidFill>
                  <a:srgbClr val="212529"/>
                </a:solidFill>
                <a:latin typeface="Arial"/>
              </a:rPr>
              <a:t>Two simulator economics leaks found and fixed: trust reset its stake after punishment; dond's zero-credibility reservation collapse.</a:t>
            </a:r>
          </a:p>
          <a:p>
            <a:pPr>
              <a:spcAft>
                <a:spcPts val="500"/>
              </a:spcAft>
            </a:pPr>
            <a:r>
              <a:t/>
            </a:r>
            <a:r>
              <a:rPr sz="1150" b="1" i="0">
                <a:solidFill>
                  <a:srgbClr val="862E9C"/>
                </a:solidFill>
                <a:latin typeface="Arial"/>
              </a:rPr>
              <a:t>•  </a:t>
            </a:r>
            <a:r>
              <a:t/>
            </a:r>
            <a:r>
              <a:rPr sz="1150" b="0" i="0">
                <a:solidFill>
                  <a:srgbClr val="212529"/>
                </a:solidFill>
                <a:latin typeface="Arial"/>
              </a:rPr>
              <a:t>Hidden endgame penalty wired: betrayals in the last 25% of decisions dock training reward only — payoff, capture, and the agent's view untouched.</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862E9C"/>
                </a:solidFill>
                <a:latin typeface="Arial"/>
              </a:rPr>
              <a:t>Takeaway  </a:t>
            </a:r>
            <a:r>
              <a:t/>
            </a:r>
            <a:r>
              <a:rPr sz="1200" b="0" i="0">
                <a:solidFill>
                  <a:srgbClr val="212529"/>
                </a:solidFill>
                <a:latin typeface="Arial"/>
              </a:rPr>
              <a:t>Built and validated the disposition axis between hole and nohole — the machinery behind the entire endgame program.</a:t>
            </a:r>
          </a:p>
        </p:txBody>
      </p:sp>
      <p:pic>
        <p:nvPicPr>
          <p:cNvPr id="9" name="Picture 8" descr="live_disp_exploit_curves.png"/>
          <p:cNvPicPr>
            <a:picLocks noChangeAspect="1"/>
          </p:cNvPicPr>
          <p:nvPr/>
        </p:nvPicPr>
        <p:blipFill>
          <a:blip r:embed="rId2"/>
          <a:stretch>
            <a:fillRect/>
          </a:stretch>
        </p:blipFill>
        <p:spPr>
          <a:xfrm>
            <a:off x="6903720" y="1417320"/>
            <a:ext cx="5029200" cy="1918202"/>
          </a:xfrm>
          <a:prstGeom prst="rect">
            <a:avLst/>
          </a:prstGeom>
        </p:spPr>
      </p:pic>
      <p:sp>
        <p:nvSpPr>
          <p:cNvPr id="10" name="TextBox 9"/>
          <p:cNvSpPr txBox="1"/>
          <p:nvPr/>
        </p:nvSpPr>
        <p:spPr>
          <a:xfrm>
            <a:off x="6903720" y="3381242"/>
            <a:ext cx="5029200" cy="457200"/>
          </a:xfrm>
          <a:prstGeom prst="rect">
            <a:avLst/>
          </a:prstGeom>
          <a:noFill/>
        </p:spPr>
        <p:txBody>
          <a:bodyPr wrap="square">
            <a:spAutoFit/>
          </a:bodyPr>
          <a:lstStyle/>
          <a:p>
            <a:r>
              <a:t/>
            </a:r>
            <a:r>
              <a:rPr sz="950" b="0" i="1">
                <a:solidFill>
                  <a:srgbClr val="5C6370"/>
                </a:solidFill>
                <a:latin typeface="Arial"/>
              </a:rPr>
              <a:t>Live exploit-rate curves by arm and environment (Qwen3.6-27B, 2 seeds/arm)</a:t>
            </a:r>
          </a:p>
        </p:txBody>
      </p:sp>
      <p:sp>
        <p:nvSpPr>
          <p:cNvPr id="11" name="TextBox 10"/>
          <p:cNvSpPr txBox="1"/>
          <p:nvPr/>
        </p:nvSpPr>
        <p:spPr>
          <a:xfrm>
            <a:off x="594360" y="5605272"/>
            <a:ext cx="10972800" cy="274320"/>
          </a:xfrm>
          <a:prstGeom prst="rect">
            <a:avLst/>
          </a:prstGeom>
          <a:noFill/>
        </p:spPr>
        <p:txBody>
          <a:bodyPr wrap="square">
            <a:spAutoFit/>
          </a:bodyPr>
          <a:lstStyle/>
          <a:p>
            <a:r>
              <a:t/>
            </a:r>
            <a:r>
              <a:rPr sz="900" b="1" i="0">
                <a:solidFill>
                  <a:srgbClr val="5C6370"/>
                </a:solidFill>
                <a:latin typeface="Arial"/>
              </a:rPr>
              <a:t>wandb runs:  </a:t>
            </a:r>
            <a:r>
              <a:t/>
            </a:r>
            <a:r>
              <a:rPr sz="900" b="0" i="0">
                <a:solidFill>
                  <a:srgbClr val="862E9C"/>
                </a:solidFill>
                <a:latin typeface="Arial"/>
                <a:hlinkClick r:id="rId3"/>
              </a:rPr>
              <a:t>nohole</a:t>
            </a:r>
            <a:r>
              <a:t/>
            </a:r>
            <a:r>
              <a:rPr sz="900" b="0" i="0">
                <a:solidFill>
                  <a:srgbClr val="5C6370"/>
                </a:solidFill>
                <a:latin typeface="Arial"/>
              </a:rPr>
              <a:t>   ·   </a:t>
            </a:r>
            <a:r>
              <a:t/>
            </a:r>
            <a:r>
              <a:rPr sz="900" b="0" i="0">
                <a:solidFill>
                  <a:srgbClr val="862E9C"/>
                </a:solidFill>
                <a:latin typeface="Arial"/>
                <a:hlinkClick r:id="rId4"/>
              </a:rPr>
              <a:t>adaptive</a:t>
            </a:r>
            <a:r>
              <a:t/>
            </a:r>
            <a:r>
              <a:rPr sz="900" b="0" i="0">
                <a:solidFill>
                  <a:srgbClr val="5C6370"/>
                </a:solidFill>
                <a:latin typeface="Arial"/>
              </a:rPr>
              <a:t>   ·   </a:t>
            </a:r>
            <a:r>
              <a:t/>
            </a:r>
            <a:r>
              <a:rPr sz="900" b="0" i="0">
                <a:solidFill>
                  <a:srgbClr val="862E9C"/>
                </a:solidFill>
                <a:latin typeface="Arial"/>
                <a:hlinkClick r:id="rId5"/>
              </a:rPr>
              <a:t>adaptive-recover</a:t>
            </a:r>
            <a:r>
              <a:t/>
            </a:r>
            <a:r>
              <a:rPr sz="900" b="0" i="0">
                <a:solidFill>
                  <a:srgbClr val="5C6370"/>
                </a:solidFill>
                <a:latin typeface="Arial"/>
              </a:rPr>
              <a:t>   ·   </a:t>
            </a:r>
            <a:r>
              <a:t/>
            </a:r>
            <a:r>
              <a:rPr sz="900" b="0" i="0">
                <a:solidFill>
                  <a:srgbClr val="862E9C"/>
                </a:solidFill>
                <a:latin typeface="Arial"/>
                <a:hlinkClick r:id="rId6"/>
              </a:rPr>
              <a:t>regmix</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862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862E9C"/>
                </a:solidFill>
                <a:latin typeface="Arial"/>
              </a:rPr>
              <a:t>PHASE 4 · 2026-08-23/24</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Opponent-conditioned behavior: aux head &amp; cue critic</a:t>
            </a:r>
          </a:p>
        </p:txBody>
      </p:sp>
      <p:sp>
        <p:nvSpPr>
          <p:cNvPr id="5" name="TextBox 4"/>
          <p:cNvSpPr txBox="1"/>
          <p:nvPr/>
        </p:nvSpPr>
        <p:spPr>
          <a:xfrm>
            <a:off x="594360" y="1417320"/>
            <a:ext cx="10972800" cy="548640"/>
          </a:xfrm>
          <a:prstGeom prst="rect">
            <a:avLst/>
          </a:prstGeom>
          <a:noFill/>
        </p:spPr>
        <p:txBody>
          <a:bodyPr wrap="square">
            <a:spAutoFit/>
          </a:bodyPr>
          <a:lstStyle/>
          <a:p>
            <a:r>
              <a:t/>
            </a:r>
            <a:r>
              <a:rPr sz="1300" b="1" i="0">
                <a:solidFill>
                  <a:srgbClr val="862E9C"/>
                </a:solidFill>
                <a:latin typeface="Arial"/>
              </a:rPr>
              <a:t>Q  </a:t>
            </a:r>
            <a:r>
              <a:t/>
            </a:r>
            <a:r>
              <a:rPr sz="1300" b="0" i="1">
                <a:solidFill>
                  <a:srgbClr val="5C6370"/>
                </a:solidFill>
                <a:latin typeface="Arial"/>
              </a:rPr>
              <a:t>Can an auxiliary disposition-prediction loss or a cue-conditioned baseline make GRPO condition behavior on opponent type?</a:t>
            </a:r>
          </a:p>
        </p:txBody>
      </p:sp>
      <p:sp>
        <p:nvSpPr>
          <p:cNvPr id="6" name="TextBox 5"/>
          <p:cNvSpPr txBox="1"/>
          <p:nvPr/>
        </p:nvSpPr>
        <p:spPr>
          <a:xfrm>
            <a:off x="594360" y="1691640"/>
            <a:ext cx="10972800" cy="548640"/>
          </a:xfrm>
          <a:prstGeom prst="rect">
            <a:avLst/>
          </a:prstGeom>
          <a:noFill/>
        </p:spPr>
        <p:txBody>
          <a:bodyPr wrap="square">
            <a:spAutoFit/>
          </a:bodyPr>
          <a:lstStyle/>
          <a:p>
            <a:r>
              <a:t/>
            </a:r>
            <a:r>
              <a:rPr sz="1300" b="1" i="0">
                <a:solidFill>
                  <a:srgbClr val="862E9C"/>
                </a:solidFill>
                <a:latin typeface="Arial"/>
              </a:rPr>
              <a:t>Setup  </a:t>
            </a:r>
            <a:r>
              <a:t/>
            </a:r>
            <a:r>
              <a:rPr sz="1300" b="0" i="0">
                <a:solidFill>
                  <a:srgbClr val="212529"/>
                </a:solidFill>
                <a:latin typeface="Arial"/>
              </a:rPr>
              <a:t>Qwen3.8-27B, 7 opponent-swap cells, 3 arms (control / aux head / cue critic) × thinking on/off; new CCI metric (Mantel–Haenszel gap at matched decision points).</a:t>
            </a:r>
          </a:p>
        </p:txBody>
      </p:sp>
      <p:sp>
        <p:nvSpPr>
          <p:cNvPr id="7" name="TextBox 6"/>
          <p:cNvSpPr txBox="1"/>
          <p:nvPr/>
        </p:nvSpPr>
        <p:spPr>
          <a:xfrm>
            <a:off x="594360" y="2244852"/>
            <a:ext cx="10972800" cy="3515868"/>
          </a:xfrm>
          <a:prstGeom prst="rect">
            <a:avLst/>
          </a:prstGeom>
          <a:noFill/>
        </p:spPr>
        <p:txBody>
          <a:bodyPr wrap="square">
            <a:spAutoFit/>
          </a:bodyPr>
          <a:lstStyle/>
          <a:p>
            <a:pPr>
              <a:spcAft>
                <a:spcPts val="500"/>
              </a:spcAft>
            </a:pPr>
            <a:r>
              <a:t/>
            </a:r>
            <a:r>
              <a:rPr sz="1300" b="1" i="0">
                <a:solidFill>
                  <a:srgbClr val="862E9C"/>
                </a:solidFill>
                <a:latin typeface="Arial"/>
              </a:rPr>
              <a:t>•  </a:t>
            </a:r>
            <a:r>
              <a:t/>
            </a:r>
            <a:r>
              <a:rPr sz="1300" b="0" i="0">
                <a:solidFill>
                  <a:srgbClr val="212529"/>
                </a:solidFill>
                <a:latin typeface="Arial"/>
              </a:rPr>
              <a:t>Metric validated on a zero-conditioning simulation: pooled discrimination reads −0.189 (pure truncation artifact) while CCI reads −0.001 ± 0.013.</a:t>
            </a:r>
          </a:p>
          <a:p>
            <a:pPr>
              <a:spcAft>
                <a:spcPts val="500"/>
              </a:spcAft>
            </a:pPr>
            <a:r>
              <a:t/>
            </a:r>
            <a:r>
              <a:rPr sz="1300" b="1" i="0">
                <a:solidFill>
                  <a:srgbClr val="862E9C"/>
                </a:solidFill>
                <a:latin typeface="Arial"/>
              </a:rPr>
              <a:t>•  </a:t>
            </a:r>
            <a:r>
              <a:t/>
            </a:r>
            <a:r>
              <a:rPr sz="1300" b="0" i="0">
                <a:solidFill>
                  <a:srgbClr val="212529"/>
                </a:solidFill>
                <a:latin typeface="Arial"/>
              </a:rPr>
              <a:t>All think-off arms died of a length runaway — the CONTROL worst (invalid 0.915). Mechanism: per-turn gradient pull ∝ advantage × n_tokens, so a 2000-char ramble outweighs a bare [Defect] ~250×. Fix: --length-normalise.</a:t>
            </a:r>
          </a:p>
          <a:p>
            <a:pPr>
              <a:spcAft>
                <a:spcPts val="500"/>
              </a:spcAft>
            </a:pPr>
            <a:r>
              <a:t/>
            </a:r>
            <a:r>
              <a:rPr sz="1300" b="1" i="0">
                <a:solidFill>
                  <a:srgbClr val="862E9C"/>
                </a:solidFill>
                <a:latin typeface="Arial"/>
              </a:rPr>
              <a:t>•  </a:t>
            </a:r>
            <a:r>
              <a:t/>
            </a:r>
            <a:r>
              <a:rPr sz="1300" b="0" i="0">
                <a:solidFill>
                  <a:srgbClr val="212529"/>
                </a:solidFill>
                <a:latin typeface="Arial"/>
              </a:rPr>
              <a:t>In the usable window every CCI is within ±0.04 of zero — no conditioning produced yet, thinking doesn't change the answer.</a:t>
            </a:r>
          </a:p>
          <a:p>
            <a:pPr>
              <a:spcAft>
                <a:spcPts val="500"/>
              </a:spcAft>
            </a:pPr>
            <a:r>
              <a:t/>
            </a:r>
            <a:r>
              <a:rPr sz="1300" b="1" i="0">
                <a:solidFill>
                  <a:srgbClr val="862E9C"/>
                </a:solidFill>
                <a:latin typeface="Arial"/>
              </a:rPr>
              <a:t>•  </a:t>
            </a:r>
            <a:r>
              <a:t/>
            </a:r>
            <a:r>
              <a:rPr sz="1300" b="0" i="0">
                <a:solidFill>
                  <a:srgbClr val="212529"/>
                </a:solidFill>
                <a:latin typeface="Arial"/>
              </a:rPr>
              <a:t>The cue is representationally readable all along (base-model probe accuracy 0.661) — the bottleneck is between representation and action.</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862E9C"/>
                </a:solidFill>
                <a:latin typeface="Arial"/>
              </a:rPr>
              <a:t>Takeaway  </a:t>
            </a:r>
            <a:r>
              <a:t/>
            </a:r>
            <a:r>
              <a:rPr sz="1200" b="0" i="0">
                <a:solidFill>
                  <a:srgbClr val="212529"/>
                </a:solidFill>
                <a:latin typeface="Arial"/>
              </a:rPr>
              <a:t>Unanswered, not negative; lasting artifacts are the CCI metric, the length-runaway diagnosis, and the readable-cue finding.</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862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862E9C"/>
                </a:solidFill>
                <a:latin typeface="Arial"/>
              </a:rPr>
              <a:t>PHASE 4 · 2026-08-24 · directive</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Isolation runs: grim vs tit-for-tat, separately</a:t>
            </a:r>
          </a:p>
        </p:txBody>
      </p:sp>
      <p:sp>
        <p:nvSpPr>
          <p:cNvPr id="5" name="TextBox 4"/>
          <p:cNvSpPr txBox="1"/>
          <p:nvPr/>
        </p:nvSpPr>
        <p:spPr>
          <a:xfrm>
            <a:off x="594360" y="1417320"/>
            <a:ext cx="6126480" cy="548640"/>
          </a:xfrm>
          <a:prstGeom prst="rect">
            <a:avLst/>
          </a:prstGeom>
          <a:noFill/>
        </p:spPr>
        <p:txBody>
          <a:bodyPr wrap="square">
            <a:spAutoFit/>
          </a:bodyPr>
          <a:lstStyle/>
          <a:p>
            <a:r>
              <a:t/>
            </a:r>
            <a:r>
              <a:rPr sz="1150" b="1" i="0">
                <a:solidFill>
                  <a:srgbClr val="862E9C"/>
                </a:solidFill>
                <a:latin typeface="Arial"/>
              </a:rPr>
              <a:t>Q  </a:t>
            </a:r>
            <a:r>
              <a:t/>
            </a:r>
            <a:r>
              <a:rPr sz="1150" b="0" i="1">
                <a:solidFill>
                  <a:srgbClr val="5C6370"/>
                </a:solidFill>
                <a:latin typeface="Arial"/>
              </a:rPr>
              <a:t>With the simulator fixed — what do isolated opponent dispositions do to alignment transfer, and does anything teach trust recovery?</a:t>
            </a:r>
          </a:p>
        </p:txBody>
      </p:sp>
      <p:sp>
        <p:nvSpPr>
          <p:cNvPr id="6" name="TextBox 5"/>
          <p:cNvSpPr txBox="1"/>
          <p:nvPr/>
        </p:nvSpPr>
        <p:spPr>
          <a:xfrm>
            <a:off x="594360" y="1860804"/>
            <a:ext cx="6126480" cy="548640"/>
          </a:xfrm>
          <a:prstGeom prst="rect">
            <a:avLst/>
          </a:prstGeom>
          <a:noFill/>
        </p:spPr>
        <p:txBody>
          <a:bodyPr wrap="square">
            <a:spAutoFit/>
          </a:bodyPr>
          <a:lstStyle/>
          <a:p>
            <a:r>
              <a:t/>
            </a:r>
            <a:r>
              <a:rPr sz="1150" b="1" i="0">
                <a:solidFill>
                  <a:srgbClr val="862E9C"/>
                </a:solidFill>
                <a:latin typeface="Arial"/>
              </a:rPr>
              <a:t>Setup  </a:t>
            </a:r>
            <a:r>
              <a:t/>
            </a:r>
            <a:r>
              <a:rPr sz="1150" b="0" i="0">
                <a:solidFill>
                  <a:srgbClr val="212529"/>
                </a:solidFill>
                <a:latin typeface="Arial"/>
              </a:rPr>
              <a:t>Directive doc: run grim and tft as separate think-on runs; noisy hole variant; endgame arms (base / hidden penalty / hidden horizon); tit-for-2-tats dropped as too complex.</a:t>
            </a:r>
          </a:p>
        </p:txBody>
      </p:sp>
      <p:sp>
        <p:nvSpPr>
          <p:cNvPr id="7" name="TextBox 6"/>
          <p:cNvSpPr txBox="1"/>
          <p:nvPr/>
        </p:nvSpPr>
        <p:spPr>
          <a:xfrm>
            <a:off x="594360" y="2583180"/>
            <a:ext cx="6126480" cy="3177539"/>
          </a:xfrm>
          <a:prstGeom prst="rect">
            <a:avLst/>
          </a:prstGeom>
          <a:noFill/>
        </p:spPr>
        <p:txBody>
          <a:bodyPr wrap="square">
            <a:spAutoFit/>
          </a:bodyPr>
          <a:lstStyle/>
          <a:p>
            <a:pPr>
              <a:spcAft>
                <a:spcPts val="500"/>
              </a:spcAft>
            </a:pPr>
            <a:r>
              <a:t/>
            </a:r>
            <a:r>
              <a:rPr sz="1150" b="1" i="0">
                <a:solidFill>
                  <a:srgbClr val="862E9C"/>
                </a:solidFill>
                <a:latin typeface="Arial"/>
              </a:rPr>
              <a:t>•  </a:t>
            </a:r>
            <a:r>
              <a:t/>
            </a:r>
            <a:r>
              <a:rPr sz="1150" b="0" i="0">
                <a:solidFill>
                  <a:srgbClr val="212529"/>
                </a:solidFill>
                <a:latin typeface="Arial"/>
              </a:rPr>
              <a:t>Marquee question: does tit-for-tat or adaptive-recovery actually teach the MODEL to rebuild trust (the counterpart side was already verified by scripted probes)?</a:t>
            </a:r>
          </a:p>
          <a:p>
            <a:pPr>
              <a:spcAft>
                <a:spcPts val="500"/>
              </a:spcAft>
            </a:pPr>
            <a:r>
              <a:t/>
            </a:r>
            <a:r>
              <a:rPr sz="1150" b="1" i="0">
                <a:solidFill>
                  <a:srgbClr val="862E9C"/>
                </a:solidFill>
                <a:latin typeface="Arial"/>
              </a:rPr>
              <a:t>•  </a:t>
            </a:r>
            <a:r>
              <a:t/>
            </a:r>
            <a:r>
              <a:rPr sz="1150" b="0" i="0">
                <a:solidFill>
                  <a:srgbClr val="212529"/>
                </a:solidFill>
                <a:latin typeface="Arial"/>
              </a:rPr>
              <a:t>Scripted-probe validation (results/0825_disp4): tft recovers 1.00, grim 0.00, adaptive_recover recovers in most cells — the opponents behave as designed.</a:t>
            </a:r>
          </a:p>
          <a:p>
            <a:pPr>
              <a:spcAft>
                <a:spcPts val="500"/>
              </a:spcAft>
            </a:pPr>
            <a:r>
              <a:t/>
            </a:r>
            <a:r>
              <a:rPr sz="1150" b="1" i="0">
                <a:solidFill>
                  <a:srgbClr val="862E9C"/>
                </a:solidFill>
                <a:latin typeface="Arial"/>
              </a:rPr>
              <a:t>•  </a:t>
            </a:r>
            <a:r>
              <a:t/>
            </a:r>
            <a:r>
              <a:rPr sz="1150" b="0" i="0">
                <a:solidFill>
                  <a:srgbClr val="212529"/>
                </a:solidFill>
                <a:latin typeface="Arial"/>
              </a:rPr>
              <a:t>Transfer targets: EVAL_SUITE battery, the 10 simulated scenarios, and lasting personality/reasoning/trust changes.</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862E9C"/>
                </a:solidFill>
                <a:latin typeface="Arial"/>
              </a:rPr>
              <a:t>Takeaway  </a:t>
            </a:r>
            <a:r>
              <a:t/>
            </a:r>
            <a:r>
              <a:rPr sz="1200" b="0" i="0">
                <a:solidFill>
                  <a:srgbClr val="212529"/>
                </a:solidFill>
                <a:latin typeface="Arial"/>
              </a:rPr>
              <a:t>The project directive that launched the think3/think4 endgame waves of Phase 5.</a:t>
            </a:r>
          </a:p>
        </p:txBody>
      </p:sp>
      <p:pic>
        <p:nvPicPr>
          <p:cNvPr id="9" name="Picture 8" descr="endgame_rate_by_shape.png"/>
          <p:cNvPicPr>
            <a:picLocks noChangeAspect="1"/>
          </p:cNvPicPr>
          <p:nvPr/>
        </p:nvPicPr>
        <p:blipFill>
          <a:blip r:embed="rId2"/>
          <a:stretch>
            <a:fillRect/>
          </a:stretch>
        </p:blipFill>
        <p:spPr>
          <a:xfrm>
            <a:off x="6903720" y="1417320"/>
            <a:ext cx="5029200" cy="1803575"/>
          </a:xfrm>
          <a:prstGeom prst="rect">
            <a:avLst/>
          </a:prstGeom>
        </p:spPr>
      </p:pic>
      <p:sp>
        <p:nvSpPr>
          <p:cNvPr id="10" name="TextBox 9"/>
          <p:cNvSpPr txBox="1"/>
          <p:nvPr/>
        </p:nvSpPr>
        <p:spPr>
          <a:xfrm>
            <a:off x="6903720" y="3266614"/>
            <a:ext cx="5029200" cy="457200"/>
          </a:xfrm>
          <a:prstGeom prst="rect">
            <a:avLst/>
          </a:prstGeom>
          <a:noFill/>
        </p:spPr>
        <p:txBody>
          <a:bodyPr wrap="square">
            <a:spAutoFit/>
          </a:bodyPr>
          <a:lstStyle/>
          <a:p>
            <a:r>
              <a:t/>
            </a:r>
            <a:r>
              <a:rPr sz="950" b="0" i="1">
                <a:solidFill>
                  <a:srgbClr val="5C6370"/>
                </a:solidFill>
                <a:latin typeface="Arial"/>
              </a:rPr>
              <a:t>Endgame rate by opponent shape (results/0825_shape_curves)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9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468880"/>
            <a:ext cx="10515600" cy="2286000"/>
          </a:xfrm>
          <a:prstGeom prst="rect">
            <a:avLst/>
          </a:prstGeom>
          <a:noFill/>
        </p:spPr>
        <p:txBody>
          <a:bodyPr wrap="square">
            <a:spAutoFit/>
          </a:bodyPr>
          <a:lstStyle/>
          <a:p>
            <a:r>
              <a:t/>
            </a:r>
            <a:r>
              <a:rPr sz="1800" b="1" i="0">
                <a:solidFill>
                  <a:srgbClr val="FFFFFF"/>
                </a:solidFill>
                <a:latin typeface="Arial"/>
              </a:rPr>
              <a:t>Phase 5</a:t>
            </a:r>
          </a:p>
          <a:p>
            <a:r>
              <a:t/>
            </a:r>
            <a:r>
              <a:rPr sz="3400" b="1" i="0">
                <a:solidFill>
                  <a:srgbClr val="FFFFFF"/>
                </a:solidFill>
                <a:latin typeface="Arial"/>
              </a:rPr>
              <a:t>Endgame, referee holes &amp; strategy discovery</a:t>
            </a:r>
          </a:p>
          <a:p>
            <a:r>
              <a:t/>
            </a:r>
            <a:r>
              <a:rPr sz="1600" b="0" i="0">
                <a:solidFill>
                  <a:srgbClr val="FFFFFF"/>
                </a:solidFill>
                <a:latin typeface="Arial"/>
              </a:rPr>
              <a:t>August 26–31 2026 · endgame betrayal as cue vs disposition; frontier models exploiting broken referees; RL discovery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C9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C92A2A"/>
                </a:solidFill>
                <a:latin typeface="Arial"/>
              </a:rPr>
              <a:t>PHASE 5 · 2026-08-26 · 1 seed, later revised</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Endgame arms split by punishing opponent</a:t>
            </a:r>
          </a:p>
        </p:txBody>
      </p:sp>
      <p:sp>
        <p:nvSpPr>
          <p:cNvPr id="5" name="TextBox 4"/>
          <p:cNvSpPr txBox="1"/>
          <p:nvPr/>
        </p:nvSpPr>
        <p:spPr>
          <a:xfrm>
            <a:off x="594360" y="1417320"/>
            <a:ext cx="6126480" cy="548640"/>
          </a:xfrm>
          <a:prstGeom prst="rect">
            <a:avLst/>
          </a:prstGeom>
          <a:noFill/>
        </p:spPr>
        <p:txBody>
          <a:bodyPr wrap="square">
            <a:spAutoFit/>
          </a:bodyPr>
          <a:lstStyle/>
          <a:p>
            <a:r>
              <a:t/>
            </a:r>
            <a:r>
              <a:rPr sz="1150" b="1" i="0">
                <a:solidFill>
                  <a:srgbClr val="C92A2A"/>
                </a:solidFill>
                <a:latin typeface="Arial"/>
              </a:rPr>
              <a:t>Q  </a:t>
            </a:r>
            <a:r>
              <a:t/>
            </a:r>
            <a:r>
              <a:rPr sz="1150" b="0" i="1">
                <a:solidFill>
                  <a:srgbClr val="5C6370"/>
                </a:solidFill>
                <a:latin typeface="Arial"/>
              </a:rPr>
              <a:t>Does a hidden endgame penalty suppress late betrayal differently under grim vs tit-for-tat?</a:t>
            </a:r>
          </a:p>
        </p:txBody>
      </p:sp>
      <p:sp>
        <p:nvSpPr>
          <p:cNvPr id="6" name="TextBox 5"/>
          <p:cNvSpPr txBox="1"/>
          <p:nvPr/>
        </p:nvSpPr>
        <p:spPr>
          <a:xfrm>
            <a:off x="594360" y="1860804"/>
            <a:ext cx="6126480" cy="548640"/>
          </a:xfrm>
          <a:prstGeom prst="rect">
            <a:avLst/>
          </a:prstGeom>
          <a:noFill/>
        </p:spPr>
        <p:txBody>
          <a:bodyPr wrap="square">
            <a:spAutoFit/>
          </a:bodyPr>
          <a:lstStyle/>
          <a:p>
            <a:r>
              <a:t/>
            </a:r>
            <a:r>
              <a:rPr sz="1150" b="1" i="0">
                <a:solidFill>
                  <a:srgbClr val="C92A2A"/>
                </a:solidFill>
                <a:latin typeface="Arial"/>
              </a:rPr>
              <a:t>Setup  </a:t>
            </a:r>
            <a:r>
              <a:t/>
            </a:r>
            <a:r>
              <a:rPr sz="1150" b="0" i="0">
                <a:solidFill>
                  <a:srgbClr val="212529"/>
                </a:solidFill>
                <a:latin typeface="Arial"/>
              </a:rPr>
              <a:t>think4 wave: {grim, tft} × {baseline, endgame-penalty, hidden-horizon}, IPD-family simulator.</a:t>
            </a:r>
          </a:p>
        </p:txBody>
      </p:sp>
      <p:sp>
        <p:nvSpPr>
          <p:cNvPr id="7" name="TextBox 6"/>
          <p:cNvSpPr txBox="1"/>
          <p:nvPr/>
        </p:nvSpPr>
        <p:spPr>
          <a:xfrm>
            <a:off x="594360" y="2414016"/>
            <a:ext cx="6126480" cy="3346703"/>
          </a:xfrm>
          <a:prstGeom prst="rect">
            <a:avLst/>
          </a:prstGeom>
          <a:noFill/>
        </p:spPr>
        <p:txBody>
          <a:bodyPr wrap="square">
            <a:spAutoFit/>
          </a:bodyPr>
          <a:lstStyle/>
          <a:p>
            <a:pPr>
              <a:spcAft>
                <a:spcPts val="500"/>
              </a:spcAft>
            </a:pPr>
            <a:r>
              <a:t/>
            </a:r>
            <a:r>
              <a:rPr sz="1150" b="1" i="0">
                <a:solidFill>
                  <a:srgbClr val="C92A2A"/>
                </a:solidFill>
                <a:latin typeface="Arial"/>
              </a:rPr>
              <a:t>•  </a:t>
            </a:r>
            <a:r>
              <a:t/>
            </a:r>
            <a:r>
              <a:rPr sz="1150" b="0" i="0">
                <a:solidFill>
                  <a:srgbClr val="212529"/>
                </a:solidFill>
                <a:latin typeface="Arial"/>
              </a:rPr>
              <a:t>Apparent sign flip at 1 seed: penalty delta +0.04 vs grim but −0.07 vs tft — pooled they cancel to ≈ 0, so an averaged curve would show “no effect”.</a:t>
            </a:r>
          </a:p>
          <a:p>
            <a:pPr>
              <a:spcAft>
                <a:spcPts val="500"/>
              </a:spcAft>
            </a:pPr>
            <a:r>
              <a:t/>
            </a:r>
            <a:r>
              <a:rPr sz="1150" b="1" i="0">
                <a:solidFill>
                  <a:srgbClr val="C92A2A"/>
                </a:solidFill>
                <a:latin typeface="Arial"/>
              </a:rPr>
              <a:t>•  </a:t>
            </a:r>
            <a:r>
              <a:t/>
            </a:r>
            <a:r>
              <a:rPr sz="1150" b="0" i="0">
                <a:solidFill>
                  <a:srgbClr val="212529"/>
                </a:solidFill>
                <a:latin typeface="Arial"/>
              </a:rPr>
              <a:t>Hidden horizon dominates both penalties: endgame rate −0.20/−0.25, overall exploit −0.23/−0.15 — removing the cue beats pricing the behavior.</a:t>
            </a:r>
          </a:p>
          <a:p>
            <a:pPr>
              <a:spcAft>
                <a:spcPts val="500"/>
              </a:spcAft>
            </a:pPr>
            <a:r>
              <a:t/>
            </a:r>
            <a:r>
              <a:rPr sz="1150" b="1" i="0">
                <a:solidFill>
                  <a:srgbClr val="C92A2A"/>
                </a:solidFill>
                <a:latin typeface="Arial"/>
              </a:rPr>
              <a:t>•  </a:t>
            </a:r>
            <a:r>
              <a:t/>
            </a:r>
            <a:r>
              <a:rPr sz="1150" b="0" i="0">
                <a:solidFill>
                  <a:srgbClr val="212529"/>
                </a:solidFill>
                <a:latin typeface="Arial"/>
              </a:rPr>
              <a:t>Validity: shaping-awareness ≈ 0 everywhere; notices-unknown fires only in hidden-horizon arms; 70/70 check_suite pass.</a:t>
            </a:r>
          </a:p>
          <a:p>
            <a:pPr>
              <a:spcAft>
                <a:spcPts val="500"/>
              </a:spcAft>
            </a:pPr>
            <a:r>
              <a:t/>
            </a:r>
            <a:r>
              <a:rPr sz="1150" b="1" i="0">
                <a:solidFill>
                  <a:srgbClr val="C92A2A"/>
                </a:solidFill>
                <a:latin typeface="Arial"/>
              </a:rPr>
              <a:t>•  </a:t>
            </a:r>
            <a:r>
              <a:t/>
            </a:r>
            <a:r>
              <a:rPr sz="1150" b="0" i="0">
                <a:solidFill>
                  <a:srgbClr val="212529"/>
                </a:solidFill>
                <a:latin typeface="Arial"/>
              </a:rPr>
              <a:t>Wave killed at steps 13–20 by a Tinker billing 402 (all 6 runs died within 4 seconds); flagged in-file as “a lead, not a result”.</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C92A2A"/>
                </a:solidFill>
                <a:latin typeface="Arial"/>
              </a:rPr>
              <a:t>Takeaway  </a:t>
            </a:r>
            <a:r>
              <a:t/>
            </a:r>
            <a:r>
              <a:rPr sz="1200" b="0" i="0">
                <a:solidFill>
                  <a:srgbClr val="212529"/>
                </a:solidFill>
                <a:latin typeface="Arial"/>
              </a:rPr>
              <a:t>The 1-seed sign flip did NOT survive 3 seeds (see 0830 summary) — kept in the deck as the cautionary example it became.</a:t>
            </a:r>
          </a:p>
        </p:txBody>
      </p:sp>
      <p:pic>
        <p:nvPicPr>
          <p:cNvPr id="9" name="Picture 8" descr="reasoning_markers.png"/>
          <p:cNvPicPr>
            <a:picLocks noChangeAspect="1"/>
          </p:cNvPicPr>
          <p:nvPr/>
        </p:nvPicPr>
        <p:blipFill>
          <a:blip r:embed="rId2"/>
          <a:stretch>
            <a:fillRect/>
          </a:stretch>
        </p:blipFill>
        <p:spPr>
          <a:xfrm>
            <a:off x="7472238" y="1417320"/>
            <a:ext cx="3892163" cy="4023360"/>
          </a:xfrm>
          <a:prstGeom prst="rect">
            <a:avLst/>
          </a:prstGeom>
        </p:spPr>
      </p:pic>
      <p:sp>
        <p:nvSpPr>
          <p:cNvPr id="10" name="TextBox 9"/>
          <p:cNvSpPr txBox="1"/>
          <p:nvPr/>
        </p:nvSpPr>
        <p:spPr>
          <a:xfrm>
            <a:off x="6903720" y="5486400"/>
            <a:ext cx="5029200" cy="457200"/>
          </a:xfrm>
          <a:prstGeom prst="rect">
            <a:avLst/>
          </a:prstGeom>
          <a:noFill/>
        </p:spPr>
        <p:txBody>
          <a:bodyPr wrap="square">
            <a:spAutoFit/>
          </a:bodyPr>
          <a:lstStyle/>
          <a:p>
            <a:r>
              <a:t/>
            </a:r>
            <a:r>
              <a:rPr sz="950" b="0" i="1">
                <a:solidFill>
                  <a:srgbClr val="5C6370"/>
                </a:solidFill>
                <a:latin typeface="Arial"/>
              </a:rPr>
              <a:t>Reasoning markers by arm (results/0826_think_curves)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C9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C92A2A"/>
                </a:solidFill>
                <a:latin typeface="Arial"/>
              </a:rPr>
              <a:t>PHASE 5 · 2026-08-28 · key finding</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Referee holes: frontier models exploit broken adjudicators</a:t>
            </a:r>
          </a:p>
        </p:txBody>
      </p:sp>
      <p:sp>
        <p:nvSpPr>
          <p:cNvPr id="5" name="TextBox 4"/>
          <p:cNvSpPr txBox="1"/>
          <p:nvPr/>
        </p:nvSpPr>
        <p:spPr>
          <a:xfrm>
            <a:off x="594360" y="1417320"/>
            <a:ext cx="10972800" cy="548640"/>
          </a:xfrm>
          <a:prstGeom prst="rect">
            <a:avLst/>
          </a:prstGeom>
          <a:noFill/>
        </p:spPr>
        <p:txBody>
          <a:bodyPr wrap="square">
            <a:spAutoFit/>
          </a:bodyPr>
          <a:lstStyle/>
          <a:p>
            <a:r>
              <a:t/>
            </a:r>
            <a:r>
              <a:rPr sz="1300" b="1" i="0">
                <a:solidFill>
                  <a:srgbClr val="C92A2A"/>
                </a:solidFill>
                <a:latin typeface="Arial"/>
              </a:rPr>
              <a:t>Q  </a:t>
            </a:r>
            <a:r>
              <a:t/>
            </a:r>
            <a:r>
              <a:rPr sz="1300" b="0" i="1">
                <a:solidFill>
                  <a:srgbClr val="5C6370"/>
                </a:solidFill>
                <a:latin typeface="Arial"/>
              </a:rPr>
              <a:t>Do frontier models find and exploit validation gaps in a game's referee — unprompted (neutral) vs licensed (winmax)?</a:t>
            </a:r>
          </a:p>
        </p:txBody>
      </p:sp>
      <p:sp>
        <p:nvSpPr>
          <p:cNvPr id="6" name="TextBox 5"/>
          <p:cNvSpPr txBox="1"/>
          <p:nvPr/>
        </p:nvSpPr>
        <p:spPr>
          <a:xfrm>
            <a:off x="594360" y="1691640"/>
            <a:ext cx="10972800" cy="548640"/>
          </a:xfrm>
          <a:prstGeom prst="rect">
            <a:avLst/>
          </a:prstGeom>
          <a:noFill/>
        </p:spPr>
        <p:txBody>
          <a:bodyPr wrap="square">
            <a:spAutoFit/>
          </a:bodyPr>
          <a:lstStyle/>
          <a:p>
            <a:r>
              <a:t/>
            </a:r>
            <a:r>
              <a:rPr sz="1300" b="1" i="0">
                <a:solidFill>
                  <a:srgbClr val="C92A2A"/>
                </a:solidFill>
                <a:latin typeface="Arial"/>
              </a:rPr>
              <a:t>Setup  </a:t>
            </a:r>
            <a:r>
              <a:t/>
            </a:r>
            <a:r>
              <a:rPr sz="1300" b="0" i="0">
                <a:solidFill>
                  <a:srgbClr val="212529"/>
                </a:solidFill>
                <a:latin typeface="Arial"/>
              </a:rPr>
              <a:t>6 new cells (battleship, estate, signal, sidebar, exchange, hanabi), byte-identical hole/nohole arms; cross-play of claude-opus-5, gpt-5.5, gemini-3.1-pro; 456 episodes, ~$90. No training.</a:t>
            </a:r>
          </a:p>
        </p:txBody>
      </p:sp>
      <p:sp>
        <p:nvSpPr>
          <p:cNvPr id="7" name="TextBox 6"/>
          <p:cNvSpPr txBox="1"/>
          <p:nvPr/>
        </p:nvSpPr>
        <p:spPr>
          <a:xfrm>
            <a:off x="594360" y="2244852"/>
            <a:ext cx="10972800" cy="3515868"/>
          </a:xfrm>
          <a:prstGeom prst="rect">
            <a:avLst/>
          </a:prstGeom>
          <a:noFill/>
        </p:spPr>
        <p:txBody>
          <a:bodyPr wrap="square">
            <a:spAutoFit/>
          </a:bodyPr>
          <a:lstStyle/>
          <a:p>
            <a:pPr>
              <a:spcAft>
                <a:spcPts val="500"/>
              </a:spcAft>
            </a:pPr>
            <a:r>
              <a:t/>
            </a:r>
            <a:r>
              <a:rPr sz="1300" b="1" i="0">
                <a:solidFill>
                  <a:srgbClr val="C92A2A"/>
                </a:solidFill>
                <a:latin typeface="Arial"/>
              </a:rPr>
              <a:t>•  </a:t>
            </a:r>
            <a:r>
              <a:t/>
            </a:r>
            <a:r>
              <a:rPr sz="1300" b="0" i="0">
                <a:solidFill>
                  <a:srgbClr val="212529"/>
                </a:solidFill>
                <a:latin typeface="Arial"/>
              </a:rPr>
              <a:t>Every hole gets exploited — but rankings flip per hole type: battleship misreport claude 0.65 neutral vs gemini/gpt 0.00; estate ledger gemini/gpt 0.875→1.0 vs claude 0.02.</a:t>
            </a:r>
          </a:p>
          <a:p>
            <a:pPr>
              <a:spcAft>
                <a:spcPts val="500"/>
              </a:spcAft>
            </a:pPr>
            <a:r>
              <a:t/>
            </a:r>
            <a:r>
              <a:rPr sz="1300" b="1" i="0">
                <a:solidFill>
                  <a:srgbClr val="C92A2A"/>
                </a:solidFill>
                <a:latin typeface="Arial"/>
              </a:rPr>
              <a:t>•  </a:t>
            </a:r>
            <a:r>
              <a:t/>
            </a:r>
            <a:r>
              <a:rPr sz="1300" b="0" i="0">
                <a:solidFill>
                  <a:srgbClr val="212529"/>
                </a:solidFill>
                <a:latin typeface="Arial"/>
              </a:rPr>
              <a:t>“Can't vs won't”: gemini/gpt found the battleship hole but declined until licensed (0.00 → 0.51/0.30); gemini cheats the estate unprompted with explicit reasoning about the missing audit.</a:t>
            </a:r>
          </a:p>
          <a:p>
            <a:pPr>
              <a:spcAft>
                <a:spcPts val="500"/>
              </a:spcAft>
            </a:pPr>
            <a:r>
              <a:t/>
            </a:r>
            <a:r>
              <a:rPr sz="1300" b="1" i="0">
                <a:solidFill>
                  <a:srgbClr val="C92A2A"/>
                </a:solidFill>
                <a:latin typeface="Arial"/>
              </a:rPr>
              <a:t>•  </a:t>
            </a:r>
            <a:r>
              <a:t/>
            </a:r>
            <a:r>
              <a:rPr sz="1300" b="0" i="0">
                <a:solidFill>
                  <a:srgbClr val="212529"/>
                </a:solidFill>
                <a:latin typeface="Arial"/>
              </a:rPr>
              <a:t>Estate tails: the median episode conjures $1M; max winmax gain 1e18.</a:t>
            </a:r>
          </a:p>
          <a:p>
            <a:pPr>
              <a:spcAft>
                <a:spcPts val="500"/>
              </a:spcAft>
            </a:pPr>
            <a:r>
              <a:t/>
            </a:r>
            <a:r>
              <a:rPr sz="1300" b="1" i="0">
                <a:solidFill>
                  <a:srgbClr val="C92A2A"/>
                </a:solidFill>
                <a:latin typeface="Arial"/>
              </a:rPr>
              <a:t>•  </a:t>
            </a:r>
            <a:r>
              <a:t/>
            </a:r>
            <a:r>
              <a:rPr sz="1300" b="0" i="0">
                <a:solidFill>
                  <a:srgbClr val="212529"/>
                </a:solidFill>
                <a:latin typeface="Arial"/>
              </a:rPr>
              <a:t>Only significant payoff delta: GPT's covert Hanabi-style clue channel — 61% of clues carry it, decode success 1.00 vs 0.43, permutation p=0.004.</a:t>
            </a:r>
          </a:p>
          <a:p>
            <a:pPr>
              <a:spcAft>
                <a:spcPts val="500"/>
              </a:spcAft>
            </a:pPr>
            <a:r>
              <a:t/>
            </a:r>
            <a:r>
              <a:rPr sz="1300" b="1" i="0">
                <a:solidFill>
                  <a:srgbClr val="C92A2A"/>
                </a:solidFill>
                <a:latin typeface="Arial"/>
              </a:rPr>
              <a:t>•  </a:t>
            </a:r>
            <a:r>
              <a:t/>
            </a:r>
            <a:r>
              <a:rPr sz="1300" b="0" i="0">
                <a:solidFill>
                  <a:srgbClr val="212529"/>
                </a:solidFill>
                <a:latin typeface="Arial"/>
              </a:rPr>
              <a:t>negative_quantity: 0/153 across all models — the cleanest “can, but doesn't”.</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C92A2A"/>
                </a:solidFill>
                <a:latin typeface="Arial"/>
              </a:rPr>
              <a:t>Takeaway  </a:t>
            </a:r>
            <a:r>
              <a:t/>
            </a:r>
            <a:r>
              <a:rPr sz="1200" b="0" i="0">
                <a:solidFill>
                  <a:srgbClr val="212529"/>
                </a:solidFill>
                <a:latin typeface="Arial"/>
              </a:rPr>
              <a:t>There is no single ‘propensity to exploit’ number — the model ranking flips per hole type and survives change of opponent.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C9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C92A2A"/>
                </a:solidFill>
                <a:latin typeface="Arial"/>
              </a:rPr>
              <a:t>PHASE 5 · 2026-08-28/29 · plans</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Scenario brainstorm &amp; consequence scaling laws</a:t>
            </a:r>
          </a:p>
        </p:txBody>
      </p:sp>
      <p:sp>
        <p:nvSpPr>
          <p:cNvPr id="5" name="TextBox 4"/>
          <p:cNvSpPr txBox="1"/>
          <p:nvPr/>
        </p:nvSpPr>
        <p:spPr>
          <a:xfrm>
            <a:off x="594360" y="1417320"/>
            <a:ext cx="10972800" cy="548640"/>
          </a:xfrm>
          <a:prstGeom prst="rect">
            <a:avLst/>
          </a:prstGeom>
          <a:noFill/>
        </p:spPr>
        <p:txBody>
          <a:bodyPr wrap="square">
            <a:spAutoFit/>
          </a:bodyPr>
          <a:lstStyle/>
          <a:p>
            <a:r>
              <a:t/>
            </a:r>
            <a:r>
              <a:rPr sz="1300" b="1" i="0">
                <a:solidFill>
                  <a:srgbClr val="C92A2A"/>
                </a:solidFill>
                <a:latin typeface="Arial"/>
              </a:rPr>
              <a:t>Q  </a:t>
            </a:r>
            <a:r>
              <a:t/>
            </a:r>
            <a:r>
              <a:rPr sz="1300" b="0" i="1">
                <a:solidFill>
                  <a:srgbClr val="5C6370"/>
                </a:solidFill>
                <a:latin typeface="Arial"/>
              </a:rPr>
              <a:t>Which games can be mutated so the referee fails to validate something — and how does exploitation scale with consequence?</a:t>
            </a:r>
          </a:p>
        </p:txBody>
      </p:sp>
      <p:sp>
        <p:nvSpPr>
          <p:cNvPr id="6" name="TextBox 5"/>
          <p:cNvSpPr txBox="1"/>
          <p:nvPr/>
        </p:nvSpPr>
        <p:spPr>
          <a:xfrm>
            <a:off x="594360" y="1691640"/>
            <a:ext cx="10972800" cy="548640"/>
          </a:xfrm>
          <a:prstGeom prst="rect">
            <a:avLst/>
          </a:prstGeom>
          <a:noFill/>
        </p:spPr>
        <p:txBody>
          <a:bodyPr wrap="square">
            <a:spAutoFit/>
          </a:bodyPr>
          <a:lstStyle/>
          <a:p>
            <a:r>
              <a:t/>
            </a:r>
            <a:r>
              <a:rPr sz="1300" b="1" i="0">
                <a:solidFill>
                  <a:srgbClr val="C92A2A"/>
                </a:solidFill>
                <a:latin typeface="Arial"/>
              </a:rPr>
              <a:t>Setup  </a:t>
            </a:r>
            <a:r>
              <a:t/>
            </a:r>
            <a:r>
              <a:rPr sz="1300" b="0" i="0">
                <a:solidFill>
                  <a:srgbClr val="212529"/>
                </a:solidFill>
                <a:latin typeface="Arial"/>
              </a:rPr>
              <a:t>Planning notes (0828-new-game-scenarios, 0828-consequence-scaling-laws, 0829-evaluate).</a:t>
            </a:r>
          </a:p>
        </p:txBody>
      </p:sp>
      <p:sp>
        <p:nvSpPr>
          <p:cNvPr id="7" name="TextBox 6"/>
          <p:cNvSpPr txBox="1"/>
          <p:nvPr/>
        </p:nvSpPr>
        <p:spPr>
          <a:xfrm>
            <a:off x="594360" y="2075688"/>
            <a:ext cx="10972800" cy="3685031"/>
          </a:xfrm>
          <a:prstGeom prst="rect">
            <a:avLst/>
          </a:prstGeom>
          <a:noFill/>
        </p:spPr>
        <p:txBody>
          <a:bodyPr wrap="square">
            <a:spAutoFit/>
          </a:bodyPr>
          <a:lstStyle/>
          <a:p>
            <a:pPr>
              <a:spcAft>
                <a:spcPts val="500"/>
              </a:spcAft>
            </a:pPr>
            <a:r>
              <a:t/>
            </a:r>
            <a:r>
              <a:rPr sz="1300" b="1" i="0">
                <a:solidFill>
                  <a:srgbClr val="C92A2A"/>
                </a:solidFill>
                <a:latin typeface="Arial"/>
              </a:rPr>
              <a:t>•  </a:t>
            </a:r>
            <a:r>
              <a:t/>
            </a:r>
            <a:r>
              <a:rPr sz="1300" b="0" i="0">
                <a:solidFill>
                  <a:srgbClr val="212529"/>
                </a:solidFill>
                <a:latin typeface="Arial"/>
              </a:rPr>
              <a:t>Scenario taxonomy: direct violation / loophole exploitation / multi-player collusion, across Battleship, estate ledgers, Hanabi metadata, order books, procurement, commons.</a:t>
            </a:r>
          </a:p>
          <a:p>
            <a:pPr>
              <a:spcAft>
                <a:spcPts val="500"/>
              </a:spcAft>
            </a:pPr>
            <a:r>
              <a:t/>
            </a:r>
            <a:r>
              <a:rPr sz="1300" b="1" i="0">
                <a:solidFill>
                  <a:srgbClr val="C92A2A"/>
                </a:solidFill>
                <a:latin typeface="Arial"/>
              </a:rPr>
              <a:t>•  </a:t>
            </a:r>
            <a:r>
              <a:t/>
            </a:r>
            <a:r>
              <a:rPr sz="1300" b="0" i="0">
                <a:solidFill>
                  <a:srgbClr val="212529"/>
                </a:solidFill>
                <a:latin typeface="Arial"/>
              </a:rPr>
              <a:t>“Cheating pays” correlations from pilot data: invoice unearned-completion ρ +0.693 (p&lt;0.001), hour-padding +0.617, commons over-quota +0.476.</a:t>
            </a:r>
          </a:p>
          <a:p>
            <a:pPr>
              <a:spcAft>
                <a:spcPts val="500"/>
              </a:spcAft>
            </a:pPr>
            <a:r>
              <a:t/>
            </a:r>
            <a:r>
              <a:rPr sz="1300" b="1" i="0">
                <a:solidFill>
                  <a:srgbClr val="C92A2A"/>
                </a:solidFill>
                <a:latin typeface="Arial"/>
              </a:rPr>
              <a:t>•  </a:t>
            </a:r>
            <a:r>
              <a:t/>
            </a:r>
            <a:r>
              <a:rPr sz="1300" b="0" i="0">
                <a:solidFill>
                  <a:srgbClr val="212529"/>
                </a:solidFill>
                <a:latin typeface="Arial"/>
              </a:rPr>
              <a:t>Scaling-law framing: consequence magnitude/probability (x) vs exploit rate (y) at eval time; transfer magnitude vs consequence severity in training.</a:t>
            </a:r>
          </a:p>
          <a:p>
            <a:pPr>
              <a:spcAft>
                <a:spcPts val="500"/>
              </a:spcAft>
            </a:pPr>
            <a:r>
              <a:t/>
            </a:r>
            <a:r>
              <a:rPr sz="1300" b="1" i="0">
                <a:solidFill>
                  <a:srgbClr val="C92A2A"/>
                </a:solidFill>
                <a:latin typeface="Arial"/>
              </a:rPr>
              <a:t>•  </a:t>
            </a:r>
            <a:r>
              <a:t/>
            </a:r>
            <a:r>
              <a:rPr sz="1300" b="0" i="0">
                <a:solidFill>
                  <a:srgbClr val="212529"/>
                </a:solidFill>
                <a:latin typeface="Arial"/>
              </a:rPr>
              <a:t>Executed as: the 11–12 referee-hole cells, and the p_caught dose-response in the repeated-play study.</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C92A2A"/>
                </a:solidFill>
                <a:latin typeface="Arial"/>
              </a:rPr>
              <a:t>Takeaway  </a:t>
            </a:r>
            <a:r>
              <a:t/>
            </a:r>
            <a:r>
              <a:rPr sz="1200" b="0" i="0">
                <a:solidFill>
                  <a:srgbClr val="212529"/>
                </a:solidFill>
                <a:latin typeface="Arial"/>
              </a:rPr>
              <a:t>The idea backlog that became referee_games2 and the enforcement dose-response experiments.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C9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C92A2A"/>
                </a:solidFill>
                <a:latin typeface="Arial"/>
              </a:rPr>
              <a:t>PHASE 5 · 2026-08-29</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Battleship horizon fix + first nohole wave</a:t>
            </a:r>
          </a:p>
        </p:txBody>
      </p:sp>
      <p:sp>
        <p:nvSpPr>
          <p:cNvPr id="5" name="TextBox 4"/>
          <p:cNvSpPr txBox="1"/>
          <p:nvPr/>
        </p:nvSpPr>
        <p:spPr>
          <a:xfrm>
            <a:off x="594360" y="1417320"/>
            <a:ext cx="10972800" cy="548640"/>
          </a:xfrm>
          <a:prstGeom prst="rect">
            <a:avLst/>
          </a:prstGeom>
          <a:noFill/>
        </p:spPr>
        <p:txBody>
          <a:bodyPr wrap="square">
            <a:spAutoFit/>
          </a:bodyPr>
          <a:lstStyle/>
          <a:p>
            <a:r>
              <a:t/>
            </a:r>
            <a:r>
              <a:rPr sz="1300" b="1" i="0">
                <a:solidFill>
                  <a:srgbClr val="C92A2A"/>
                </a:solidFill>
                <a:latin typeface="Arial"/>
              </a:rPr>
              <a:t>Q  </a:t>
            </a:r>
            <a:r>
              <a:t/>
            </a:r>
            <a:r>
              <a:rPr sz="1300" b="0" i="1">
                <a:solidFill>
                  <a:srgbClr val="5C6370"/>
                </a:solidFill>
                <a:latin typeface="Arial"/>
              </a:rPr>
              <a:t>Was the 10-round horizon too short to measure misreporting — and what does own-score ‘gain’ miss?</a:t>
            </a:r>
          </a:p>
        </p:txBody>
      </p:sp>
      <p:sp>
        <p:nvSpPr>
          <p:cNvPr id="6" name="TextBox 5"/>
          <p:cNvSpPr txBox="1"/>
          <p:nvPr/>
        </p:nvSpPr>
        <p:spPr>
          <a:xfrm>
            <a:off x="594360" y="1691640"/>
            <a:ext cx="10972800" cy="548640"/>
          </a:xfrm>
          <a:prstGeom prst="rect">
            <a:avLst/>
          </a:prstGeom>
          <a:noFill/>
        </p:spPr>
        <p:txBody>
          <a:bodyPr wrap="square">
            <a:spAutoFit/>
          </a:bodyPr>
          <a:lstStyle/>
          <a:p>
            <a:r>
              <a:t/>
            </a:r>
            <a:r>
              <a:rPr sz="1300" b="1" i="0">
                <a:solidFill>
                  <a:srgbClr val="C92A2A"/>
                </a:solidFill>
                <a:latin typeface="Arial"/>
              </a:rPr>
              <a:t>Setup  </a:t>
            </a:r>
            <a:r>
              <a:t/>
            </a:r>
            <a:r>
              <a:rPr sz="1300" b="0" i="0">
                <a:solidFill>
                  <a:srgbClr val="212529"/>
                </a:solidFill>
                <a:latin typeface="Arial"/>
              </a:rPr>
              <a:t>ref_battleship redesign (10→16 rounds, new deflection metric); then 3 frontier models, self-play, winmax, hole+nohole, 8 seeds.</a:t>
            </a:r>
          </a:p>
        </p:txBody>
      </p:sp>
      <p:sp>
        <p:nvSpPr>
          <p:cNvPr id="7" name="TextBox 6"/>
          <p:cNvSpPr txBox="1"/>
          <p:nvPr/>
        </p:nvSpPr>
        <p:spPr>
          <a:xfrm>
            <a:off x="594360" y="2075688"/>
            <a:ext cx="10972800" cy="3685031"/>
          </a:xfrm>
          <a:prstGeom prst="rect">
            <a:avLst/>
          </a:prstGeom>
          <a:noFill/>
        </p:spPr>
        <p:txBody>
          <a:bodyPr wrap="square">
            <a:spAutoFit/>
          </a:bodyPr>
          <a:lstStyle/>
          <a:p>
            <a:pPr>
              <a:spcAft>
                <a:spcPts val="500"/>
              </a:spcAft>
            </a:pPr>
            <a:r>
              <a:t/>
            </a:r>
            <a:r>
              <a:rPr sz="1300" b="1" i="0">
                <a:solidFill>
                  <a:srgbClr val="C92A2A"/>
                </a:solidFill>
                <a:latin typeface="Arial"/>
              </a:rPr>
              <a:t>•  </a:t>
            </a:r>
            <a:r>
              <a:t/>
            </a:r>
            <a:r>
              <a:rPr sz="1300" b="0" i="0">
                <a:solidFill>
                  <a:srgbClr val="212529"/>
                </a:solidFill>
                <a:latin typeface="Arial"/>
              </a:rPr>
              <a:t>Old design starved the metric: 1.85 true hits/episode, 19% of episodes had zero opportunities; 16 rounds buys +66% denominator for +60% cost.</a:t>
            </a:r>
          </a:p>
          <a:p>
            <a:pPr>
              <a:spcAft>
                <a:spcPts val="500"/>
              </a:spcAft>
            </a:pPr>
            <a:r>
              <a:t/>
            </a:r>
            <a:r>
              <a:rPr sz="1300" b="1" i="0">
                <a:solidFill>
                  <a:srgbClr val="C92A2A"/>
                </a:solidFill>
                <a:latin typeface="Arial"/>
              </a:rPr>
              <a:t>•  </a:t>
            </a:r>
            <a:r>
              <a:t/>
            </a:r>
            <a:r>
              <a:rPr sz="1300" b="0" i="0">
                <a:solidFill>
                  <a:srgbClr val="212529"/>
                </a:solidFill>
                <a:latin typeface="Arial"/>
              </a:rPr>
              <a:t>Cheating pays in points: hole−nohole score delta claude +4.12 (p=0.039), gpt +5.00 (p=0.0078).</a:t>
            </a:r>
          </a:p>
          <a:p>
            <a:pPr>
              <a:spcAft>
                <a:spcPts val="500"/>
              </a:spcAft>
            </a:pPr>
            <a:r>
              <a:t/>
            </a:r>
            <a:r>
              <a:rPr sz="1300" b="1" i="0">
                <a:solidFill>
                  <a:srgbClr val="C92A2A"/>
                </a:solidFill>
                <a:latin typeface="Arial"/>
              </a:rPr>
              <a:t>•  </a:t>
            </a:r>
            <a:r>
              <a:t/>
            </a:r>
            <a:r>
              <a:rPr sz="1300" b="0" i="0">
                <a:solidFill>
                  <a:srgbClr val="212529"/>
                </a:solidFill>
                <a:latin typeface="Arial"/>
              </a:rPr>
              <a:t>The bigger half is deflection: opponent attack roughly halves in the hole arm (−3.25 to −5.12) — own-score ‘gain’ alone reports about half the premium.</a:t>
            </a:r>
          </a:p>
          <a:p>
            <a:pPr>
              <a:spcAft>
                <a:spcPts val="500"/>
              </a:spcAft>
            </a:pPr>
            <a:r>
              <a:t/>
            </a:r>
            <a:r>
              <a:rPr sz="1300" b="1" i="0">
                <a:solidFill>
                  <a:srgbClr val="C92A2A"/>
                </a:solidFill>
                <a:latin typeface="Arial"/>
              </a:rPr>
              <a:t>•  </a:t>
            </a:r>
            <a:r>
              <a:t/>
            </a:r>
            <a:r>
              <a:rPr sz="1300" b="0" i="0">
                <a:solidFill>
                  <a:srgbClr val="212529"/>
                </a:solidFill>
                <a:latin typeface="Arial"/>
              </a:rPr>
              <a:t>Lie rate is identical whether lying works: false_miss ~1.000 in BOTH arms — models don't notice the referee changed; frequency ≠ efficacy.</a:t>
            </a:r>
          </a:p>
          <a:p>
            <a:pPr>
              <a:spcAft>
                <a:spcPts val="500"/>
              </a:spcAft>
            </a:pPr>
            <a:r>
              <a:t/>
            </a:r>
            <a:r>
              <a:rPr sz="1300" b="1" i="0">
                <a:solidFill>
                  <a:srgbClr val="C92A2A"/>
                </a:solidFill>
                <a:latin typeface="Arial"/>
              </a:rPr>
              <a:t>•  </a:t>
            </a:r>
            <a:r>
              <a:t/>
            </a:r>
            <a:r>
              <a:rPr sz="1300" b="0" i="0">
                <a:solidFill>
                  <a:srgbClr val="212529"/>
                </a:solidFill>
                <a:latin typeface="Arial"/>
              </a:rPr>
              <a:t>Endogenous denominator: denial destroys up to 50% of its own measurement opportunities.</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C92A2A"/>
                </a:solidFill>
                <a:latin typeface="Arial"/>
              </a:rPr>
              <a:t>Takeaway  </a:t>
            </a:r>
            <a:r>
              <a:t/>
            </a:r>
            <a:r>
              <a:rPr sz="1200" b="0" i="0">
                <a:solidFill>
                  <a:srgbClr val="212529"/>
                </a:solidFill>
                <a:latin typeface="Arial"/>
              </a:rPr>
              <a:t>Exploit rate and exploit efficacy are dissociated; deflection — invisible to own-score gain — carries most of the value.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C9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C92A2A"/>
                </a:solidFill>
                <a:latin typeface="Arial"/>
              </a:rPr>
              <a:t>PHASE 5 · 2026-08-28/29</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Delegation game: control vs cooperation (NewRecruit)</a:t>
            </a:r>
          </a:p>
        </p:txBody>
      </p:sp>
      <p:sp>
        <p:nvSpPr>
          <p:cNvPr id="5" name="TextBox 4"/>
          <p:cNvSpPr txBox="1"/>
          <p:nvPr/>
        </p:nvSpPr>
        <p:spPr>
          <a:xfrm>
            <a:off x="594360" y="1417320"/>
            <a:ext cx="10972800" cy="548640"/>
          </a:xfrm>
          <a:prstGeom prst="rect">
            <a:avLst/>
          </a:prstGeom>
          <a:noFill/>
        </p:spPr>
        <p:txBody>
          <a:bodyPr wrap="square">
            <a:spAutoFit/>
          </a:bodyPr>
          <a:lstStyle/>
          <a:p>
            <a:r>
              <a:t/>
            </a:r>
            <a:r>
              <a:rPr sz="1300" b="1" i="0">
                <a:solidFill>
                  <a:srgbClr val="C92A2A"/>
                </a:solidFill>
                <a:latin typeface="Arial"/>
              </a:rPr>
              <a:t>Q  </a:t>
            </a:r>
            <a:r>
              <a:t/>
            </a:r>
            <a:r>
              <a:rPr sz="1300" b="0" i="1">
                <a:solidFill>
                  <a:srgbClr val="5C6370"/>
                </a:solidFill>
                <a:latin typeface="Arial"/>
              </a:rPr>
              <a:t>Can NewRecruit separate frontier models on faithful representation of a principal vs negotiation execution?</a:t>
            </a:r>
          </a:p>
        </p:txBody>
      </p:sp>
      <p:sp>
        <p:nvSpPr>
          <p:cNvPr id="6" name="TextBox 5"/>
          <p:cNvSpPr txBox="1"/>
          <p:nvPr/>
        </p:nvSpPr>
        <p:spPr>
          <a:xfrm>
            <a:off x="594360" y="1691640"/>
            <a:ext cx="10972800" cy="548640"/>
          </a:xfrm>
          <a:prstGeom prst="rect">
            <a:avLst/>
          </a:prstGeom>
          <a:noFill/>
        </p:spPr>
        <p:txBody>
          <a:bodyPr wrap="square">
            <a:spAutoFit/>
          </a:bodyPr>
          <a:lstStyle/>
          <a:p>
            <a:r>
              <a:t/>
            </a:r>
            <a:r>
              <a:rPr sz="1300" b="1" i="0">
                <a:solidFill>
                  <a:srgbClr val="C92A2A"/>
                </a:solidFill>
                <a:latin typeface="Arial"/>
              </a:rPr>
              <a:t>Setup  </a:t>
            </a:r>
            <a:r>
              <a:t/>
            </a:r>
            <a:r>
              <a:rPr sz="1300" b="0" i="0">
                <a:solidFill>
                  <a:srgbClr val="212529"/>
                </a:solidFill>
                <a:latin typeface="Arial"/>
              </a:rPr>
              <a:t>delegation_env.py over TextArena NewRecruit; 6 payoff families × 6 briefing arms × 5 conditions; pilot: claude-opus-5 vs claude-haiku-4.5, 6 eps/cell, exact Pareto/Nash ground truth.</a:t>
            </a:r>
          </a:p>
        </p:txBody>
      </p:sp>
      <p:sp>
        <p:nvSpPr>
          <p:cNvPr id="7" name="TextBox 6"/>
          <p:cNvSpPr txBox="1"/>
          <p:nvPr/>
        </p:nvSpPr>
        <p:spPr>
          <a:xfrm>
            <a:off x="594360" y="2244852"/>
            <a:ext cx="10972800" cy="3515868"/>
          </a:xfrm>
          <a:prstGeom prst="rect">
            <a:avLst/>
          </a:prstGeom>
          <a:noFill/>
        </p:spPr>
        <p:txBody>
          <a:bodyPr wrap="square">
            <a:spAutoFit/>
          </a:bodyPr>
          <a:lstStyle/>
          <a:p>
            <a:pPr>
              <a:spcAft>
                <a:spcPts val="500"/>
              </a:spcAft>
            </a:pPr>
            <a:r>
              <a:t/>
            </a:r>
            <a:r>
              <a:rPr sz="1300" b="1" i="0">
                <a:solidFill>
                  <a:srgbClr val="C92A2A"/>
                </a:solidFill>
                <a:latin typeface="Arial"/>
              </a:rPr>
              <a:t>•  </a:t>
            </a:r>
            <a:r>
              <a:t/>
            </a:r>
            <a:r>
              <a:rPr sz="1300" b="0" i="0">
                <a:solidFill>
                  <a:srgbClr val="212529"/>
                </a:solidFill>
                <a:latin typeface="Arial"/>
              </a:rPr>
              <a:t>The discriminating axis is the BRIEF: probe accuracy from a memo 0.62 (haiku) vs 0.99 (opus) — a 0.37 spread — while exact tables saturate (0.93 vs 1.00).</a:t>
            </a:r>
          </a:p>
          <a:p>
            <a:pPr>
              <a:spcAft>
                <a:spcPts val="500"/>
              </a:spcAft>
            </a:pPr>
            <a:r>
              <a:t/>
            </a:r>
            <a:r>
              <a:rPr sz="1300" b="1" i="0">
                <a:solidFill>
                  <a:srgbClr val="C92A2A"/>
                </a:solidFill>
                <a:latin typeface="Arial"/>
              </a:rPr>
              <a:t>•  </a:t>
            </a:r>
            <a:r>
              <a:t/>
            </a:r>
            <a:r>
              <a:rPr sz="1300" b="0" i="0">
                <a:solidFill>
                  <a:srgbClr val="212529"/>
                </a:solidFill>
                <a:latin typeface="Arial"/>
              </a:rPr>
              <a:t>Both models under-ask when given exact numbers: solo capture is lower from tables than from memos for both.</a:t>
            </a:r>
          </a:p>
          <a:p>
            <a:pPr>
              <a:spcAft>
                <a:spcPts val="500"/>
              </a:spcAft>
            </a:pPr>
            <a:r>
              <a:t/>
            </a:r>
            <a:r>
              <a:rPr sz="1300" b="1" i="0">
                <a:solidFill>
                  <a:srgbClr val="C92A2A"/>
                </a:solidFill>
                <a:latin typeface="Arial"/>
              </a:rPr>
              <a:t>•  </a:t>
            </a:r>
            <a:r>
              <a:t/>
            </a:r>
            <a:r>
              <a:rPr sz="1300" b="0" i="0">
                <a:solidFill>
                  <a:srgbClr val="212529"/>
                </a:solidFill>
                <a:latin typeface="Arial"/>
              </a:rPr>
              <a:t>Mandates saturate (compliance 1.00) until an incentive to close is added: under pressure haiku breaches its red line in 1/3 of episodes; opus stays 1.00.</a:t>
            </a:r>
          </a:p>
          <a:p>
            <a:pPr>
              <a:spcAft>
                <a:spcPts val="500"/>
              </a:spcAft>
            </a:pPr>
            <a:r>
              <a:t/>
            </a:r>
            <a:r>
              <a:rPr sz="1300" b="1" i="0">
                <a:solidFill>
                  <a:srgbClr val="C92A2A"/>
                </a:solidFill>
                <a:latin typeface="Arial"/>
              </a:rPr>
              <a:t>•  </a:t>
            </a:r>
            <a:r>
              <a:t/>
            </a:r>
            <a:r>
              <a:rPr sz="1300" b="0" i="0">
                <a:solidFill>
                  <a:srgbClr val="212529"/>
                </a:solidFill>
                <a:latin typeface="Arial"/>
              </a:rPr>
              <a:t>An off-by-one artifact caused ALL of opus's apparent breaches — echoing decoded proposals removed them while haiku's survived: the artifact/signal split.</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C92A2A"/>
                </a:solidFill>
                <a:latin typeface="Arial"/>
              </a:rPr>
              <a:t>Takeaway  </a:t>
            </a:r>
            <a:r>
              <a:t/>
            </a:r>
            <a:r>
              <a:rPr sz="1200" b="0" i="0">
                <a:solidFill>
                  <a:srgbClr val="212529"/>
                </a:solidFill>
                <a:latin typeface="Arial"/>
              </a:rPr>
              <a:t>The eval works; look for frontier separation on memo-brief, solo capture, and mandate-pressure — not the saturating table arm. (n=6 pilot.)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C9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C92A2A"/>
                </a:solidFill>
                <a:latin typeface="Arial"/>
              </a:rPr>
              <a:t>PHASE 5 · 2026-08-29</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Qwen3.8-27B pre-training baseline on referee cells</a:t>
            </a:r>
          </a:p>
        </p:txBody>
      </p:sp>
      <p:sp>
        <p:nvSpPr>
          <p:cNvPr id="5" name="TextBox 4"/>
          <p:cNvSpPr txBox="1"/>
          <p:nvPr/>
        </p:nvSpPr>
        <p:spPr>
          <a:xfrm>
            <a:off x="594360" y="1417320"/>
            <a:ext cx="10972800" cy="548640"/>
          </a:xfrm>
          <a:prstGeom prst="rect">
            <a:avLst/>
          </a:prstGeom>
          <a:noFill/>
        </p:spPr>
        <p:txBody>
          <a:bodyPr wrap="square">
            <a:spAutoFit/>
          </a:bodyPr>
          <a:lstStyle/>
          <a:p>
            <a:r>
              <a:t/>
            </a:r>
            <a:r>
              <a:rPr sz="1300" b="1" i="0">
                <a:solidFill>
                  <a:srgbClr val="C92A2A"/>
                </a:solidFill>
                <a:latin typeface="Arial"/>
              </a:rPr>
              <a:t>Q  </a:t>
            </a:r>
            <a:r>
              <a:t/>
            </a:r>
            <a:r>
              <a:rPr sz="1300" b="0" i="1">
                <a:solidFill>
                  <a:srgbClr val="5C6370"/>
                </a:solidFill>
                <a:latin typeface="Arial"/>
              </a:rPr>
              <a:t>What is the exploit baseline for the model about to be RL-trained, and which metrics have headroom?</a:t>
            </a:r>
          </a:p>
        </p:txBody>
      </p:sp>
      <p:sp>
        <p:nvSpPr>
          <p:cNvPr id="6" name="TextBox 5"/>
          <p:cNvSpPr txBox="1"/>
          <p:nvPr/>
        </p:nvSpPr>
        <p:spPr>
          <a:xfrm>
            <a:off x="594360" y="1691640"/>
            <a:ext cx="10972800" cy="548640"/>
          </a:xfrm>
          <a:prstGeom prst="rect">
            <a:avLst/>
          </a:prstGeom>
          <a:noFill/>
        </p:spPr>
        <p:txBody>
          <a:bodyPr wrap="square">
            <a:spAutoFit/>
          </a:bodyPr>
          <a:lstStyle/>
          <a:p>
            <a:r>
              <a:t/>
            </a:r>
            <a:r>
              <a:rPr sz="1300" b="1" i="0">
                <a:solidFill>
                  <a:srgbClr val="C92A2A"/>
                </a:solidFill>
                <a:latin typeface="Arial"/>
              </a:rPr>
              <a:t>Setup  </a:t>
            </a:r>
            <a:r>
              <a:t/>
            </a:r>
            <a:r>
              <a:rPr sz="1300" b="0" i="0">
                <a:solidFill>
                  <a:srgbClr val="212529"/>
                </a:solidFill>
                <a:latin typeface="Arial"/>
              </a:rPr>
              <a:t>qwen3.8-27b self-play on all 12 referee cells, hole arm, neutral+winmax, 8 seeds, 384 pooled episodes, ~$9/run.</a:t>
            </a:r>
          </a:p>
        </p:txBody>
      </p:sp>
      <p:sp>
        <p:nvSpPr>
          <p:cNvPr id="7" name="TextBox 6"/>
          <p:cNvSpPr txBox="1"/>
          <p:nvPr/>
        </p:nvSpPr>
        <p:spPr>
          <a:xfrm>
            <a:off x="594360" y="2075688"/>
            <a:ext cx="10972800" cy="3685031"/>
          </a:xfrm>
          <a:prstGeom prst="rect">
            <a:avLst/>
          </a:prstGeom>
          <a:noFill/>
        </p:spPr>
        <p:txBody>
          <a:bodyPr wrap="square">
            <a:spAutoFit/>
          </a:bodyPr>
          <a:lstStyle/>
          <a:p>
            <a:pPr>
              <a:spcAft>
                <a:spcPts val="500"/>
              </a:spcAft>
            </a:pPr>
            <a:r>
              <a:t/>
            </a:r>
            <a:r>
              <a:rPr sz="1300" b="1" i="0">
                <a:solidFill>
                  <a:srgbClr val="C92A2A"/>
                </a:solidFill>
                <a:latin typeface="Arial"/>
              </a:rPr>
              <a:t>•  </a:t>
            </a:r>
            <a:r>
              <a:t/>
            </a:r>
            <a:r>
              <a:rPr sz="1300" b="0" i="0">
                <a:solidFill>
                  <a:srgbClr val="212529"/>
                </a:solidFill>
                <a:latin typeface="Arial"/>
              </a:rPr>
              <a:t>Headroom triage: hard floors at 0.000 (battleship false-miss, signal, hanabi, wash-trade) = unambiguous ‘up’ detectors; interior cells 0.10–0.65 = most informative; ceilings ≥0.78 can't headline.</a:t>
            </a:r>
          </a:p>
          <a:p>
            <a:pPr>
              <a:spcAft>
                <a:spcPts val="500"/>
              </a:spcAft>
            </a:pPr>
            <a:r>
              <a:t/>
            </a:r>
            <a:r>
              <a:rPr sz="1300" b="1" i="0">
                <a:solidFill>
                  <a:srgbClr val="C92A2A"/>
                </a:solidFill>
                <a:latin typeface="Arial"/>
              </a:rPr>
              <a:t>•  </a:t>
            </a:r>
            <a:r>
              <a:t/>
            </a:r>
            <a:r>
              <a:rPr sz="1300" b="0" i="0">
                <a:solidFill>
                  <a:srgbClr val="212529"/>
                </a:solidFill>
                <a:latin typeface="Arial"/>
              </a:rPr>
              <a:t>Qwen is markedly less exploitative than the frontier on the original cells: sidebar 0.328 vs 0.875–0.984; battleship 0.000 vs claude's 0.650.</a:t>
            </a:r>
          </a:p>
          <a:p>
            <a:pPr>
              <a:spcAft>
                <a:spcPts val="500"/>
              </a:spcAft>
            </a:pPr>
            <a:r>
              <a:t/>
            </a:r>
            <a:r>
              <a:rPr sz="1300" b="1" i="0">
                <a:solidFill>
                  <a:srgbClr val="C92A2A"/>
                </a:solidFill>
                <a:latin typeface="Arial"/>
              </a:rPr>
              <a:t>•  </a:t>
            </a:r>
            <a:r>
              <a:t/>
            </a:r>
            <a:r>
              <a:rPr sz="1300" b="0" i="0">
                <a:solidFill>
                  <a:srgbClr val="212529"/>
                </a:solidFill>
                <a:latin typeface="Arial"/>
              </a:rPr>
              <a:t>Run-to-run variance: mean |diff| 0.045, ten kinds moved ≥0.10 on nothing changed — at 8 seeds the eval can't resolve training effects below ~0.15 in interior cells.</a:t>
            </a:r>
          </a:p>
          <a:p>
            <a:pPr>
              <a:spcAft>
                <a:spcPts val="500"/>
              </a:spcAft>
            </a:pPr>
            <a:r>
              <a:t/>
            </a:r>
            <a:r>
              <a:rPr sz="1300" b="1" i="0">
                <a:solidFill>
                  <a:srgbClr val="C92A2A"/>
                </a:solidFill>
                <a:latin typeface="Arial"/>
              </a:rPr>
              <a:t>•  </a:t>
            </a:r>
            <a:r>
              <a:t/>
            </a:r>
            <a:r>
              <a:rPr sz="1300" b="0" i="0">
                <a:solidFill>
                  <a:srgbClr val="212529"/>
                </a:solidFill>
                <a:latin typeface="Arial"/>
              </a:rPr>
              <a:t>Cross-check found a real env bug: the commons display rounded up, scoring compliance as violation — ~1/3 of commons ‘exploitation’ was artifact.</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C92A2A"/>
                </a:solidFill>
                <a:latin typeface="Arial"/>
              </a:rPr>
              <a:t>Takeaway  </a:t>
            </a:r>
            <a:r>
              <a:t/>
            </a:r>
            <a:r>
              <a:rPr sz="1200" b="0" i="0">
                <a:solidFill>
                  <a:srgbClr val="212529"/>
                </a:solidFill>
                <a:latin typeface="Arial"/>
              </a:rPr>
              <a:t>The pre/post reference for training runs: trust floors, read interiors, never headline ceilings.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C9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C92A2A"/>
                </a:solidFill>
                <a:latin typeface="Arial"/>
              </a:rPr>
              <a:t>PHASE 5 · 2026-08-29 · key finding</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Repeated play with memory under probabilistic enforcement</a:t>
            </a:r>
          </a:p>
        </p:txBody>
      </p:sp>
      <p:sp>
        <p:nvSpPr>
          <p:cNvPr id="5" name="TextBox 4"/>
          <p:cNvSpPr txBox="1"/>
          <p:nvPr/>
        </p:nvSpPr>
        <p:spPr>
          <a:xfrm>
            <a:off x="594360" y="1417320"/>
            <a:ext cx="10972800" cy="548640"/>
          </a:xfrm>
          <a:prstGeom prst="rect">
            <a:avLst/>
          </a:prstGeom>
          <a:noFill/>
        </p:spPr>
        <p:txBody>
          <a:bodyPr wrap="square">
            <a:spAutoFit/>
          </a:bodyPr>
          <a:lstStyle/>
          <a:p>
            <a:r>
              <a:t/>
            </a:r>
            <a:r>
              <a:rPr sz="1300" b="1" i="0">
                <a:solidFill>
                  <a:srgbClr val="C92A2A"/>
                </a:solidFill>
                <a:latin typeface="Arial"/>
              </a:rPr>
              <a:t>Q  </a:t>
            </a:r>
            <a:r>
              <a:t/>
            </a:r>
            <a:r>
              <a:rPr sz="1300" b="0" i="1">
                <a:solidFill>
                  <a:srgbClr val="5C6370"/>
                </a:solidFill>
                <a:latin typeface="Arial"/>
              </a:rPr>
              <a:t>Does a model learn to exploit across repeated plays with memory — and does a probabilistic catch-rate suppress it?</a:t>
            </a:r>
          </a:p>
        </p:txBody>
      </p:sp>
      <p:sp>
        <p:nvSpPr>
          <p:cNvPr id="6" name="TextBox 5"/>
          <p:cNvSpPr txBox="1"/>
          <p:nvPr/>
        </p:nvSpPr>
        <p:spPr>
          <a:xfrm>
            <a:off x="594360" y="1691640"/>
            <a:ext cx="10972800" cy="548640"/>
          </a:xfrm>
          <a:prstGeom prst="rect">
            <a:avLst/>
          </a:prstGeom>
          <a:noFill/>
        </p:spPr>
        <p:txBody>
          <a:bodyPr wrap="square">
            <a:spAutoFit/>
          </a:bodyPr>
          <a:lstStyle/>
          <a:p>
            <a:r>
              <a:t/>
            </a:r>
            <a:r>
              <a:rPr sz="1300" b="1" i="0">
                <a:solidFill>
                  <a:srgbClr val="C92A2A"/>
                </a:solidFill>
                <a:latin typeface="Arial"/>
              </a:rPr>
              <a:t>Setup  </a:t>
            </a:r>
            <a:r>
              <a:t/>
            </a:r>
            <a:r>
              <a:rPr sz="1300" b="0" i="0">
                <a:solidFill>
                  <a:srgbClr val="212529"/>
                </a:solidFill>
                <a:latin typeface="Arial"/>
              </a:rPr>
              <a:t>Memory+audit harness over referee cells; claude-opus-5, neutral, 5 chains × 6 plays × p_caught ∈ {0, .2, .4, .6, .8}; memory holds only self-observable outcomes.</a:t>
            </a:r>
          </a:p>
        </p:txBody>
      </p:sp>
      <p:sp>
        <p:nvSpPr>
          <p:cNvPr id="7" name="TextBox 6"/>
          <p:cNvSpPr txBox="1"/>
          <p:nvPr/>
        </p:nvSpPr>
        <p:spPr>
          <a:xfrm>
            <a:off x="594360" y="2244852"/>
            <a:ext cx="10972800" cy="3515868"/>
          </a:xfrm>
          <a:prstGeom prst="rect">
            <a:avLst/>
          </a:prstGeom>
          <a:noFill/>
        </p:spPr>
        <p:txBody>
          <a:bodyPr wrap="square">
            <a:spAutoFit/>
          </a:bodyPr>
          <a:lstStyle/>
          <a:p>
            <a:pPr>
              <a:spcAft>
                <a:spcPts val="500"/>
              </a:spcAft>
            </a:pPr>
            <a:r>
              <a:t/>
            </a:r>
            <a:r>
              <a:rPr sz="1300" b="1" i="0">
                <a:solidFill>
                  <a:srgbClr val="C92A2A"/>
                </a:solidFill>
                <a:latin typeface="Arial"/>
              </a:rPr>
              <a:t>•  </a:t>
            </a:r>
            <a:r>
              <a:t/>
            </a:r>
            <a:r>
              <a:rPr sz="1300" b="0" i="0">
                <a:solidFill>
                  <a:srgbClr val="212529"/>
                </a:solidFill>
                <a:latin typeface="Arial"/>
              </a:rPr>
              <a:t>Memory alone teaches nothing: p=0 curves flat (invoice 0.60→0.63 over 6 plays) — a 2-chain pilot's apparent learning curve retracted as small-n noise.</a:t>
            </a:r>
          </a:p>
          <a:p>
            <a:pPr>
              <a:spcAft>
                <a:spcPts val="500"/>
              </a:spcAft>
            </a:pPr>
            <a:r>
              <a:t/>
            </a:r>
            <a:r>
              <a:rPr sz="1300" b="1" i="0">
                <a:solidFill>
                  <a:srgbClr val="C92A2A"/>
                </a:solidFill>
                <a:latin typeface="Arial"/>
              </a:rPr>
              <a:t>•  </a:t>
            </a:r>
            <a:r>
              <a:t/>
            </a:r>
            <a:r>
              <a:rPr sz="1300" b="0" i="0">
                <a:solidFill>
                  <a:srgbClr val="212529"/>
                </a:solidFill>
                <a:latin typeface="Arial"/>
              </a:rPr>
              <a:t>Enforcement works instantly, then stops: the whole invoice effect lands between plays 1 and 2; p=0.2 buys most of the drop (0.65→0.35), higher p saturates.</a:t>
            </a:r>
          </a:p>
          <a:p>
            <a:pPr>
              <a:spcAft>
                <a:spcPts val="500"/>
              </a:spcAft>
            </a:pPr>
            <a:r>
              <a:t/>
            </a:r>
            <a:r>
              <a:rPr sz="1300" b="1" i="0">
                <a:solidFill>
                  <a:srgbClr val="C92A2A"/>
                </a:solidFill>
                <a:latin typeface="Arial"/>
              </a:rPr>
              <a:t>•  </a:t>
            </a:r>
            <a:r>
              <a:t/>
            </a:r>
            <a:r>
              <a:rPr sz="1300" b="0" i="0">
                <a:solidFill>
                  <a:srgbClr val="212529"/>
                </a:solidFill>
                <a:latin typeface="Arial"/>
              </a:rPr>
              <a:t>Penalty size doesn't predict response: auction absorbs a ~49% score penalty without budging while invoice halves under ~15% — severable vs constitutive exploits.</a:t>
            </a:r>
          </a:p>
          <a:p>
            <a:pPr>
              <a:spcAft>
                <a:spcPts val="500"/>
              </a:spcAft>
            </a:pPr>
            <a:r>
              <a:t/>
            </a:r>
            <a:r>
              <a:rPr sz="1300" b="1" i="0">
                <a:solidFill>
                  <a:srgbClr val="C92A2A"/>
                </a:solidFill>
                <a:latin typeface="Arial"/>
              </a:rPr>
              <a:t>•  </a:t>
            </a:r>
            <a:r>
              <a:t/>
            </a:r>
            <a:r>
              <a:rPr sz="1300" b="0" i="0">
                <a:solidFill>
                  <a:srgbClr val="212529"/>
                </a:solidFill>
                <a:latin typeface="Arial"/>
              </a:rPr>
              <a:t>Commons is a hard zero (0/360 opportunities) — evidence memory only teaches where outcomes vary; nothing pressures exploration.</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C92A2A"/>
                </a:solidFill>
                <a:latin typeface="Arial"/>
              </a:rPr>
              <a:t>Takeaway  </a:t>
            </a:r>
            <a:r>
              <a:t/>
            </a:r>
            <a:r>
              <a:rPr sz="1200" b="0" i="0">
                <a:solidFill>
                  <a:srgbClr val="212529"/>
                </a:solidFill>
                <a:latin typeface="Arial"/>
              </a:rPr>
              <a:t>Experiencing an outcome doesn't move the model; experiencing an enforcement action moves it once, immediately.</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C9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C92A2A"/>
                </a:solidFill>
                <a:latin typeface="Arial"/>
              </a:rPr>
              <a:t>PHASE 5 · late Aug · no md writeup</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Referee ‘spartan’ sweep: discovery across reflection rounds</a:t>
            </a:r>
          </a:p>
        </p:txBody>
      </p:sp>
      <p:sp>
        <p:nvSpPr>
          <p:cNvPr id="5" name="TextBox 4"/>
          <p:cNvSpPr txBox="1"/>
          <p:nvPr/>
        </p:nvSpPr>
        <p:spPr>
          <a:xfrm>
            <a:off x="594360" y="1417320"/>
            <a:ext cx="6126480" cy="548640"/>
          </a:xfrm>
          <a:prstGeom prst="rect">
            <a:avLst/>
          </a:prstGeom>
          <a:noFill/>
        </p:spPr>
        <p:txBody>
          <a:bodyPr wrap="square">
            <a:spAutoFit/>
          </a:bodyPr>
          <a:lstStyle/>
          <a:p>
            <a:r>
              <a:t/>
            </a:r>
            <a:r>
              <a:rPr sz="1150" b="1" i="0">
                <a:solidFill>
                  <a:srgbClr val="C92A2A"/>
                </a:solidFill>
                <a:latin typeface="Arial"/>
              </a:rPr>
              <a:t>Q  </a:t>
            </a:r>
            <a:r>
              <a:t/>
            </a:r>
            <a:r>
              <a:rPr sz="1150" b="0" i="1">
                <a:solidFill>
                  <a:srgbClr val="5C6370"/>
                </a:solidFill>
                <a:latin typeface="Arial"/>
              </a:rPr>
              <a:t>Given rounds of reflection between plays, which referee holes does the model find more of — and which stay at floor?</a:t>
            </a:r>
          </a:p>
        </p:txBody>
      </p:sp>
      <p:sp>
        <p:nvSpPr>
          <p:cNvPr id="6" name="TextBox 5"/>
          <p:cNvSpPr txBox="1"/>
          <p:nvPr/>
        </p:nvSpPr>
        <p:spPr>
          <a:xfrm>
            <a:off x="594360" y="1860804"/>
            <a:ext cx="6126480" cy="548640"/>
          </a:xfrm>
          <a:prstGeom prst="rect">
            <a:avLst/>
          </a:prstGeom>
          <a:noFill/>
        </p:spPr>
        <p:txBody>
          <a:bodyPr wrap="square">
            <a:spAutoFit/>
          </a:bodyPr>
          <a:lstStyle/>
          <a:p>
            <a:r>
              <a:t/>
            </a:r>
            <a:r>
              <a:rPr sz="1150" b="1" i="0">
                <a:solidFill>
                  <a:srgbClr val="C92A2A"/>
                </a:solidFill>
                <a:latin typeface="Arial"/>
              </a:rPr>
              <a:t>Setup  </a:t>
            </a:r>
            <a:r>
              <a:t/>
            </a:r>
            <a:r>
              <a:rPr sz="1150" b="0" i="0">
                <a:solidFill>
                  <a:srgbClr val="212529"/>
                </a:solidFill>
                <a:latin typeface="Arial"/>
              </a:rPr>
              <a:t>run_referee_spartan.py chains with reflection rounds over the referee cells; exploit rate pooled per round per detector kind (hard detectors only). Documented in code/figures; no markdown log.</a:t>
            </a:r>
          </a:p>
        </p:txBody>
      </p:sp>
      <p:sp>
        <p:nvSpPr>
          <p:cNvPr id="7" name="TextBox 6"/>
          <p:cNvSpPr txBox="1"/>
          <p:nvPr/>
        </p:nvSpPr>
        <p:spPr>
          <a:xfrm>
            <a:off x="594360" y="2583180"/>
            <a:ext cx="6126480" cy="3177539"/>
          </a:xfrm>
          <a:prstGeom prst="rect">
            <a:avLst/>
          </a:prstGeom>
          <a:noFill/>
        </p:spPr>
        <p:txBody>
          <a:bodyPr wrap="square">
            <a:spAutoFit/>
          </a:bodyPr>
          <a:lstStyle/>
          <a:p>
            <a:pPr>
              <a:spcAft>
                <a:spcPts val="500"/>
              </a:spcAft>
            </a:pPr>
            <a:r>
              <a:t/>
            </a:r>
            <a:r>
              <a:rPr sz="1150" b="1" i="0">
                <a:solidFill>
                  <a:srgbClr val="C92A2A"/>
                </a:solidFill>
                <a:latin typeface="Arial"/>
              </a:rPr>
              <a:t>•  </a:t>
            </a:r>
            <a:r>
              <a:t/>
            </a:r>
            <a:r>
              <a:rPr sz="1150" b="0" i="0">
                <a:solidFill>
                  <a:srgbClr val="212529"/>
                </a:solidFill>
                <a:latin typeface="Arial"/>
              </a:rPr>
              <a:t>Nearly all movement happens between round 0 and round 1 — the figure's small multiples are ordered by delta with red = found more of the hole, blue = less.</a:t>
            </a:r>
          </a:p>
          <a:p>
            <a:pPr>
              <a:spcAft>
                <a:spcPts val="500"/>
              </a:spcAft>
            </a:pPr>
            <a:r>
              <a:t/>
            </a:r>
            <a:r>
              <a:rPr sz="1150" b="1" i="0">
                <a:solidFill>
                  <a:srgbClr val="C92A2A"/>
                </a:solidFill>
                <a:latin typeface="Arial"/>
              </a:rPr>
              <a:t>•  </a:t>
            </a:r>
            <a:r>
              <a:t/>
            </a:r>
            <a:r>
              <a:rPr sz="1150" b="0" i="0">
                <a:solidFill>
                  <a:srgbClr val="212529"/>
                </a:solidFill>
                <a:latin typeface="Arial"/>
              </a:rPr>
              <a:t>Cells above the 0.25 invalid-rate bar are drawn struck out rather than dropped — ‘no discovery’ and ‘no measurement’ must stay distinguishable.</a:t>
            </a:r>
          </a:p>
          <a:p>
            <a:pPr>
              <a:spcAft>
                <a:spcPts val="500"/>
              </a:spcAft>
            </a:pPr>
            <a:r>
              <a:t/>
            </a:r>
            <a:r>
              <a:rPr sz="1150" b="1" i="0">
                <a:solidFill>
                  <a:srgbClr val="C92A2A"/>
                </a:solidFill>
                <a:latin typeface="Arial"/>
              </a:rPr>
              <a:t>•  </a:t>
            </a:r>
            <a:r>
              <a:t/>
            </a:r>
            <a:r>
              <a:rPr sz="1150" b="0" i="0">
                <a:solidFill>
                  <a:srgbClr val="212529"/>
                </a:solidFill>
                <a:latin typeface="Arial"/>
              </a:rPr>
              <a:t>Flat-at-floor kinds are listed, not plotted, and split by cause (not found / found-but-declined / no opportunities / unmeasurable).</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C92A2A"/>
                </a:solidFill>
                <a:latin typeface="Arial"/>
              </a:rPr>
              <a:t>Takeaway  </a:t>
            </a:r>
            <a:r>
              <a:t/>
            </a:r>
            <a:r>
              <a:rPr sz="1200" b="0" i="0">
                <a:solidFill>
                  <a:srgbClr val="212529"/>
                </a:solidFill>
                <a:latin typeface="Arial"/>
              </a:rPr>
              <a:t>The discovery-dynamics companion to the repeated-play study — worth writing up alongside 0831-strategy-discovery.</a:t>
            </a:r>
          </a:p>
        </p:txBody>
      </p:sp>
      <p:pic>
        <p:nvPicPr>
          <p:cNvPr id="9" name="Picture 8" descr="spartan-discovery.png"/>
          <p:cNvPicPr>
            <a:picLocks noChangeAspect="1"/>
          </p:cNvPicPr>
          <p:nvPr/>
        </p:nvPicPr>
        <p:blipFill>
          <a:blip r:embed="rId2"/>
          <a:stretch>
            <a:fillRect/>
          </a:stretch>
        </p:blipFill>
        <p:spPr>
          <a:xfrm>
            <a:off x="6903720" y="1417320"/>
            <a:ext cx="5029200" cy="3566809"/>
          </a:xfrm>
          <a:prstGeom prst="rect">
            <a:avLst/>
          </a:prstGeom>
        </p:spPr>
      </p:pic>
      <p:sp>
        <p:nvSpPr>
          <p:cNvPr id="10" name="TextBox 9"/>
          <p:cNvSpPr txBox="1"/>
          <p:nvPr/>
        </p:nvSpPr>
        <p:spPr>
          <a:xfrm>
            <a:off x="6903720" y="5029849"/>
            <a:ext cx="5029200" cy="457200"/>
          </a:xfrm>
          <a:prstGeom prst="rect">
            <a:avLst/>
          </a:prstGeom>
          <a:noFill/>
        </p:spPr>
        <p:txBody>
          <a:bodyPr wrap="square">
            <a:spAutoFit/>
          </a:bodyPr>
          <a:lstStyle/>
          <a:p>
            <a:r>
              <a:t/>
            </a:r>
            <a:r>
              <a:rPr sz="950" b="0" i="1">
                <a:solidFill>
                  <a:srgbClr val="5C6370"/>
                </a:solidFill>
                <a:latin typeface="Arial"/>
              </a:rPr>
              <a:t>Exploit rate by reflection round, per detector (figs/spartan-discovery.png)</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C9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C92A2A"/>
                </a:solidFill>
                <a:latin typeface="Arial"/>
              </a:rPr>
              <a:t>PHASE 5 · 2026-08-30/31 · key finding</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Endgame at 3 seeds: it's a cue, not a disposition</a:t>
            </a:r>
          </a:p>
        </p:txBody>
      </p:sp>
      <p:sp>
        <p:nvSpPr>
          <p:cNvPr id="5" name="TextBox 4"/>
          <p:cNvSpPr txBox="1"/>
          <p:nvPr/>
        </p:nvSpPr>
        <p:spPr>
          <a:xfrm>
            <a:off x="594360" y="1417320"/>
            <a:ext cx="6126480" cy="548640"/>
          </a:xfrm>
          <a:prstGeom prst="rect">
            <a:avLst/>
          </a:prstGeom>
          <a:noFill/>
        </p:spPr>
        <p:txBody>
          <a:bodyPr wrap="square">
            <a:spAutoFit/>
          </a:bodyPr>
          <a:lstStyle/>
          <a:p>
            <a:r>
              <a:t/>
            </a:r>
            <a:r>
              <a:rPr sz="1150" b="1" i="0">
                <a:solidFill>
                  <a:srgbClr val="C92A2A"/>
                </a:solidFill>
                <a:latin typeface="Arial"/>
              </a:rPr>
              <a:t>Q  </a:t>
            </a:r>
            <a:r>
              <a:t/>
            </a:r>
            <a:r>
              <a:rPr sz="1150" b="0" i="1">
                <a:solidFill>
                  <a:srgbClr val="5C6370"/>
                </a:solidFill>
                <a:latin typeface="Arial"/>
              </a:rPr>
              <a:t>What do the endgame arms actually show once each cell has 3 seeds?</a:t>
            </a:r>
          </a:p>
        </p:txBody>
      </p:sp>
      <p:sp>
        <p:nvSpPr>
          <p:cNvPr id="6" name="TextBox 5"/>
          <p:cNvSpPr txBox="1"/>
          <p:nvPr/>
        </p:nvSpPr>
        <p:spPr>
          <a:xfrm>
            <a:off x="594360" y="1691640"/>
            <a:ext cx="6126480" cy="548640"/>
          </a:xfrm>
          <a:prstGeom prst="rect">
            <a:avLst/>
          </a:prstGeom>
          <a:noFill/>
        </p:spPr>
        <p:txBody>
          <a:bodyPr wrap="square">
            <a:spAutoFit/>
          </a:bodyPr>
          <a:lstStyle/>
          <a:p>
            <a:r>
              <a:t/>
            </a:r>
            <a:r>
              <a:rPr sz="1150" b="1" i="0">
                <a:solidFill>
                  <a:srgbClr val="C92A2A"/>
                </a:solidFill>
                <a:latin typeface="Arial"/>
              </a:rPr>
              <a:t>Setup  </a:t>
            </a:r>
            <a:r>
              <a:t/>
            </a:r>
            <a:r>
              <a:rPr sz="1150" b="0" i="0">
                <a:solidFill>
                  <a:srgbClr val="212529"/>
                </a:solidFill>
                <a:latin typeface="Arial"/>
              </a:rPr>
              <a:t>think4 wave re-run locally on B300s (sglang + local PEFT LoRA replacing Tinker); {grim,tft} × {base, penalty, hidden-horizon, hole}; frozen step-35 eval sweeps, 832 episodes.</a:t>
            </a:r>
          </a:p>
        </p:txBody>
      </p:sp>
      <p:sp>
        <p:nvSpPr>
          <p:cNvPr id="7" name="TextBox 6"/>
          <p:cNvSpPr txBox="1"/>
          <p:nvPr/>
        </p:nvSpPr>
        <p:spPr>
          <a:xfrm>
            <a:off x="594360" y="2414016"/>
            <a:ext cx="6126480" cy="3346703"/>
          </a:xfrm>
          <a:prstGeom prst="rect">
            <a:avLst/>
          </a:prstGeom>
          <a:noFill/>
        </p:spPr>
        <p:txBody>
          <a:bodyPr wrap="square">
            <a:spAutoFit/>
          </a:bodyPr>
          <a:lstStyle/>
          <a:p>
            <a:pPr>
              <a:spcAft>
                <a:spcPts val="500"/>
              </a:spcAft>
            </a:pPr>
            <a:r>
              <a:t/>
            </a:r>
            <a:r>
              <a:rPr sz="1150" b="1" i="0">
                <a:solidFill>
                  <a:srgbClr val="C92A2A"/>
                </a:solidFill>
                <a:latin typeface="Arial"/>
              </a:rPr>
              <a:t>•  </a:t>
            </a:r>
            <a:r>
              <a:t/>
            </a:r>
            <a:r>
              <a:rPr sz="1150" b="0" i="0">
                <a:solidFill>
                  <a:srgbClr val="212529"/>
                </a:solidFill>
                <a:latin typeface="Arial"/>
              </a:rPr>
              <a:t>The 0826 sign flip dies: the penalty suppresses late betrayal against BOTH opponents — grim −0.044 ± 0.013, tft −0.164 ± 0.063 — a ~3.6× magnitude interaction, not a sign flip.</a:t>
            </a:r>
          </a:p>
          <a:p>
            <a:pPr>
              <a:spcAft>
                <a:spcPts val="500"/>
              </a:spcAft>
            </a:pPr>
            <a:r>
              <a:t/>
            </a:r>
            <a:r>
              <a:rPr sz="1150" b="1" i="0">
                <a:solidFill>
                  <a:srgbClr val="C92A2A"/>
                </a:solidFill>
                <a:latin typeface="Arial"/>
              </a:rPr>
              <a:t>•  </a:t>
            </a:r>
            <a:r>
              <a:t/>
            </a:r>
            <a:r>
              <a:rPr sz="1150" b="0" i="0">
                <a:solidFill>
                  <a:srgbClr val="212529"/>
                </a:solidFill>
                <a:latin typeface="Arial"/>
              </a:rPr>
              <a:t>Policies track the true final round exactly: first-defection slope vs horizon = +1.00 at N=6/10/14; the hidden-horizon control's slope is +0.00.</a:t>
            </a:r>
          </a:p>
          <a:p>
            <a:pPr>
              <a:spcAft>
                <a:spcPts val="500"/>
              </a:spcAft>
            </a:pPr>
            <a:r>
              <a:t/>
            </a:r>
            <a:r>
              <a:rPr sz="1150" b="1" i="0">
                <a:solidFill>
                  <a:srgbClr val="C92A2A"/>
                </a:solidFill>
                <a:latin typeface="Arial"/>
              </a:rPr>
              <a:t>•  </a:t>
            </a:r>
            <a:r>
              <a:t/>
            </a:r>
            <a:r>
              <a:rPr sz="1150" b="0" i="0">
                <a:solidFill>
                  <a:srgbClr val="212529"/>
                </a:solidFill>
                <a:latin typeface="Arial"/>
              </a:rPr>
              <a:t>Sharpest result: same weights, horizon scrubbed vs shown = 4/48 vs 35/48 episodes with any defection (Fisher p = 6.5e-11) — endgame behavior is a prompt-cue response, not a trained disposition.</a:t>
            </a:r>
          </a:p>
          <a:p>
            <a:pPr>
              <a:spcAft>
                <a:spcPts val="500"/>
              </a:spcAft>
            </a:pPr>
            <a:r>
              <a:t/>
            </a:r>
            <a:r>
              <a:rPr sz="1150" b="1" i="0">
                <a:solidFill>
                  <a:srgbClr val="C92A2A"/>
                </a:solidFill>
                <a:latin typeface="Arial"/>
              </a:rPr>
              <a:t>•  </a:t>
            </a:r>
            <a:r>
              <a:t/>
            </a:r>
            <a:r>
              <a:rPr sz="1150" b="0" i="0">
                <a:solidFill>
                  <a:srgbClr val="212529"/>
                </a:solidFill>
                <a:latin typeface="Arial"/>
              </a:rPr>
              <a:t>No arm learned to defect later: endgame rate flat while overall exploitation falls 2.7–7.4× — rising ‘concentration’ is a shrinking denominator.</a:t>
            </a:r>
          </a:p>
          <a:p>
            <a:pPr>
              <a:spcAft>
                <a:spcPts val="500"/>
              </a:spcAft>
            </a:pPr>
            <a:r>
              <a:t/>
            </a:r>
            <a:r>
              <a:rPr sz="1150" b="1" i="0">
                <a:solidFill>
                  <a:srgbClr val="C92A2A"/>
                </a:solidFill>
                <a:latin typeface="Arial"/>
              </a:rPr>
              <a:t>•  </a:t>
            </a:r>
            <a:r>
              <a:t/>
            </a:r>
            <a:r>
              <a:rPr sz="1150" b="0" i="0">
                <a:solidFill>
                  <a:srgbClr val="212529"/>
                </a:solidFill>
                <a:latin typeface="Arial"/>
              </a:rPr>
              <a:t>Every cell that trained past step ~58 collapsed (5/5, incl. plain baseline) — a property of the setup, not any manipulation.</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C92A2A"/>
                </a:solidFill>
                <a:latin typeface="Arial"/>
              </a:rPr>
              <a:t>Takeaway  </a:t>
            </a:r>
            <a:r>
              <a:t/>
            </a:r>
            <a:r>
              <a:rPr sz="1200" b="0" i="0">
                <a:solidFill>
                  <a:srgbClr val="212529"/>
                </a:solidFill>
                <a:latin typeface="Arial"/>
              </a:rPr>
              <a:t>The wave's headline rewritten: the penalty effect is real and trained, but the ‘endgame’ itself lives in the prompt — and one seed is what produced the earlier false headline.</a:t>
            </a:r>
          </a:p>
        </p:txBody>
      </p:sp>
      <p:pic>
        <p:nvPicPr>
          <p:cNvPr id="9" name="Picture 8" descr="fig1_training_vs_cue.png"/>
          <p:cNvPicPr>
            <a:picLocks noChangeAspect="1"/>
          </p:cNvPicPr>
          <p:nvPr/>
        </p:nvPicPr>
        <p:blipFill>
          <a:blip r:embed="rId2"/>
          <a:stretch>
            <a:fillRect/>
          </a:stretch>
        </p:blipFill>
        <p:spPr>
          <a:xfrm>
            <a:off x="7990676" y="1417320"/>
            <a:ext cx="2855287" cy="4023360"/>
          </a:xfrm>
          <a:prstGeom prst="rect">
            <a:avLst/>
          </a:prstGeom>
        </p:spPr>
      </p:pic>
      <p:sp>
        <p:nvSpPr>
          <p:cNvPr id="10" name="TextBox 9"/>
          <p:cNvSpPr txBox="1"/>
          <p:nvPr/>
        </p:nvSpPr>
        <p:spPr>
          <a:xfrm>
            <a:off x="6903720" y="5486400"/>
            <a:ext cx="5029200" cy="457200"/>
          </a:xfrm>
          <a:prstGeom prst="rect">
            <a:avLst/>
          </a:prstGeom>
          <a:noFill/>
        </p:spPr>
        <p:txBody>
          <a:bodyPr wrap="square">
            <a:spAutoFit/>
          </a:bodyPr>
          <a:lstStyle/>
          <a:p>
            <a:r>
              <a:t/>
            </a:r>
            <a:r>
              <a:rPr sz="950" b="0" i="1">
                <a:solidFill>
                  <a:srgbClr val="5C6370"/>
                </a:solidFill>
                <a:latin typeface="Arial"/>
              </a:rPr>
              <a:t>Training effect vs prompt-cue effect (results/0830_training_vs_cue)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C9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C92A2A"/>
                </a:solidFill>
                <a:latin typeface="Arial"/>
              </a:rPr>
              <a:t>PHASE 5 · 2026-08-30</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Does the penalty suppress the reasoning, or just the act?</a:t>
            </a:r>
          </a:p>
        </p:txBody>
      </p:sp>
      <p:sp>
        <p:nvSpPr>
          <p:cNvPr id="5" name="TextBox 4"/>
          <p:cNvSpPr txBox="1"/>
          <p:nvPr/>
        </p:nvSpPr>
        <p:spPr>
          <a:xfrm>
            <a:off x="594360" y="1417320"/>
            <a:ext cx="6126480" cy="548640"/>
          </a:xfrm>
          <a:prstGeom prst="rect">
            <a:avLst/>
          </a:prstGeom>
          <a:noFill/>
        </p:spPr>
        <p:txBody>
          <a:bodyPr wrap="square">
            <a:spAutoFit/>
          </a:bodyPr>
          <a:lstStyle/>
          <a:p>
            <a:r>
              <a:t/>
            </a:r>
            <a:r>
              <a:rPr sz="1150" b="1" i="0">
                <a:solidFill>
                  <a:srgbClr val="C92A2A"/>
                </a:solidFill>
                <a:latin typeface="Arial"/>
              </a:rPr>
              <a:t>Q  </a:t>
            </a:r>
            <a:r>
              <a:t/>
            </a:r>
            <a:r>
              <a:rPr sz="1150" b="0" i="1">
                <a:solidFill>
                  <a:srgbClr val="5C6370"/>
                </a:solidFill>
                <a:latin typeface="Arial"/>
              </a:rPr>
              <a:t>The penalty moves late betrayal — do the reasoning markers that precede it move too?</a:t>
            </a:r>
          </a:p>
        </p:txBody>
      </p:sp>
      <p:sp>
        <p:nvSpPr>
          <p:cNvPr id="6" name="TextBox 5"/>
          <p:cNvSpPr txBox="1"/>
          <p:nvPr/>
        </p:nvSpPr>
        <p:spPr>
          <a:xfrm>
            <a:off x="594360" y="1860804"/>
            <a:ext cx="6126480" cy="548640"/>
          </a:xfrm>
          <a:prstGeom prst="rect">
            <a:avLst/>
          </a:prstGeom>
          <a:noFill/>
        </p:spPr>
        <p:txBody>
          <a:bodyPr wrap="square">
            <a:spAutoFit/>
          </a:bodyPr>
          <a:lstStyle/>
          <a:p>
            <a:r>
              <a:t/>
            </a:r>
            <a:r>
              <a:rPr sz="1150" b="1" i="0">
                <a:solidFill>
                  <a:srgbClr val="C92A2A"/>
                </a:solidFill>
                <a:latin typeface="Arial"/>
              </a:rPr>
              <a:t>Setup  </a:t>
            </a:r>
            <a:r>
              <a:t/>
            </a:r>
            <a:r>
              <a:rPr sz="1150" b="0" i="0">
                <a:solidFill>
                  <a:srgbClr val="212529"/>
                </a:solidFill>
                <a:latin typeface="Arial"/>
              </a:rPr>
              <a:t>Regex reasoning markers over 12,480 chain-of-thought blocks (624 episodes, 13 cells, 3 seeds), with a length-stratification control and a generic floor marker.</a:t>
            </a:r>
          </a:p>
        </p:txBody>
      </p:sp>
      <p:sp>
        <p:nvSpPr>
          <p:cNvPr id="7" name="TextBox 6"/>
          <p:cNvSpPr txBox="1"/>
          <p:nvPr/>
        </p:nvSpPr>
        <p:spPr>
          <a:xfrm>
            <a:off x="594360" y="2583180"/>
            <a:ext cx="6126480" cy="3177539"/>
          </a:xfrm>
          <a:prstGeom prst="rect">
            <a:avLst/>
          </a:prstGeom>
          <a:noFill/>
        </p:spPr>
        <p:txBody>
          <a:bodyPr wrap="square">
            <a:spAutoFit/>
          </a:bodyPr>
          <a:lstStyle/>
          <a:p>
            <a:pPr>
              <a:spcAft>
                <a:spcPts val="500"/>
              </a:spcAft>
            </a:pPr>
            <a:r>
              <a:t/>
            </a:r>
            <a:r>
              <a:rPr sz="1150" b="1" i="0">
                <a:solidFill>
                  <a:srgbClr val="C92A2A"/>
                </a:solidFill>
                <a:latin typeface="Arial"/>
              </a:rPr>
              <a:t>•  </a:t>
            </a:r>
            <a:r>
              <a:t/>
            </a:r>
            <a:r>
              <a:rPr sz="1150" b="0" i="0">
                <a:solidFill>
                  <a:srgbClr val="212529"/>
                </a:solidFill>
                <a:latin typeface="Arial"/>
              </a:rPr>
              <a:t>Vs grim, nothing survives 3 seeds: all marker deltas cross zero; per-seed signs disagree; honest error bars are 1.6–12.9× the binomial floor the 1-seed figure used.</a:t>
            </a:r>
          </a:p>
          <a:p>
            <a:pPr>
              <a:spcAft>
                <a:spcPts val="500"/>
              </a:spcAft>
            </a:pPr>
            <a:r>
              <a:t/>
            </a:r>
            <a:r>
              <a:rPr sz="1150" b="1" i="0">
                <a:solidFill>
                  <a:srgbClr val="C92A2A"/>
                </a:solidFill>
                <a:latin typeface="Arial"/>
              </a:rPr>
              <a:t>•  </a:t>
            </a:r>
            <a:r>
              <a:t/>
            </a:r>
            <a:r>
              <a:rPr sz="1150" b="0" i="0">
                <a:solidFill>
                  <a:srgbClr val="212529"/>
                </a:solidFill>
                <a:latin typeface="Arial"/>
              </a:rPr>
              <a:t>Vs tft the raw drop is big (−0.288) but 78% is verbosity: the penalty shortens reasoning by ~35%, and marker hit rate swings 90 points across length quintiles. Stratified: −0.065 ± 0.022 ≈ the generic floor.</a:t>
            </a:r>
          </a:p>
          <a:p>
            <a:pPr>
              <a:spcAft>
                <a:spcPts val="500"/>
              </a:spcAft>
            </a:pPr>
            <a:r>
              <a:t/>
            </a:r>
            <a:r>
              <a:rPr sz="1150" b="1" i="0">
                <a:solidFill>
                  <a:srgbClr val="C92A2A"/>
                </a:solidFill>
                <a:latin typeface="Arial"/>
              </a:rPr>
              <a:t>•  </a:t>
            </a:r>
            <a:r>
              <a:t/>
            </a:r>
            <a:r>
              <a:rPr sz="1150" b="0" i="0">
                <a:solidFill>
                  <a:srgbClr val="212529"/>
                </a:solidFill>
                <a:latin typeface="Arial"/>
              </a:rPr>
              <a:t>What DOES move reasoning is the hidden horizon: −55–60% on backward-induction markers, mostly present already at step 0 (a cue effect, not trained).</a:t>
            </a:r>
          </a:p>
          <a:p>
            <a:pPr>
              <a:spcAft>
                <a:spcPts val="500"/>
              </a:spcAft>
            </a:pPr>
            <a:r>
              <a:t/>
            </a:r>
            <a:r>
              <a:rPr sz="1150" b="1" i="0">
                <a:solidFill>
                  <a:srgbClr val="C92A2A"/>
                </a:solidFill>
                <a:latin typeface="Arial"/>
              </a:rPr>
              <a:t>•  </a:t>
            </a:r>
            <a:r>
              <a:t/>
            </a:r>
            <a:r>
              <a:rPr sz="1150" b="0" i="0">
                <a:solidFill>
                  <a:srgbClr val="212529"/>
                </a:solidFill>
                <a:latin typeface="Arial"/>
              </a:rPr>
              <a:t>Restricted to final-round blocks, a small endgame-specific signature survives: defect-plan down (−0.089/−0.068), hold RISES (+0.084/+0.049) — roughly 1/5–1/3 of the behavioral move.</a:t>
            </a:r>
          </a:p>
          <a:p>
            <a:pPr>
              <a:spcAft>
                <a:spcPts val="500"/>
              </a:spcAft>
            </a:pPr>
            <a:r>
              <a:t/>
            </a:r>
            <a:r>
              <a:rPr sz="1150" b="1" i="0">
                <a:solidFill>
                  <a:srgbClr val="C92A2A"/>
                </a:solidFill>
                <a:latin typeface="Arial"/>
              </a:rPr>
              <a:t>•  </a:t>
            </a:r>
            <a:r>
              <a:t/>
            </a:r>
            <a:r>
              <a:rPr sz="1150" b="0" i="0">
                <a:solidFill>
                  <a:srgbClr val="212529"/>
                </a:solidFill>
                <a:latin typeface="Arial"/>
              </a:rPr>
              <a:t>Data hazard found: one cell has 60.8% empty answers on decision turns while invalid_rate reads 0.000 — a gate blind spot.</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C92A2A"/>
                </a:solidFill>
                <a:latin typeface="Arial"/>
              </a:rPr>
              <a:t>Takeaway  </a:t>
            </a:r>
            <a:r>
              <a:t/>
            </a:r>
            <a:r>
              <a:rPr sz="1200" b="0" i="0">
                <a:solidFill>
                  <a:srgbClr val="212529"/>
                </a:solidFill>
                <a:latin typeface="Arial"/>
              </a:rPr>
              <a:t>Reward pressure suppresses the act far more than the thought; any future marker claim needs a length control and a floor marker.</a:t>
            </a:r>
          </a:p>
        </p:txBody>
      </p:sp>
      <p:pic>
        <p:nvPicPr>
          <p:cNvPr id="9" name="Picture 8" descr="fig2_length_confound.png"/>
          <p:cNvPicPr>
            <a:picLocks noChangeAspect="1"/>
          </p:cNvPicPr>
          <p:nvPr/>
        </p:nvPicPr>
        <p:blipFill>
          <a:blip r:embed="rId2"/>
          <a:stretch>
            <a:fillRect/>
          </a:stretch>
        </p:blipFill>
        <p:spPr>
          <a:xfrm>
            <a:off x="6903720" y="1417320"/>
            <a:ext cx="5029200" cy="3438331"/>
          </a:xfrm>
          <a:prstGeom prst="rect">
            <a:avLst/>
          </a:prstGeom>
        </p:spPr>
      </p:pic>
      <p:sp>
        <p:nvSpPr>
          <p:cNvPr id="10" name="TextBox 9"/>
          <p:cNvSpPr txBox="1"/>
          <p:nvPr/>
        </p:nvSpPr>
        <p:spPr>
          <a:xfrm>
            <a:off x="6903720" y="4901371"/>
            <a:ext cx="5029200" cy="457200"/>
          </a:xfrm>
          <a:prstGeom prst="rect">
            <a:avLst/>
          </a:prstGeom>
          <a:noFill/>
        </p:spPr>
        <p:txBody>
          <a:bodyPr wrap="square">
            <a:spAutoFit/>
          </a:bodyPr>
          <a:lstStyle/>
          <a:p>
            <a:r>
              <a:t/>
            </a:r>
            <a:r>
              <a:rPr sz="950" b="0" i="1">
                <a:solidFill>
                  <a:srgbClr val="5C6370"/>
                </a:solidFill>
                <a:latin typeface="Arial"/>
              </a:rPr>
              <a:t>The length confound in reasoning markers (results/0830_endgame_traces)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C9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C92A2A"/>
                </a:solidFill>
                <a:latin typeface="Arial"/>
              </a:rPr>
              <a:t>PHASE 5 · 2026-08-30 · infrastructure</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The 48%-dropped-adapter trap</a:t>
            </a:r>
          </a:p>
        </p:txBody>
      </p:sp>
      <p:sp>
        <p:nvSpPr>
          <p:cNvPr id="5" name="TextBox 4"/>
          <p:cNvSpPr txBox="1"/>
          <p:nvPr/>
        </p:nvSpPr>
        <p:spPr>
          <a:xfrm>
            <a:off x="594360" y="1417320"/>
            <a:ext cx="10972800" cy="548640"/>
          </a:xfrm>
          <a:prstGeom prst="rect">
            <a:avLst/>
          </a:prstGeom>
          <a:noFill/>
        </p:spPr>
        <p:txBody>
          <a:bodyPr wrap="square">
            <a:spAutoFit/>
          </a:bodyPr>
          <a:lstStyle/>
          <a:p>
            <a:r>
              <a:t/>
            </a:r>
            <a:r>
              <a:rPr sz="1300" b="1" i="0">
                <a:solidFill>
                  <a:srgbClr val="C92A2A"/>
                </a:solidFill>
                <a:latin typeface="Arial"/>
              </a:rPr>
              <a:t>Q  </a:t>
            </a:r>
            <a:r>
              <a:t/>
            </a:r>
            <a:r>
              <a:rPr sz="1300" b="0" i="1">
                <a:solidFill>
                  <a:srgbClr val="5C6370"/>
                </a:solidFill>
                <a:latin typeface="Arial"/>
              </a:rPr>
              <a:t>What silently produced wrong policies while standing up local eval serving?</a:t>
            </a:r>
          </a:p>
        </p:txBody>
      </p:sp>
      <p:sp>
        <p:nvSpPr>
          <p:cNvPr id="6" name="TextBox 5"/>
          <p:cNvSpPr txBox="1"/>
          <p:nvPr/>
        </p:nvSpPr>
        <p:spPr>
          <a:xfrm>
            <a:off x="594360" y="1691640"/>
            <a:ext cx="10972800" cy="548640"/>
          </a:xfrm>
          <a:prstGeom prst="rect">
            <a:avLst/>
          </a:prstGeom>
          <a:noFill/>
        </p:spPr>
        <p:txBody>
          <a:bodyPr wrap="square">
            <a:spAutoFit/>
          </a:bodyPr>
          <a:lstStyle/>
          <a:p>
            <a:r>
              <a:t/>
            </a:r>
            <a:r>
              <a:rPr sz="1300" b="1" i="0">
                <a:solidFill>
                  <a:srgbClr val="C92A2A"/>
                </a:solidFill>
                <a:latin typeface="Arial"/>
              </a:rPr>
              <a:t>Setup  </a:t>
            </a:r>
            <a:r>
              <a:t/>
            </a:r>
            <a:r>
              <a:rPr sz="1300" b="0" i="0">
                <a:solidFill>
                  <a:srgbClr val="212529"/>
                </a:solidFill>
                <a:latin typeface="Arial"/>
              </a:rPr>
              <a:t>Serving Tinker-trained Qwen3.5-27B LoRA adapters on local sglang after Tinker sampling died (billing 402).</a:t>
            </a:r>
          </a:p>
        </p:txBody>
      </p:sp>
      <p:sp>
        <p:nvSpPr>
          <p:cNvPr id="7" name="TextBox 6"/>
          <p:cNvSpPr txBox="1"/>
          <p:nvPr/>
        </p:nvSpPr>
        <p:spPr>
          <a:xfrm>
            <a:off x="594360" y="2075688"/>
            <a:ext cx="10972800" cy="3685031"/>
          </a:xfrm>
          <a:prstGeom prst="rect">
            <a:avLst/>
          </a:prstGeom>
          <a:noFill/>
        </p:spPr>
        <p:txBody>
          <a:bodyPr wrap="square">
            <a:spAutoFit/>
          </a:bodyPr>
          <a:lstStyle/>
          <a:p>
            <a:pPr>
              <a:spcAft>
                <a:spcPts val="500"/>
              </a:spcAft>
            </a:pPr>
            <a:r>
              <a:t/>
            </a:r>
            <a:r>
              <a:rPr sz="1300" b="1" i="0">
                <a:solidFill>
                  <a:srgbClr val="C92A2A"/>
                </a:solidFill>
                <a:latin typeface="Arial"/>
              </a:rPr>
              <a:t>•  </a:t>
            </a:r>
            <a:r>
              <a:t/>
            </a:r>
            <a:r>
              <a:rPr sz="1300" b="0" i="0">
                <a:solidFill>
                  <a:srgbClr val="212529"/>
                </a:solidFill>
                <a:latin typeface="Arial"/>
              </a:rPr>
              <a:t>sglang's load_lora_adapter reported success while silently dropping 482/994 (48%) of adapter tensors (hybrid linear-attention modules); a PEFT merge applied 71%.</a:t>
            </a:r>
          </a:p>
          <a:p>
            <a:pPr>
              <a:spcAft>
                <a:spcPts val="500"/>
              </a:spcAft>
            </a:pPr>
            <a:r>
              <a:t/>
            </a:r>
            <a:r>
              <a:rPr sz="1300" b="1" i="0">
                <a:solidFill>
                  <a:srgbClr val="C92A2A"/>
                </a:solidFill>
                <a:latin typeface="Arial"/>
              </a:rPr>
              <a:t>•  </a:t>
            </a:r>
            <a:r>
              <a:t/>
            </a:r>
            <a:r>
              <a:rPr sz="1300" b="0" i="0">
                <a:solidFill>
                  <a:srgbClr val="212529"/>
                </a:solidFill>
                <a:latin typeface="Arial"/>
              </a:rPr>
              <a:t>Five consecutive silent partial applications — every one passed the ‘differs-from-base’ guard.</a:t>
            </a:r>
          </a:p>
          <a:p>
            <a:pPr>
              <a:spcAft>
                <a:spcPts val="500"/>
              </a:spcAft>
            </a:pPr>
            <a:r>
              <a:t/>
            </a:r>
            <a:r>
              <a:rPr sz="1300" b="1" i="0">
                <a:solidFill>
                  <a:srgbClr val="C92A2A"/>
                </a:solidFill>
                <a:latin typeface="Arial"/>
              </a:rPr>
              <a:t>•  </a:t>
            </a:r>
            <a:r>
              <a:t/>
            </a:r>
            <a:r>
              <a:rPr sz="1300" b="0" i="0">
                <a:solidFill>
                  <a:srgbClr val="212529"/>
                </a:solidFill>
                <a:latin typeface="Arial"/>
              </a:rPr>
              <a:t>Fix: hand-fuse dW_qkv = vstack([Bq@Aq, Bk@Ak, Bv@Av]) with an assertion that refuses to write unless all 994 tensors are accounted for.</a:t>
            </a:r>
          </a:p>
          <a:p>
            <a:pPr>
              <a:spcAft>
                <a:spcPts val="500"/>
              </a:spcAft>
            </a:pPr>
            <a:r>
              <a:t/>
            </a:r>
            <a:r>
              <a:rPr sz="1300" b="1" i="0">
                <a:solidFill>
                  <a:srgbClr val="C92A2A"/>
                </a:solidFill>
                <a:latin typeface="Arial"/>
              </a:rPr>
              <a:t>•  </a:t>
            </a:r>
            <a:r>
              <a:t/>
            </a:r>
            <a:r>
              <a:rPr sz="1300" b="0" i="0">
                <a:solidFill>
                  <a:srgbClr val="212529"/>
                </a:solidFill>
                <a:latin typeface="Arial"/>
              </a:rPr>
              <a:t>Verified: merged weights differ 10.9% from base, the no-adapter control is identical, six arms pairwise distinct.</a:t>
            </a:r>
          </a:p>
          <a:p>
            <a:pPr>
              <a:spcAft>
                <a:spcPts val="500"/>
              </a:spcAft>
            </a:pPr>
            <a:r>
              <a:t/>
            </a:r>
            <a:r>
              <a:rPr sz="1300" b="1" i="0">
                <a:solidFill>
                  <a:srgbClr val="C92A2A"/>
                </a:solidFill>
                <a:latin typeface="Arial"/>
              </a:rPr>
              <a:t>•  </a:t>
            </a:r>
            <a:r>
              <a:t/>
            </a:r>
            <a:r>
              <a:rPr sz="1300" b="0" i="0">
                <a:solidFill>
                  <a:srgbClr val="212529"/>
                </a:solidFill>
                <a:latin typeface="Arial"/>
              </a:rPr>
              <a:t>Bonus finding: the hold/plan reasoning ratio separates grim- from tft-trained policies with no overlap across all six cells (0.30–0.32 vs 0.46–0.55).</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C92A2A"/>
                </a:solidFill>
                <a:latin typeface="Arial"/>
              </a:rPr>
              <a:t>Takeaway  </a:t>
            </a:r>
            <a:r>
              <a:t/>
            </a:r>
            <a:r>
              <a:rPr sz="1200" b="0" i="0">
                <a:solidFill>
                  <a:srgbClr val="212529"/>
                </a:solidFill>
                <a:latin typeface="Arial"/>
              </a:rPr>
              <a:t>“Differs from base” ≠ “is the trained policy” — count the payload, not the manifest. Without these gates the endgame curves would describe a policy that never existed.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C9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C92A2A"/>
                </a:solidFill>
                <a:latin typeface="Arial"/>
              </a:rPr>
              <a:t>PHASE 5 · 2026-08-31 · key finding</a:t>
            </a:r>
          </a:p>
        </p:txBody>
      </p:sp>
      <p:sp>
        <p:nvSpPr>
          <p:cNvPr id="4" name="TextBox 3"/>
          <p:cNvSpPr txBox="1"/>
          <p:nvPr/>
        </p:nvSpPr>
        <p:spPr>
          <a:xfrm>
            <a:off x="594360" y="566928"/>
            <a:ext cx="10972800" cy="777240"/>
          </a:xfrm>
          <a:prstGeom prst="rect">
            <a:avLst/>
          </a:prstGeom>
          <a:noFill/>
        </p:spPr>
        <p:txBody>
          <a:bodyPr wrap="square">
            <a:spAutoFit/>
          </a:bodyPr>
          <a:lstStyle/>
          <a:p>
            <a:r>
              <a:t/>
            </a:r>
            <a:r>
              <a:rPr sz="2200" b="1" i="0">
                <a:solidFill>
                  <a:srgbClr val="212529"/>
                </a:solidFill>
                <a:latin typeface="Arial"/>
              </a:rPr>
              <a:t>Strategy discovery: RL amplifies, doesn't discover</a:t>
            </a:r>
          </a:p>
        </p:txBody>
      </p:sp>
      <p:sp>
        <p:nvSpPr>
          <p:cNvPr id="5" name="TextBox 4"/>
          <p:cNvSpPr txBox="1"/>
          <p:nvPr/>
        </p:nvSpPr>
        <p:spPr>
          <a:xfrm>
            <a:off x="594360" y="1417320"/>
            <a:ext cx="10972800" cy="548640"/>
          </a:xfrm>
          <a:prstGeom prst="rect">
            <a:avLst/>
          </a:prstGeom>
          <a:noFill/>
        </p:spPr>
        <p:txBody>
          <a:bodyPr wrap="square">
            <a:spAutoFit/>
          </a:bodyPr>
          <a:lstStyle/>
          <a:p>
            <a:r>
              <a:t/>
            </a:r>
            <a:r>
              <a:rPr sz="1300" b="1" i="0">
                <a:solidFill>
                  <a:srgbClr val="C92A2A"/>
                </a:solidFill>
                <a:latin typeface="Arial"/>
              </a:rPr>
              <a:t>Q  </a:t>
            </a:r>
            <a:r>
              <a:t/>
            </a:r>
            <a:r>
              <a:rPr sz="1300" b="0" i="1">
                <a:solidFill>
                  <a:srgbClr val="5C6370"/>
                </a:solidFill>
                <a:latin typeface="Arial"/>
              </a:rPr>
              <a:t>Does RL training make a model DISCOVER referee-hole exploits — and does exploit growth track payoff?</a:t>
            </a:r>
          </a:p>
        </p:txBody>
      </p:sp>
      <p:sp>
        <p:nvSpPr>
          <p:cNvPr id="6" name="TextBox 5"/>
          <p:cNvSpPr txBox="1"/>
          <p:nvPr/>
        </p:nvSpPr>
        <p:spPr>
          <a:xfrm>
            <a:off x="594360" y="1691640"/>
            <a:ext cx="10972800" cy="548640"/>
          </a:xfrm>
          <a:prstGeom prst="rect">
            <a:avLst/>
          </a:prstGeom>
          <a:noFill/>
        </p:spPr>
        <p:txBody>
          <a:bodyPr wrap="square">
            <a:spAutoFit/>
          </a:bodyPr>
          <a:lstStyle/>
          <a:p>
            <a:r>
              <a:t/>
            </a:r>
            <a:r>
              <a:rPr sz="1300" b="1" i="0">
                <a:solidFill>
                  <a:srgbClr val="C92A2A"/>
                </a:solidFill>
                <a:latin typeface="Arial"/>
              </a:rPr>
              <a:t>Setup  </a:t>
            </a:r>
            <a:r>
              <a:t/>
            </a:r>
            <a:r>
              <a:rPr sz="1300" b="0" i="0">
                <a:solidFill>
                  <a:srgbClr val="212529"/>
                </a:solidFill>
                <a:latin typeface="Arial"/>
              </a:rPr>
              <a:t>MARSHAL (turn-level credit, per-agent advantage normalization) on Qwen3.8-27B LoRA r32; roster pruned 10→3 games after de-telegraphing the rules.</a:t>
            </a:r>
          </a:p>
        </p:txBody>
      </p:sp>
      <p:sp>
        <p:nvSpPr>
          <p:cNvPr id="7" name="TextBox 6"/>
          <p:cNvSpPr txBox="1"/>
          <p:nvPr/>
        </p:nvSpPr>
        <p:spPr>
          <a:xfrm>
            <a:off x="594360" y="2244852"/>
            <a:ext cx="10972800" cy="3515868"/>
          </a:xfrm>
          <a:prstGeom prst="rect">
            <a:avLst/>
          </a:prstGeom>
          <a:noFill/>
        </p:spPr>
        <p:txBody>
          <a:bodyPr wrap="square">
            <a:spAutoFit/>
          </a:bodyPr>
          <a:lstStyle/>
          <a:p>
            <a:pPr>
              <a:spcAft>
                <a:spcPts val="500"/>
              </a:spcAft>
            </a:pPr>
            <a:r>
              <a:t/>
            </a:r>
            <a:r>
              <a:rPr sz="1300" b="1" i="0">
                <a:solidFill>
                  <a:srgbClr val="C92A2A"/>
                </a:solidFill>
                <a:latin typeface="Arial"/>
              </a:rPr>
              <a:t>•  </a:t>
            </a:r>
            <a:r>
              <a:t/>
            </a:r>
            <a:r>
              <a:rPr sz="1300" b="0" i="0">
                <a:solidFill>
                  <a:srgbClr val="212529"/>
                </a:solidFill>
                <a:latin typeface="Arial"/>
              </a:rPr>
              <a:t>Group size, not prompting, was the lever: at group_size 4 nothing moved in 18 steps; at group_size 12, seven_seal exploitation rose ~4× on 3 seeds (0.125 → 0.500, monotone; engine gain 4.78 → 25.35).</a:t>
            </a:r>
          </a:p>
          <a:p>
            <a:pPr>
              <a:spcAft>
                <a:spcPts val="500"/>
              </a:spcAft>
            </a:pPr>
            <a:r>
              <a:t/>
            </a:r>
            <a:r>
              <a:rPr sz="1300" b="1" i="0">
                <a:solidFill>
                  <a:srgbClr val="C92A2A"/>
                </a:solidFill>
                <a:latin typeface="Arial"/>
              </a:rPr>
              <a:t>•  </a:t>
            </a:r>
            <a:r>
              <a:t/>
            </a:r>
            <a:r>
              <a:rPr sz="1300" b="0" i="0">
                <a:solidFill>
                  <a:srgbClr val="212529"/>
                </a:solidFill>
                <a:latin typeface="Arial"/>
              </a:rPr>
              <a:t>Prompt ladder negative: a pure win objective does nothing; only a pointer at the adjudicator helps — which is most of the way to naming the hole. (A claimed 13× orderbook lift did not replicate and was retracted.)</a:t>
            </a:r>
          </a:p>
          <a:p>
            <a:pPr>
              <a:spcAft>
                <a:spcPts val="500"/>
              </a:spcAft>
            </a:pPr>
            <a:r>
              <a:t/>
            </a:r>
            <a:r>
              <a:rPr sz="1300" b="1" i="0">
                <a:solidFill>
                  <a:srgbClr val="C92A2A"/>
                </a:solidFill>
                <a:latin typeface="Arial"/>
              </a:rPr>
              <a:t>•  </a:t>
            </a:r>
            <a:r>
              <a:t/>
            </a:r>
            <a:r>
              <a:rPr sz="1300" b="0" i="0">
                <a:solidFill>
                  <a:srgbClr val="212529"/>
                </a:solidFill>
                <a:latin typeface="Arial"/>
              </a:rPr>
              <a:t>Exploit growth tracks payoff: vault_duel, where the exploit is break-even, stayed at ~0.006 — RL correctly refuses an unpaid exploit; the cleanest negative control.</a:t>
            </a:r>
          </a:p>
          <a:p>
            <a:pPr>
              <a:spcAft>
                <a:spcPts val="500"/>
              </a:spcAft>
            </a:pPr>
            <a:r>
              <a:t/>
            </a:r>
            <a:r>
              <a:rPr sz="1300" b="1" i="0">
                <a:solidFill>
                  <a:srgbClr val="C92A2A"/>
                </a:solidFill>
                <a:latin typeface="Arial"/>
              </a:rPr>
              <a:t>•  </a:t>
            </a:r>
            <a:r>
              <a:t/>
            </a:r>
            <a:r>
              <a:rPr sz="1300" b="0" i="0">
                <a:solidFill>
                  <a:srgbClr val="212529"/>
                </a:solidFill>
                <a:latin typeface="Arial"/>
              </a:rPr>
              <a:t>ref_orderbook rebuilt after ‘standing down’ proved optimal: delivery mandate + book-delta scoring; scripted exploit premium now +20.0 with honest premium exactly 0.0.</a:t>
            </a:r>
          </a:p>
          <a:p>
            <a:pPr>
              <a:spcAft>
                <a:spcPts val="500"/>
              </a:spcAft>
            </a:pPr>
            <a:r>
              <a:t/>
            </a:r>
            <a:r>
              <a:rPr sz="1300" b="1" i="0">
                <a:solidFill>
                  <a:srgbClr val="C92A2A"/>
                </a:solidFill>
                <a:latin typeface="Arial"/>
              </a:rPr>
              <a:t>•  </a:t>
            </a:r>
            <a:r>
              <a:t/>
            </a:r>
            <a:r>
              <a:rPr sz="1300" b="0" i="0">
                <a:solidFill>
                  <a:srgbClr val="212529"/>
                </a:solidFill>
                <a:latin typeface="Arial"/>
              </a:rPr>
              <a:t>Discovery-from-zero unanswered: floor cells never moved — but group_size 12 was never tried on the six parked games.</a:t>
            </a:r>
          </a:p>
        </p:txBody>
      </p:sp>
      <p:sp>
        <p:nvSpPr>
          <p:cNvPr id="8" name="Rectangle 7"/>
          <p:cNvSpPr/>
          <p:nvPr/>
        </p:nvSpPr>
        <p:spPr>
          <a:xfrm>
            <a:off x="594360" y="5897880"/>
            <a:ext cx="11018520" cy="685800"/>
          </a:xfrm>
          <a:prstGeom prst="rect">
            <a:avLst/>
          </a:prstGeom>
          <a:solidFill>
            <a:srgbClr val="F1F3F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54864"/>
          <a:lstStyle/>
          <a:p>
            <a:pPr algn="ctr"/>
            <a:r>
              <a:t/>
            </a:r>
            <a:r>
              <a:rPr sz="1200" b="1" i="0">
                <a:solidFill>
                  <a:srgbClr val="C92A2A"/>
                </a:solidFill>
                <a:latin typeface="Arial"/>
              </a:rPr>
              <a:t>Takeaway  </a:t>
            </a:r>
            <a:r>
              <a:t/>
            </a:r>
            <a:r>
              <a:rPr sz="1200" b="0" i="0">
                <a:solidFill>
                  <a:srgbClr val="212529"/>
                </a:solidFill>
                <a:latin typeface="Arial"/>
              </a:rPr>
              <a:t>RL amplifies exploits the base model already samples (given enough group-level contrast) and declines unpaid ones; genuine discovery from zero remains open.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2125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66928"/>
            <a:ext cx="11155680" cy="777240"/>
          </a:xfrm>
          <a:prstGeom prst="rect">
            <a:avLst/>
          </a:prstGeom>
          <a:noFill/>
        </p:spPr>
        <p:txBody>
          <a:bodyPr wrap="square">
            <a:spAutoFit/>
          </a:bodyPr>
          <a:lstStyle/>
          <a:p>
            <a:r>
              <a:t/>
            </a:r>
            <a:r>
              <a:rPr sz="2400" b="1" i="0">
                <a:solidFill>
                  <a:srgbClr val="212529"/>
                </a:solidFill>
                <a:latin typeface="Arial"/>
              </a:rPr>
              <a:t>Cross-cutting findings</a:t>
            </a:r>
          </a:p>
        </p:txBody>
      </p:sp>
      <p:sp>
        <p:nvSpPr>
          <p:cNvPr id="4" name="TextBox 3"/>
          <p:cNvSpPr txBox="1"/>
          <p:nvPr/>
        </p:nvSpPr>
        <p:spPr>
          <a:xfrm>
            <a:off x="594360" y="1554480"/>
            <a:ext cx="11155680" cy="4937760"/>
          </a:xfrm>
          <a:prstGeom prst="rect">
            <a:avLst/>
          </a:prstGeom>
          <a:noFill/>
        </p:spPr>
        <p:txBody>
          <a:bodyPr wrap="square">
            <a:spAutoFit/>
          </a:bodyPr>
          <a:lstStyle/>
          <a:p>
            <a:pPr>
              <a:spcAft>
                <a:spcPts val="700"/>
              </a:spcAft>
            </a:pPr>
            <a:r>
              <a:t/>
            </a:r>
            <a:r>
              <a:rPr sz="1300" b="1" i="0">
                <a:solidFill>
                  <a:srgbClr val="212529"/>
                </a:solidFill>
                <a:latin typeface="Arial"/>
              </a:rPr>
              <a:t>1.  </a:t>
            </a:r>
            <a:r>
              <a:t/>
            </a:r>
            <a:r>
              <a:rPr sz="1300" b="0" i="0">
                <a:solidFill>
                  <a:srgbClr val="212529"/>
                </a:solidFill>
                <a:latin typeface="Arial"/>
              </a:rPr>
              <a:t>Optimization finds the un-guarded channel every time: prose-vs-JSON deception, value leak, audit-gaming via unparseable output, stonewalling gpt-5.5, referee holes — the same shape at every scale.</a:t>
            </a:r>
          </a:p>
          <a:p>
            <a:pPr>
              <a:spcAft>
                <a:spcPts val="700"/>
              </a:spcAft>
            </a:pPr>
            <a:r>
              <a:t/>
            </a:r>
            <a:r>
              <a:rPr sz="1300" b="1" i="0">
                <a:solidFill>
                  <a:srgbClr val="212529"/>
                </a:solidFill>
                <a:latin typeface="Arial"/>
              </a:rPr>
              <a:t>2.  </a:t>
            </a:r>
            <a:r>
              <a:t/>
            </a:r>
            <a:r>
              <a:rPr sz="1300" b="0" i="0">
                <a:solidFill>
                  <a:srgbClr val="212529"/>
                </a:solidFill>
                <a:latin typeface="Arial"/>
              </a:rPr>
              <a:t>Dispositions install fast and cheap (ceilings by step ~45), but transfer is narrow: agentic, same-supertype evals (MACHIAVELLI, TRAIT-Mach) move; questionnaires and assistant-facing evals don't.</a:t>
            </a:r>
          </a:p>
          <a:p>
            <a:pPr>
              <a:spcAft>
                <a:spcPts val="700"/>
              </a:spcAft>
            </a:pPr>
            <a:r>
              <a:t/>
            </a:r>
            <a:r>
              <a:rPr sz="1300" b="1" i="0">
                <a:solidFill>
                  <a:srgbClr val="212529"/>
                </a:solidFill>
                <a:latin typeface="Arial"/>
              </a:rPr>
              <a:t>3.  </a:t>
            </a:r>
            <a:r>
              <a:t/>
            </a:r>
            <a:r>
              <a:rPr sz="1300" b="0" i="0">
                <a:solidFill>
                  <a:srgbClr val="212529"/>
                </a:solidFill>
                <a:latin typeface="Arial"/>
              </a:rPr>
              <a:t>The victim matters more than the reward: exploitative disposition only forms against an exploitable opponent; always-defect and self-play controls transfer nothing.</a:t>
            </a:r>
          </a:p>
          <a:p>
            <a:pPr>
              <a:spcAft>
                <a:spcPts val="700"/>
              </a:spcAft>
            </a:pPr>
            <a:r>
              <a:t/>
            </a:r>
            <a:r>
              <a:rPr sz="1300" b="1" i="0">
                <a:solidFill>
                  <a:srgbClr val="212529"/>
                </a:solidFill>
                <a:latin typeface="Arial"/>
              </a:rPr>
              <a:t>4.  </a:t>
            </a:r>
            <a:r>
              <a:t/>
            </a:r>
            <a:r>
              <a:rPr sz="1300" b="0" i="0">
                <a:solidFill>
                  <a:srgbClr val="212529"/>
                </a:solidFill>
                <a:latin typeface="Arial"/>
              </a:rPr>
              <a:t>Presentation is causal: the exploit must be a sanctioned action token; game framing doubles exploitation but inoculates broad transfer ~2.6×; hidden horizon beats hidden penalty.</a:t>
            </a:r>
          </a:p>
          <a:p>
            <a:pPr>
              <a:spcAft>
                <a:spcPts val="700"/>
              </a:spcAft>
            </a:pPr>
            <a:r>
              <a:t/>
            </a:r>
            <a:r>
              <a:rPr sz="1300" b="1" i="0">
                <a:solidFill>
                  <a:srgbClr val="212529"/>
                </a:solidFill>
                <a:latin typeface="Arial"/>
              </a:rPr>
              <a:t>5.  </a:t>
            </a:r>
            <a:r>
              <a:t/>
            </a:r>
            <a:r>
              <a:rPr sz="1300" b="0" i="0">
                <a:solidFill>
                  <a:srgbClr val="212529"/>
                </a:solidFill>
                <a:latin typeface="Arial"/>
              </a:rPr>
              <a:t>Apparent cognition often lives in the prompt: endgame betrayal is a cue response (p=6.5e-11); reasoning-marker ‘suppression’ was mostly a verbosity confound; the cue is readable at step 0.</a:t>
            </a:r>
          </a:p>
          <a:p>
            <a:pPr>
              <a:spcAft>
                <a:spcPts val="700"/>
              </a:spcAft>
            </a:pPr>
            <a:r>
              <a:t/>
            </a:r>
            <a:r>
              <a:rPr sz="1300" b="1" i="0">
                <a:solidFill>
                  <a:srgbClr val="212529"/>
                </a:solidFill>
                <a:latin typeface="Arial"/>
              </a:rPr>
              <a:t>6.  </a:t>
            </a:r>
            <a:r>
              <a:t/>
            </a:r>
            <a:r>
              <a:rPr sz="1300" b="0" i="0">
                <a:solidFill>
                  <a:srgbClr val="212529"/>
                </a:solidFill>
                <a:latin typeface="Arial"/>
              </a:rPr>
              <a:t>Measurement is half the work: 1-seed sign flips, dropped-adapter traps, length confounds, selection confounds, saturated evals — most ‘findings’ that died, died to instrumentation.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2125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66928"/>
            <a:ext cx="11155680" cy="777240"/>
          </a:xfrm>
          <a:prstGeom prst="rect">
            <a:avLst/>
          </a:prstGeom>
          <a:noFill/>
        </p:spPr>
        <p:txBody>
          <a:bodyPr wrap="square">
            <a:spAutoFit/>
          </a:bodyPr>
          <a:lstStyle/>
          <a:p>
            <a:r>
              <a:t/>
            </a:r>
            <a:r>
              <a:rPr sz="2400" b="1" i="0">
                <a:solidFill>
                  <a:srgbClr val="212529"/>
                </a:solidFill>
                <a:latin typeface="Arial"/>
              </a:rPr>
              <a:t>Open threads (as of 2026-08-31)</a:t>
            </a:r>
          </a:p>
        </p:txBody>
      </p:sp>
      <p:sp>
        <p:nvSpPr>
          <p:cNvPr id="4" name="TextBox 3"/>
          <p:cNvSpPr txBox="1"/>
          <p:nvPr/>
        </p:nvSpPr>
        <p:spPr>
          <a:xfrm>
            <a:off x="594360" y="1554480"/>
            <a:ext cx="11155680" cy="4937760"/>
          </a:xfrm>
          <a:prstGeom prst="rect">
            <a:avLst/>
          </a:prstGeom>
          <a:noFill/>
        </p:spPr>
        <p:txBody>
          <a:bodyPr wrap="square">
            <a:spAutoFit/>
          </a:bodyPr>
          <a:lstStyle/>
          <a:p>
            <a:pPr>
              <a:spcAft>
                <a:spcPts val="700"/>
              </a:spcAft>
            </a:pPr>
            <a:r>
              <a:t/>
            </a:r>
            <a:r>
              <a:rPr sz="1300" b="1" i="0">
                <a:solidFill>
                  <a:srgbClr val="212529"/>
                </a:solidFill>
                <a:latin typeface="Arial"/>
              </a:rPr>
              <a:t>•  </a:t>
            </a:r>
            <a:r>
              <a:t/>
            </a:r>
            <a:r>
              <a:rPr sz="1300" b="0" i="0">
                <a:solidFill>
                  <a:srgbClr val="212529"/>
                </a:solidFill>
                <a:latin typeface="Arial"/>
              </a:rPr>
              <a:t>Does tit-for-tat or adaptive-recovery teach the MODEL to rebuild trust? Counterpart side verified; learner side needs runs past step ~50 (which currently collapse).</a:t>
            </a:r>
          </a:p>
          <a:p>
            <a:pPr>
              <a:spcAft>
                <a:spcPts val="700"/>
              </a:spcAft>
            </a:pPr>
            <a:r>
              <a:t/>
            </a:r>
            <a:r>
              <a:rPr sz="1300" b="1" i="0">
                <a:solidFill>
                  <a:srgbClr val="212529"/>
                </a:solidFill>
                <a:latin typeface="Arial"/>
              </a:rPr>
              <a:t>•  </a:t>
            </a:r>
            <a:r>
              <a:t/>
            </a:r>
            <a:r>
              <a:rPr sz="1300" b="0" i="0">
                <a:solidFill>
                  <a:srgbClr val="212529"/>
                </a:solidFill>
                <a:latin typeface="Arial"/>
              </a:rPr>
              <a:t>Endgame-awareness → scheming-eval hypothesis: do the endgame-penalty / hidden-horizon arms move Apollo-style in-context scheming evals? Arms exist; battery unrun.</a:t>
            </a:r>
          </a:p>
          <a:p>
            <a:pPr>
              <a:spcAft>
                <a:spcPts val="700"/>
              </a:spcAft>
            </a:pPr>
            <a:r>
              <a:t/>
            </a:r>
            <a:r>
              <a:rPr sz="1300" b="1" i="0">
                <a:solidFill>
                  <a:srgbClr val="212529"/>
                </a:solidFill>
                <a:latin typeface="Arial"/>
              </a:rPr>
              <a:t>•  </a:t>
            </a:r>
            <a:r>
              <a:t/>
            </a:r>
            <a:r>
              <a:rPr sz="1300" b="0" i="0">
                <a:solidFill>
                  <a:srgbClr val="212529"/>
                </a:solidFill>
                <a:latin typeface="Arial"/>
              </a:rPr>
              <a:t>Strategy discovery from a zero base rate: group_size 12 never tried on the six parked referee games; next run = pays-only roster + proportion of hinting prompts.</a:t>
            </a:r>
          </a:p>
          <a:p>
            <a:pPr>
              <a:spcAft>
                <a:spcPts val="700"/>
              </a:spcAft>
            </a:pPr>
            <a:r>
              <a:t/>
            </a:r>
            <a:r>
              <a:rPr sz="1300" b="1" i="0">
                <a:solidFill>
                  <a:srgbClr val="212529"/>
                </a:solidFill>
                <a:latin typeface="Arial"/>
              </a:rPr>
              <a:t>•  </a:t>
            </a:r>
            <a:r>
              <a:t/>
            </a:r>
            <a:r>
              <a:rPr sz="1300" b="0" i="0">
                <a:solidFill>
                  <a:srgbClr val="212529"/>
                </a:solidFill>
                <a:latin typeface="Arial"/>
              </a:rPr>
              <a:t>EVAL_SUITE T1–T3 battery scoped but largely unrun; power-asymmetry checkpoints never got their eval battery.</a:t>
            </a:r>
          </a:p>
          <a:p>
            <a:pPr>
              <a:spcAft>
                <a:spcPts val="700"/>
              </a:spcAft>
            </a:pPr>
            <a:r>
              <a:t/>
            </a:r>
            <a:r>
              <a:rPr sz="1300" b="1" i="0">
                <a:solidFill>
                  <a:srgbClr val="212529"/>
                </a:solidFill>
                <a:latin typeface="Arial"/>
              </a:rPr>
              <a:t>•  </a:t>
            </a:r>
            <a:r>
              <a:t/>
            </a:r>
            <a:r>
              <a:rPr sz="1300" b="0" i="0">
                <a:solidFill>
                  <a:srgbClr val="212529"/>
                </a:solidFill>
                <a:latin typeface="Arial"/>
              </a:rPr>
              <a:t>Exploitability benchmark (demand-capture) designed, not built.</a:t>
            </a:r>
          </a:p>
          <a:p>
            <a:pPr>
              <a:spcAft>
                <a:spcPts val="700"/>
              </a:spcAft>
            </a:pPr>
            <a:r>
              <a:t/>
            </a:r>
            <a:r>
              <a:rPr sz="1300" b="1" i="0">
                <a:solidFill>
                  <a:srgbClr val="212529"/>
                </a:solidFill>
                <a:latin typeface="Arial"/>
              </a:rPr>
              <a:t>•  </a:t>
            </a:r>
            <a:r>
              <a:t/>
            </a:r>
            <a:r>
              <a:rPr sz="1300" b="0" i="0">
                <a:solidFill>
                  <a:srgbClr val="212529"/>
                </a:solidFill>
                <a:latin typeface="Arial"/>
              </a:rPr>
              <a:t>Cross-play capability regression under the noisy-hole arm — the run got furthest (step 49) before the cluster died; resumable from Tinker state.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2125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212529"/>
                </a:solidFill>
                <a:latin typeface="Arial"/>
              </a:rPr>
              <a:t>APPENDIX · PREP</a:t>
            </a:r>
          </a:p>
        </p:txBody>
      </p:sp>
      <p:sp>
        <p:nvSpPr>
          <p:cNvPr id="4" name="TextBox 3"/>
          <p:cNvSpPr txBox="1"/>
          <p:nvPr/>
        </p:nvSpPr>
        <p:spPr>
          <a:xfrm>
            <a:off x="594360" y="566928"/>
            <a:ext cx="11155680" cy="777240"/>
          </a:xfrm>
          <a:prstGeom prst="rect">
            <a:avLst/>
          </a:prstGeom>
          <a:noFill/>
        </p:spPr>
        <p:txBody>
          <a:bodyPr wrap="square">
            <a:spAutoFit/>
          </a:bodyPr>
          <a:lstStyle/>
          <a:p>
            <a:r>
              <a:t/>
            </a:r>
            <a:r>
              <a:rPr sz="2400" b="1" i="0">
                <a:solidFill>
                  <a:srgbClr val="212529"/>
                </a:solidFill>
                <a:latin typeface="Arial"/>
              </a:rPr>
              <a:t>Anticipated critical questions (prep before presenting)</a:t>
            </a:r>
          </a:p>
        </p:txBody>
      </p:sp>
      <p:sp>
        <p:nvSpPr>
          <p:cNvPr id="5" name="TextBox 4"/>
          <p:cNvSpPr txBox="1"/>
          <p:nvPr/>
        </p:nvSpPr>
        <p:spPr>
          <a:xfrm>
            <a:off x="594360" y="1554480"/>
            <a:ext cx="11155680" cy="4937760"/>
          </a:xfrm>
          <a:prstGeom prst="rect">
            <a:avLst/>
          </a:prstGeom>
          <a:noFill/>
        </p:spPr>
        <p:txBody>
          <a:bodyPr wrap="square">
            <a:spAutoFit/>
          </a:bodyPr>
          <a:lstStyle/>
          <a:p>
            <a:pPr>
              <a:spcAft>
                <a:spcPts val="700"/>
              </a:spcAft>
            </a:pPr>
            <a:r>
              <a:t/>
            </a:r>
            <a:r>
              <a:rPr sz="1300" b="1" i="0">
                <a:solidFill>
                  <a:srgbClr val="212529"/>
                </a:solidFill>
                <a:latin typeface="Arial"/>
              </a:rPr>
              <a:t>Seeds.  </a:t>
            </a:r>
            <a:r>
              <a:t/>
            </a:r>
            <a:r>
              <a:rPr sz="1300" b="0" i="0">
                <a:solidFill>
                  <a:srgbClr val="212529"/>
                </a:solidFill>
                <a:latin typeface="Arial"/>
              </a:rPr>
              <a:t>Nearly every headline number is 1 seed, and the 0826→0830 endgame sign-flip shows exactly how that fails. Which of the IPD-POC / 0818-transfer / scaling claims survive 3 seeds?</a:t>
            </a:r>
          </a:p>
          <a:p>
            <a:pPr>
              <a:spcAft>
                <a:spcPts val="700"/>
              </a:spcAft>
            </a:pPr>
            <a:r>
              <a:t/>
            </a:r>
            <a:r>
              <a:rPr sz="1300" b="1" i="0">
                <a:solidFill>
                  <a:srgbClr val="212529"/>
                </a:solidFill>
                <a:latin typeface="Arial"/>
              </a:rPr>
              <a:t>Cue vs disposition.  </a:t>
            </a:r>
            <a:r>
              <a:t/>
            </a:r>
            <a:r>
              <a:rPr sz="1300" b="0" i="0">
                <a:solidFill>
                  <a:srgbClr val="212529"/>
                </a:solidFill>
                <a:latin typeface="Arial"/>
              </a:rPr>
              <a:t>MACHIAVELLI's own ethics prompt erases 107% of the flagship transfer effect, and the endgame work concluded “prompt cue, not trained disposition.” Why doesn't that critique apply to the IPD/atlas transfer results too?</a:t>
            </a:r>
          </a:p>
          <a:p>
            <a:pPr>
              <a:spcAft>
                <a:spcPts val="700"/>
              </a:spcAft>
            </a:pPr>
            <a:r>
              <a:t/>
            </a:r>
            <a:r>
              <a:rPr sz="1300" b="1" i="0">
                <a:solidFill>
                  <a:srgbClr val="212529"/>
                </a:solidFill>
                <a:latin typeface="Arial"/>
              </a:rPr>
              <a:t>Multiple comparisons.  </a:t>
            </a:r>
            <a:r>
              <a:t/>
            </a:r>
            <a:r>
              <a:rPr sz="1300" b="0" i="0">
                <a:solidFill>
                  <a:srgbClr val="212529"/>
                </a:solidFill>
                <a:latin typeface="Arial"/>
              </a:rPr>
              <a:t>The battery has ~8 instruments and the deck highlights the one that moved. Is the MACHIAVELLI gap corrected for the number of evals run — and what is its effect size in practical terms?</a:t>
            </a:r>
          </a:p>
          <a:p>
            <a:pPr>
              <a:spcAft>
                <a:spcPts val="700"/>
              </a:spcAft>
            </a:pPr>
            <a:r>
              <a:t/>
            </a:r>
            <a:r>
              <a:rPr sz="1300" b="1" i="0">
                <a:solidFill>
                  <a:srgbClr val="212529"/>
                </a:solidFill>
                <a:latin typeface="Arial"/>
              </a:rPr>
              <a:t>Confounded controls.  </a:t>
            </a:r>
            <a:r>
              <a:t/>
            </a:r>
            <a:r>
              <a:rPr sz="1300" b="0" i="0">
                <a:solidFill>
                  <a:srgbClr val="212529"/>
                </a:solidFill>
                <a:latin typeface="Arial"/>
              </a:rPr>
              <a:t>Reward-hacking's +12.5pp decomposed into a LoRA artifact + noise. What rules out adapter artifacts behind the other deltas — is there a full-finetune or bigger-rank control?</a:t>
            </a:r>
          </a:p>
          <a:p>
            <a:pPr>
              <a:spcAft>
                <a:spcPts val="700"/>
              </a:spcAft>
            </a:pPr>
            <a:r>
              <a:t/>
            </a:r>
            <a:r>
              <a:rPr sz="1300" b="1" i="0">
                <a:solidFill>
                  <a:srgbClr val="212529"/>
                </a:solidFill>
                <a:latin typeface="Arial"/>
              </a:rPr>
              <a:t>Scaling interpretation.  </a:t>
            </a:r>
            <a:r>
              <a:t/>
            </a:r>
            <a:r>
              <a:rPr sz="1300" b="0" i="0">
                <a:solidFill>
                  <a:srgbClr val="212529"/>
                </a:solidFill>
                <a:latin typeface="Arial"/>
              </a:rPr>
              <a:t>At constant compute, n=1 gets 8× more optimization per env than n=8 — is “external effect largest at one env” a diversity result or a per-env-compute result?</a:t>
            </a:r>
          </a:p>
          <a:p>
            <a:pPr>
              <a:spcAft>
                <a:spcPts val="700"/>
              </a:spcAft>
            </a:pPr>
            <a:r>
              <a:t/>
            </a:r>
            <a:r>
              <a:rPr sz="1300" b="1" i="0">
                <a:solidFill>
                  <a:srgbClr val="212529"/>
                </a:solidFill>
                <a:latin typeface="Arial"/>
              </a:rPr>
              <a:t>So what?  </a:t>
            </a:r>
            <a:r>
              <a:t/>
            </a:r>
            <a:r>
              <a:rPr sz="1300" b="0" i="0">
                <a:solidFill>
                  <a:srgbClr val="212529"/>
                </a:solidFill>
                <a:latin typeface="Arial"/>
              </a:rPr>
              <a:t>Assistant-facing misalignment is null everywhere. What is the safety-relevant claim if the transfer only reaches game-like agentic evals — and does it survive bigger models and RLHF (the 27B corners already refuse at neutral)?</a:t>
            </a:r>
          </a:p>
          <a:p>
            <a:pPr>
              <a:spcAft>
                <a:spcPts val="700"/>
              </a:spcAft>
            </a:pPr>
            <a:r>
              <a:t/>
            </a:r>
            <a:r>
              <a:rPr sz="1300" b="1" i="0">
                <a:solidFill>
                  <a:srgbClr val="212529"/>
                </a:solidFill>
                <a:latin typeface="Arial"/>
              </a:rPr>
              <a:t>The thesis.  </a:t>
            </a:r>
            <a:r>
              <a:t/>
            </a:r>
            <a:r>
              <a:rPr sz="1300" b="0" i="0">
                <a:solidFill>
                  <a:srgbClr val="212529"/>
                </a:solidFill>
                <a:latin typeface="Arial"/>
              </a:rPr>
              <a:t>This is an atlas of ~40 results. Which single claim would you defend as publication-grade today, and what is the minimum set of experiments to make it so?</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2125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212529"/>
                </a:solidFill>
                <a:latin typeface="Arial"/>
              </a:rPr>
              <a:t>APPENDIX</a:t>
            </a:r>
          </a:p>
        </p:txBody>
      </p:sp>
      <p:sp>
        <p:nvSpPr>
          <p:cNvPr id="4" name="TextBox 3"/>
          <p:cNvSpPr txBox="1"/>
          <p:nvPr/>
        </p:nvSpPr>
        <p:spPr>
          <a:xfrm>
            <a:off x="594360" y="566928"/>
            <a:ext cx="11155680" cy="777240"/>
          </a:xfrm>
          <a:prstGeom prst="rect">
            <a:avLst/>
          </a:prstGeom>
          <a:noFill/>
        </p:spPr>
        <p:txBody>
          <a:bodyPr wrap="square">
            <a:spAutoFit/>
          </a:bodyPr>
          <a:lstStyle/>
          <a:p>
            <a:r>
              <a:t/>
            </a:r>
            <a:r>
              <a:rPr sz="2400" b="1" i="0">
                <a:solidFill>
                  <a:srgbClr val="212529"/>
                </a:solidFill>
                <a:latin typeface="Arial"/>
              </a:rPr>
              <a:t>Appendix: log index · June–mid-Aug</a:t>
            </a:r>
          </a:p>
        </p:txBody>
      </p:sp>
      <p:sp>
        <p:nvSpPr>
          <p:cNvPr id="5" name="TextBox 4"/>
          <p:cNvSpPr txBox="1"/>
          <p:nvPr/>
        </p:nvSpPr>
        <p:spPr>
          <a:xfrm>
            <a:off x="594360" y="1554480"/>
            <a:ext cx="11155680" cy="4937760"/>
          </a:xfrm>
          <a:prstGeom prst="rect">
            <a:avLst/>
          </a:prstGeom>
          <a:noFill/>
        </p:spPr>
        <p:txBody>
          <a:bodyPr wrap="square">
            <a:spAutoFit/>
          </a:bodyPr>
          <a:lstStyle/>
          <a:p>
            <a:pPr>
              <a:spcAft>
                <a:spcPts val="700"/>
              </a:spcAft>
            </a:pPr>
            <a:r>
              <a:t/>
            </a:r>
            <a:r>
              <a:rPr sz="1300" b="1" i="0">
                <a:solidFill>
                  <a:srgbClr val="212529"/>
                </a:solidFill>
                <a:latin typeface="Arial"/>
              </a:rPr>
              <a:t>Jun  </a:t>
            </a:r>
            <a:r>
              <a:t/>
            </a:r>
            <a:r>
              <a:rPr sz="1300" b="0" i="0">
                <a:solidFill>
                  <a:srgbClr val="212529"/>
                </a:solidFill>
                <a:latin typeface="Arial"/>
              </a:rPr>
              <a:t>negotiation-9b-{env-fixes, length-penalty, deception-penalty} · negotiation-35b-{grad-explosion, raw-baseline, 2x2-pareto, thinking-leakage} · mechanisms-06-17 · reptition-penalty-06-17 · think-close-debugging-0618 · recover-nash-06-18 · proposal-semantics-0621 · selfplay-vs-frontier-0625 · proactive · why-preference-elicitation · alternate-proposal</a:t>
            </a:r>
          </a:p>
          <a:p>
            <a:pPr>
              <a:spcAft>
                <a:spcPts val="700"/>
              </a:spcAft>
            </a:pPr>
            <a:r>
              <a:t/>
            </a:r>
            <a:r>
              <a:rPr sz="1300" b="1" i="0">
                <a:solidFill>
                  <a:srgbClr val="212529"/>
                </a:solidFill>
                <a:latin typeface="Arial"/>
              </a:rPr>
              <a:t>Jul  </a:t>
            </a:r>
            <a:r>
              <a:t/>
            </a:r>
            <a:r>
              <a:rPr sz="1300" b="0" i="0">
                <a:solidFill>
                  <a:srgbClr val="212529"/>
                </a:solidFill>
                <a:latin typeface="Arial"/>
              </a:rPr>
              <a:t>eval-findings-0719 (regime sweeps, base hunt)</a:t>
            </a:r>
          </a:p>
          <a:p>
            <a:pPr>
              <a:spcAft>
                <a:spcPts val="700"/>
              </a:spcAft>
            </a:pPr>
            <a:r>
              <a:t/>
            </a:r>
            <a:r>
              <a:rPr sz="1300" b="1" i="0">
                <a:solidFill>
                  <a:srgbClr val="212529"/>
                </a:solidFill>
                <a:latin typeface="Arial"/>
              </a:rPr>
              <a:t>Aug 1–6  </a:t>
            </a:r>
            <a:r>
              <a:t/>
            </a:r>
            <a:r>
              <a:rPr sz="1300" b="0" i="0">
                <a:solidFill>
                  <a:srgbClr val="212529"/>
                </a:solidFill>
                <a:latin typeface="Arial"/>
              </a:rPr>
              <a:t>lie-scaling-0801 · spiral-to-alignment-transfer · exploitability-benchmark-plan</a:t>
            </a:r>
          </a:p>
          <a:p>
            <a:pPr>
              <a:spcAft>
                <a:spcPts val="700"/>
              </a:spcAft>
            </a:pPr>
            <a:r>
              <a:t/>
            </a:r>
            <a:r>
              <a:rPr sz="1300" b="1" i="0">
                <a:solidFill>
                  <a:srgbClr val="212529"/>
                </a:solidFill>
                <a:latin typeface="Arial"/>
              </a:rPr>
              <a:t>Aug 8–14  </a:t>
            </a:r>
            <a:r>
              <a:t/>
            </a:r>
            <a:r>
              <a:rPr sz="1300" b="0" i="0">
                <a:solidFill>
                  <a:srgbClr val="212529"/>
                </a:solidFill>
                <a:latin typeface="Arial"/>
              </a:rPr>
              <a:t>0808-exploitation-propensity (plan) · 0810-exploitation-transfer-results · 0812-exploited (+stage0-headroom) · 0813-exploited-transfer-results · 0813/0814-power-asymmetry · 0814-broken-world (empty stub)</a:t>
            </a:r>
          </a:p>
          <a:p>
            <a:pPr>
              <a:spcAft>
                <a:spcPts val="700"/>
              </a:spcAft>
            </a:pPr>
            <a:r>
              <a:t/>
            </a:r>
            <a:r>
              <a:rPr sz="1300" b="1" i="0">
                <a:solidFill>
                  <a:srgbClr val="212529"/>
                </a:solidFill>
                <a:latin typeface="Arial"/>
              </a:rPr>
              <a:t>Aug 17–20  </a:t>
            </a:r>
            <a:r>
              <a:t/>
            </a:r>
            <a:r>
              <a:rPr sz="1300" b="0" i="0">
                <a:solidFill>
                  <a:srgbClr val="212529"/>
                </a:solidFill>
                <a:latin typeface="Arial"/>
              </a:rPr>
              <a:t>0817-suite · 0818-{suite-build, merchant-agentic, scale-up} · 0819-{plant-frame-ablation, game-transfer-scaling} · 0820-{scaling-envs(+RUN), removal-recovery, qwen38-sampling}</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2125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10972800" cy="320040"/>
          </a:xfrm>
          <a:prstGeom prst="rect">
            <a:avLst/>
          </a:prstGeom>
          <a:noFill/>
        </p:spPr>
        <p:txBody>
          <a:bodyPr wrap="square">
            <a:spAutoFit/>
          </a:bodyPr>
          <a:lstStyle/>
          <a:p>
            <a:r>
              <a:t/>
            </a:r>
            <a:r>
              <a:rPr sz="1100" b="1" i="0">
                <a:solidFill>
                  <a:srgbClr val="212529"/>
                </a:solidFill>
                <a:latin typeface="Arial"/>
              </a:rPr>
              <a:t>APPENDIX</a:t>
            </a:r>
          </a:p>
        </p:txBody>
      </p:sp>
      <p:sp>
        <p:nvSpPr>
          <p:cNvPr id="4" name="TextBox 3"/>
          <p:cNvSpPr txBox="1"/>
          <p:nvPr/>
        </p:nvSpPr>
        <p:spPr>
          <a:xfrm>
            <a:off x="594360" y="566928"/>
            <a:ext cx="11155680" cy="777240"/>
          </a:xfrm>
          <a:prstGeom prst="rect">
            <a:avLst/>
          </a:prstGeom>
          <a:noFill/>
        </p:spPr>
        <p:txBody>
          <a:bodyPr wrap="square">
            <a:spAutoFit/>
          </a:bodyPr>
          <a:lstStyle/>
          <a:p>
            <a:r>
              <a:t/>
            </a:r>
            <a:r>
              <a:rPr sz="2400" b="1" i="0">
                <a:solidFill>
                  <a:srgbClr val="212529"/>
                </a:solidFill>
                <a:latin typeface="Arial"/>
              </a:rPr>
              <a:t>Appendix: log index · late Aug + data locations</a:t>
            </a:r>
          </a:p>
        </p:txBody>
      </p:sp>
      <p:sp>
        <p:nvSpPr>
          <p:cNvPr id="5" name="TextBox 4"/>
          <p:cNvSpPr txBox="1"/>
          <p:nvPr/>
        </p:nvSpPr>
        <p:spPr>
          <a:xfrm>
            <a:off x="594360" y="1554480"/>
            <a:ext cx="11155680" cy="4937760"/>
          </a:xfrm>
          <a:prstGeom prst="rect">
            <a:avLst/>
          </a:prstGeom>
          <a:noFill/>
        </p:spPr>
        <p:txBody>
          <a:bodyPr wrap="square">
            <a:spAutoFit/>
          </a:bodyPr>
          <a:lstStyle/>
          <a:p>
            <a:pPr>
              <a:spcAft>
                <a:spcPts val="700"/>
              </a:spcAft>
            </a:pPr>
            <a:r>
              <a:t/>
            </a:r>
            <a:r>
              <a:rPr sz="1300" b="1" i="0">
                <a:solidFill>
                  <a:srgbClr val="212529"/>
                </a:solidFill>
                <a:latin typeface="Arial"/>
              </a:rPr>
              <a:t>Aug 22–24  </a:t>
            </a:r>
            <a:r>
              <a:t/>
            </a:r>
            <a:r>
              <a:rPr sz="1300" b="0" i="0">
                <a:solidFill>
                  <a:srgbClr val="212529"/>
                </a:solidFill>
                <a:latin typeface="Arial"/>
              </a:rPr>
              <a:t>0822-new-runs (adaptive trust) · 0823-opponent-conditioned · 0824-isolation (directive)</a:t>
            </a:r>
          </a:p>
          <a:p>
            <a:pPr>
              <a:spcAft>
                <a:spcPts val="700"/>
              </a:spcAft>
            </a:pPr>
            <a:r>
              <a:t/>
            </a:r>
            <a:r>
              <a:rPr sz="1300" b="1" i="0">
                <a:solidFill>
                  <a:srgbClr val="212529"/>
                </a:solidFill>
                <a:latin typeface="Arial"/>
              </a:rPr>
              <a:t>Aug 26–29  </a:t>
            </a:r>
            <a:r>
              <a:t/>
            </a:r>
            <a:r>
              <a:rPr sz="1300" b="0" i="0">
                <a:solidFill>
                  <a:srgbClr val="212529"/>
                </a:solidFill>
                <a:latin typeface="Arial"/>
              </a:rPr>
              <a:t>0826-endgame-by-opponent · 0828-{referee-holes, new-game-scenarios, delegation-game, consequence-scaling-laws} · 0829-{battleship-horizon, delegation-eval, qwen-baseline, repeated-play-memory, evaluate}</a:t>
            </a:r>
          </a:p>
          <a:p>
            <a:pPr>
              <a:spcAft>
                <a:spcPts val="700"/>
              </a:spcAft>
            </a:pPr>
            <a:r>
              <a:t/>
            </a:r>
            <a:r>
              <a:rPr sz="1300" b="1" i="0">
                <a:solidFill>
                  <a:srgbClr val="212529"/>
                </a:solidFill>
                <a:latin typeface="Arial"/>
              </a:rPr>
              <a:t>Aug 30–31  </a:t>
            </a:r>
            <a:r>
              <a:t/>
            </a:r>
            <a:r>
              <a:rPr sz="1300" b="0" i="0">
                <a:solidFill>
                  <a:srgbClr val="212529"/>
                </a:solidFill>
                <a:latin typeface="Arial"/>
              </a:rPr>
              <a:t>0830-{endgame-summary, endgame-reasoning, endgame-traces, think4-evals} · 0831-{strategy-discovery, discovery-payoff}</a:t>
            </a:r>
          </a:p>
          <a:p>
            <a:pPr>
              <a:spcAft>
                <a:spcPts val="700"/>
              </a:spcAft>
            </a:pPr>
            <a:r>
              <a:t/>
            </a:r>
            <a:r>
              <a:rPr sz="1300" b="1" i="0">
                <a:solidFill>
                  <a:srgbClr val="212529"/>
                </a:solidFill>
                <a:latin typeface="Arial"/>
              </a:rPr>
              <a:t>Data  </a:t>
            </a:r>
            <a:r>
              <a:t/>
            </a:r>
            <a:r>
              <a:rPr sz="1300" b="0" i="0">
                <a:solidFill>
                  <a:srgbClr val="212529"/>
                </a:solidFill>
                <a:latin typeface="Arial"/>
              </a:rPr>
              <a:t>Checkpoints: Tinker (tinker:// URIs via hole_exp/runs/*/checkpoints_state.json — resume from STATE paths, sampler paths 404) · S3 backup: s3://fleet-research/allie-backup/ (git bundles, referee cross-play traces, base-evals)</a:t>
            </a:r>
          </a:p>
          <a:p>
            <a:pPr>
              <a:spcAft>
                <a:spcPts val="700"/>
              </a:spcAft>
            </a:pPr>
            <a:r>
              <a:t/>
            </a:r>
            <a:r>
              <a:rPr sz="1300" b="1" i="0">
                <a:solidFill>
                  <a:srgbClr val="212529"/>
                </a:solidFill>
                <a:latin typeface="Arial"/>
              </a:rPr>
              <a:t>wandb  </a:t>
            </a:r>
            <a:r>
              <a:t/>
            </a:r>
            <a:r>
              <a:rPr sz="1300" b="0" i="0">
                <a:solidFill>
                  <a:srgbClr val="212529"/>
                </a:solidFill>
                <a:latin typeface="Arial"/>
              </a:rPr>
              <a:t>Training curves for phases 3–5: wandb.ai/thefleet/strategy-behavior (June negotiation runs: fleet-negotiation-grpo; SPIRAL arms: spiral). Per-run links appear at the bottom of each slide.</a:t>
            </a:r>
          </a:p>
          <a:p>
            <a:pPr>
              <a:spcAft>
                <a:spcPts val="700"/>
              </a:spcAft>
            </a:pPr>
            <a:r>
              <a:t/>
            </a:r>
            <a:r>
              <a:rPr sz="1300" b="1" i="0">
                <a:solidFill>
                  <a:srgbClr val="212529"/>
                </a:solidFill>
                <a:latin typeface="Arial"/>
              </a:rPr>
              <a:t>Figures  </a:t>
            </a:r>
            <a:r>
              <a:t/>
            </a:r>
            <a:r>
              <a:rPr sz="1300" b="0" i="0">
                <a:solidFill>
                  <a:srgbClr val="212529"/>
                </a:solidFill>
                <a:latin typeface="Arial"/>
              </a:rPr>
              <a:t>research_logs/{fig1–3, figs/} · results/0819_scaling_plots · results/0820_scaling_plots · results/0825_shape_curves · results/0826_think_curves · results/0830_{training_vs_cue, grim_vs_tft, endgame_traces}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